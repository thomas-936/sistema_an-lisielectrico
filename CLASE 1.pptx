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60" r:id="rId5"/>
    <p:sldId id="261" r:id="rId6"/>
    <p:sldId id="262" r:id="rId7"/>
    <p:sldId id="263" r:id="rId8"/>
    <p:sldId id="264" r:id="rId9"/>
    <p:sldId id="265" r:id="rId10"/>
    <p:sldId id="266" r:id="rId11"/>
    <p:sldId id="267" r:id="rId12"/>
    <p:sldId id="268" r:id="rId13"/>
    <p:sldId id="269" r:id="rId14"/>
    <p:sldId id="270" r:id="rId15"/>
    <p:sldId id="271" r:id="rId16"/>
    <p:sldId id="281" r:id="rId17"/>
    <p:sldId id="282" r:id="rId18"/>
    <p:sldId id="283" r:id="rId19"/>
    <p:sldId id="284" r:id="rId20"/>
    <p:sldId id="285" r:id="rId21"/>
    <p:sldId id="286" r:id="rId22"/>
    <p:sldId id="287" r:id="rId23"/>
    <p:sldId id="288" r:id="rId24"/>
    <p:sldId id="289" r:id="rId25"/>
    <p:sldId id="290" r:id="rId26"/>
    <p:sldId id="291" r:id="rId27"/>
    <p:sldId id="292" r:id="rId28"/>
    <p:sldId id="293" r:id="rId29"/>
    <p:sldId id="294" r:id="rId30"/>
    <p:sldId id="295" r:id="rId31"/>
    <p:sldId id="296" r:id="rId32"/>
    <p:sldId id="273" r:id="rId33"/>
    <p:sldId id="274" r:id="rId34"/>
    <p:sldId id="275" r:id="rId35"/>
    <p:sldId id="276" r:id="rId36"/>
    <p:sldId id="278" r:id="rId37"/>
    <p:sldId id="279" r:id="rId38"/>
    <p:sldId id="277" r:id="rId39"/>
    <p:sldId id="272" r:id="rId40"/>
    <p:sldId id="297" r:id="rId41"/>
    <p:sldId id="298" r:id="rId42"/>
  </p:sldIdLst>
  <p:sldSz cx="18288000" cy="10287000"/>
  <p:notesSz cx="6858000" cy="9144000"/>
  <p:embeddedFontLst>
    <p:embeddedFont>
      <p:font typeface="Open Sans Bold" panose="020B0604020202020204" charset="0"/>
      <p:regular r:id="rId43"/>
    </p:embeddedFont>
    <p:embeddedFont>
      <p:font typeface="Roboto" panose="02000000000000000000" pitchFamily="2" charset="0"/>
      <p:regular r:id="rId44"/>
    </p:embeddedFont>
    <p:embeddedFont>
      <p:font typeface="Roboto Bold" panose="020B0604020202020204" charset="0"/>
      <p:regular r:id="rId4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2" d="100"/>
          <a:sy n="52" d="100"/>
        </p:scale>
        <p:origin x="85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3.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1.fntdata"/><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6/26/2026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hyperlink" Target="https://es.wikipedia.org/wiki/Planta_hidroel%C3%A9ctrica_Santa_Mar%C3%ADa" TargetMode="Externa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hyperlink" Target="https://agn.gt/lluvias-favorecen-operacion-en-hidroelectrica-chixoy/" TargetMode="External"/><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s-GT"/>
          </a:p>
        </p:txBody>
      </p:sp>
      <p:sp>
        <p:nvSpPr>
          <p:cNvPr id="3" name="AutoShape 3"/>
          <p:cNvSpPr/>
          <p:nvPr/>
        </p:nvSpPr>
        <p:spPr>
          <a:xfrm>
            <a:off x="9374966" y="6624635"/>
            <a:ext cx="1227699" cy="0"/>
          </a:xfrm>
          <a:prstGeom prst="line">
            <a:avLst/>
          </a:prstGeom>
          <a:ln w="95250" cap="flat">
            <a:solidFill>
              <a:srgbClr val="F23436"/>
            </a:solidFill>
            <a:prstDash val="solid"/>
            <a:headEnd type="none" w="sm" len="sm"/>
            <a:tailEnd type="none" w="sm" len="sm"/>
          </a:ln>
        </p:spPr>
        <p:txBody>
          <a:bodyPr/>
          <a:lstStyle/>
          <a:p>
            <a:endParaRPr lang="es-GT"/>
          </a:p>
        </p:txBody>
      </p:sp>
      <p:sp>
        <p:nvSpPr>
          <p:cNvPr id="4" name="AutoShape 4"/>
          <p:cNvSpPr/>
          <p:nvPr/>
        </p:nvSpPr>
        <p:spPr>
          <a:xfrm>
            <a:off x="8147267" y="6624635"/>
            <a:ext cx="1227699" cy="0"/>
          </a:xfrm>
          <a:prstGeom prst="line">
            <a:avLst/>
          </a:prstGeom>
          <a:ln w="95250" cap="flat">
            <a:solidFill>
              <a:srgbClr val="FFFFFF"/>
            </a:solidFill>
            <a:prstDash val="solid"/>
            <a:headEnd type="none" w="sm" len="sm"/>
            <a:tailEnd type="none" w="sm" len="sm"/>
          </a:ln>
        </p:spPr>
        <p:txBody>
          <a:bodyPr/>
          <a:lstStyle/>
          <a:p>
            <a:endParaRPr lang="es-GT"/>
          </a:p>
        </p:txBody>
      </p:sp>
      <p:sp>
        <p:nvSpPr>
          <p:cNvPr id="5" name="Freeform 5"/>
          <p:cNvSpPr/>
          <p:nvPr/>
        </p:nvSpPr>
        <p:spPr>
          <a:xfrm>
            <a:off x="0" y="9912096"/>
            <a:ext cx="7315200" cy="374904"/>
          </a:xfrm>
          <a:custGeom>
            <a:avLst/>
            <a:gdLst/>
            <a:ahLst/>
            <a:cxnLst/>
            <a:rect l="l" t="t" r="r" b="b"/>
            <a:pathLst>
              <a:path w="7315200" h="374904">
                <a:moveTo>
                  <a:pt x="0" y="0"/>
                </a:moveTo>
                <a:lnTo>
                  <a:pt x="7315200" y="0"/>
                </a:lnTo>
                <a:lnTo>
                  <a:pt x="7315200" y="374904"/>
                </a:lnTo>
                <a:lnTo>
                  <a:pt x="0" y="37490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GT"/>
          </a:p>
        </p:txBody>
      </p:sp>
      <p:sp>
        <p:nvSpPr>
          <p:cNvPr id="6" name="TextBox 6"/>
          <p:cNvSpPr txBox="1"/>
          <p:nvPr/>
        </p:nvSpPr>
        <p:spPr>
          <a:xfrm>
            <a:off x="1241537" y="4003662"/>
            <a:ext cx="11708039" cy="1368428"/>
          </a:xfrm>
          <a:prstGeom prst="rect">
            <a:avLst/>
          </a:prstGeom>
        </p:spPr>
        <p:txBody>
          <a:bodyPr lIns="0" tIns="0" rIns="0" bIns="0" rtlCol="0" anchor="t">
            <a:spAutoFit/>
          </a:bodyPr>
          <a:lstStyle/>
          <a:p>
            <a:pPr algn="l">
              <a:lnSpc>
                <a:spcPts val="11199"/>
              </a:lnSpc>
            </a:pPr>
            <a:r>
              <a:rPr lang="en-US" sz="7999">
                <a:solidFill>
                  <a:srgbClr val="FFFFFF"/>
                </a:solidFill>
                <a:latin typeface="Roboto Bold"/>
              </a:rPr>
              <a:t>INSTALACIONES</a:t>
            </a:r>
          </a:p>
        </p:txBody>
      </p:sp>
      <p:sp>
        <p:nvSpPr>
          <p:cNvPr id="7" name="TextBox 7"/>
          <p:cNvSpPr txBox="1"/>
          <p:nvPr/>
        </p:nvSpPr>
        <p:spPr>
          <a:xfrm>
            <a:off x="9635100" y="3994137"/>
            <a:ext cx="8472491" cy="1377949"/>
          </a:xfrm>
          <a:prstGeom prst="rect">
            <a:avLst/>
          </a:prstGeom>
        </p:spPr>
        <p:txBody>
          <a:bodyPr lIns="0" tIns="0" rIns="0" bIns="0" rtlCol="0" anchor="t">
            <a:spAutoFit/>
          </a:bodyPr>
          <a:lstStyle/>
          <a:p>
            <a:pPr algn="l">
              <a:lnSpc>
                <a:spcPts val="11200"/>
              </a:lnSpc>
            </a:pPr>
            <a:r>
              <a:rPr lang="en-US" sz="8000">
                <a:solidFill>
                  <a:srgbClr val="F23436"/>
                </a:solidFill>
                <a:latin typeface="Roboto Bold"/>
              </a:rPr>
              <a:t>ELECTRICAS</a:t>
            </a:r>
          </a:p>
        </p:txBody>
      </p:sp>
      <p:sp>
        <p:nvSpPr>
          <p:cNvPr id="8" name="TextBox 8"/>
          <p:cNvSpPr txBox="1"/>
          <p:nvPr/>
        </p:nvSpPr>
        <p:spPr>
          <a:xfrm>
            <a:off x="4698121" y="3599167"/>
            <a:ext cx="8891758" cy="556896"/>
          </a:xfrm>
          <a:prstGeom prst="rect">
            <a:avLst/>
          </a:prstGeom>
        </p:spPr>
        <p:txBody>
          <a:bodyPr lIns="0" tIns="0" rIns="0" bIns="0" rtlCol="0" anchor="t">
            <a:spAutoFit/>
          </a:bodyPr>
          <a:lstStyle/>
          <a:p>
            <a:pPr algn="ctr">
              <a:lnSpc>
                <a:spcPts val="4479"/>
              </a:lnSpc>
            </a:pPr>
            <a:r>
              <a:rPr lang="en-US" sz="3199" spc="163">
                <a:solidFill>
                  <a:srgbClr val="FFFFFF"/>
                </a:solidFill>
                <a:latin typeface="Roboto"/>
              </a:rPr>
              <a:t>UNIVERSIDAD DE OCCIENTE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1759425" y="9733708"/>
            <a:ext cx="6735168" cy="553292"/>
            <a:chOff x="0" y="0"/>
            <a:chExt cx="1773872" cy="145723"/>
          </a:xfrm>
        </p:grpSpPr>
        <p:sp>
          <p:nvSpPr>
            <p:cNvPr id="3" name="Freeform 3"/>
            <p:cNvSpPr/>
            <p:nvPr/>
          </p:nvSpPr>
          <p:spPr>
            <a:xfrm>
              <a:off x="0" y="0"/>
              <a:ext cx="1773872" cy="145723"/>
            </a:xfrm>
            <a:custGeom>
              <a:avLst/>
              <a:gdLst/>
              <a:ahLst/>
              <a:cxnLst/>
              <a:rect l="l" t="t" r="r" b="b"/>
              <a:pathLst>
                <a:path w="1773872" h="145723">
                  <a:moveTo>
                    <a:pt x="0" y="0"/>
                  </a:moveTo>
                  <a:lnTo>
                    <a:pt x="1773872" y="0"/>
                  </a:lnTo>
                  <a:lnTo>
                    <a:pt x="1773872" y="145723"/>
                  </a:lnTo>
                  <a:lnTo>
                    <a:pt x="0" y="145723"/>
                  </a:lnTo>
                  <a:close/>
                </a:path>
              </a:pathLst>
            </a:custGeom>
            <a:solidFill>
              <a:srgbClr val="F23436"/>
            </a:solidFill>
          </p:spPr>
          <p:txBody>
            <a:bodyPr/>
            <a:lstStyle/>
            <a:p>
              <a:endParaRPr lang="es-GT"/>
            </a:p>
          </p:txBody>
        </p:sp>
        <p:sp>
          <p:nvSpPr>
            <p:cNvPr id="4" name="TextBox 4"/>
            <p:cNvSpPr txBox="1"/>
            <p:nvPr/>
          </p:nvSpPr>
          <p:spPr>
            <a:xfrm>
              <a:off x="0" y="-47625"/>
              <a:ext cx="1773872" cy="193348"/>
            </a:xfrm>
            <a:prstGeom prst="rect">
              <a:avLst/>
            </a:prstGeom>
          </p:spPr>
          <p:txBody>
            <a:bodyPr lIns="50800" tIns="50800" rIns="50800" bIns="50800" rtlCol="0" anchor="ctr"/>
            <a:lstStyle/>
            <a:p>
              <a:pPr algn="ctr">
                <a:lnSpc>
                  <a:spcPts val="3079"/>
                </a:lnSpc>
              </a:pPr>
              <a:endParaRPr/>
            </a:p>
          </p:txBody>
        </p:sp>
      </p:grpSp>
      <p:sp>
        <p:nvSpPr>
          <p:cNvPr id="5" name="Freeform 5"/>
          <p:cNvSpPr/>
          <p:nvPr/>
        </p:nvSpPr>
        <p:spPr>
          <a:xfrm>
            <a:off x="2160102" y="1677582"/>
            <a:ext cx="13967795" cy="7708870"/>
          </a:xfrm>
          <a:custGeom>
            <a:avLst/>
            <a:gdLst/>
            <a:ahLst/>
            <a:cxnLst/>
            <a:rect l="l" t="t" r="r" b="b"/>
            <a:pathLst>
              <a:path w="13967795" h="7708870">
                <a:moveTo>
                  <a:pt x="0" y="0"/>
                </a:moveTo>
                <a:lnTo>
                  <a:pt x="13967796" y="0"/>
                </a:lnTo>
                <a:lnTo>
                  <a:pt x="13967796" y="7708870"/>
                </a:lnTo>
                <a:lnTo>
                  <a:pt x="0" y="7708870"/>
                </a:lnTo>
                <a:lnTo>
                  <a:pt x="0" y="0"/>
                </a:lnTo>
                <a:close/>
              </a:path>
            </a:pathLst>
          </a:custGeom>
          <a:blipFill>
            <a:blip r:embed="rId2"/>
            <a:stretch>
              <a:fillRect/>
            </a:stretch>
          </a:blipFill>
        </p:spPr>
        <p:txBody>
          <a:bodyPr/>
          <a:lstStyle/>
          <a:p>
            <a:endParaRPr lang="es-GT"/>
          </a:p>
        </p:txBody>
      </p:sp>
      <p:sp>
        <p:nvSpPr>
          <p:cNvPr id="6" name="TextBox 6"/>
          <p:cNvSpPr txBox="1"/>
          <p:nvPr/>
        </p:nvSpPr>
        <p:spPr>
          <a:xfrm>
            <a:off x="433311" y="650874"/>
            <a:ext cx="11758689" cy="679451"/>
          </a:xfrm>
          <a:prstGeom prst="rect">
            <a:avLst/>
          </a:prstGeom>
        </p:spPr>
        <p:txBody>
          <a:bodyPr wrap="square" lIns="0" tIns="0" rIns="0" bIns="0" rtlCol="0" anchor="t">
            <a:spAutoFit/>
          </a:bodyPr>
          <a:lstStyle/>
          <a:p>
            <a:pPr algn="ctr">
              <a:lnSpc>
                <a:spcPts val="5599"/>
              </a:lnSpc>
              <a:spcBef>
                <a:spcPct val="0"/>
              </a:spcBef>
            </a:pPr>
            <a:r>
              <a:rPr lang="en-US" sz="3999" spc="203" dirty="0">
                <a:solidFill>
                  <a:srgbClr val="000000"/>
                </a:solidFill>
                <a:latin typeface="Roboto Bold"/>
              </a:rPr>
              <a:t>¿</a:t>
            </a:r>
            <a:r>
              <a:rPr lang="en-US" sz="3999" spc="203" dirty="0" err="1">
                <a:solidFill>
                  <a:srgbClr val="000000"/>
                </a:solidFill>
                <a:latin typeface="Roboto Bold"/>
              </a:rPr>
              <a:t>Cómo</a:t>
            </a:r>
            <a:r>
              <a:rPr lang="en-US" sz="3999" spc="203" dirty="0">
                <a:solidFill>
                  <a:srgbClr val="000000"/>
                </a:solidFill>
                <a:latin typeface="Roboto Bold"/>
              </a:rPr>
              <a:t> se genera la </a:t>
            </a:r>
            <a:r>
              <a:rPr lang="en-US" sz="3999" spc="203" dirty="0" err="1">
                <a:solidFill>
                  <a:srgbClr val="000000"/>
                </a:solidFill>
                <a:latin typeface="Roboto Bold"/>
              </a:rPr>
              <a:t>energía</a:t>
            </a:r>
            <a:r>
              <a:rPr lang="en-US" sz="3999" spc="203" dirty="0">
                <a:solidFill>
                  <a:srgbClr val="000000"/>
                </a:solidFill>
                <a:latin typeface="Roboto Bold"/>
              </a:rPr>
              <a:t> </a:t>
            </a:r>
            <a:r>
              <a:rPr lang="en-US" sz="3999" spc="203" dirty="0" err="1">
                <a:solidFill>
                  <a:srgbClr val="000000"/>
                </a:solidFill>
                <a:latin typeface="Roboto Bold"/>
              </a:rPr>
              <a:t>eléctrica</a:t>
            </a:r>
            <a:r>
              <a:rPr lang="en-US" sz="3999" spc="203" dirty="0">
                <a:solidFill>
                  <a:srgbClr val="000000"/>
                </a:solidFill>
                <a:latin typeface="Roboto Bold"/>
              </a:rPr>
              <a: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1759425" y="9733708"/>
            <a:ext cx="6735168" cy="553292"/>
            <a:chOff x="0" y="0"/>
            <a:chExt cx="1773872" cy="145723"/>
          </a:xfrm>
        </p:grpSpPr>
        <p:sp>
          <p:nvSpPr>
            <p:cNvPr id="3" name="Freeform 3"/>
            <p:cNvSpPr/>
            <p:nvPr/>
          </p:nvSpPr>
          <p:spPr>
            <a:xfrm>
              <a:off x="0" y="0"/>
              <a:ext cx="1773872" cy="145723"/>
            </a:xfrm>
            <a:custGeom>
              <a:avLst/>
              <a:gdLst/>
              <a:ahLst/>
              <a:cxnLst/>
              <a:rect l="l" t="t" r="r" b="b"/>
              <a:pathLst>
                <a:path w="1773872" h="145723">
                  <a:moveTo>
                    <a:pt x="0" y="0"/>
                  </a:moveTo>
                  <a:lnTo>
                    <a:pt x="1773872" y="0"/>
                  </a:lnTo>
                  <a:lnTo>
                    <a:pt x="1773872" y="145723"/>
                  </a:lnTo>
                  <a:lnTo>
                    <a:pt x="0" y="145723"/>
                  </a:lnTo>
                  <a:close/>
                </a:path>
              </a:pathLst>
            </a:custGeom>
            <a:solidFill>
              <a:srgbClr val="F23436"/>
            </a:solidFill>
          </p:spPr>
          <p:txBody>
            <a:bodyPr/>
            <a:lstStyle/>
            <a:p>
              <a:endParaRPr lang="es-GT"/>
            </a:p>
          </p:txBody>
        </p:sp>
        <p:sp>
          <p:nvSpPr>
            <p:cNvPr id="4" name="TextBox 4"/>
            <p:cNvSpPr txBox="1"/>
            <p:nvPr/>
          </p:nvSpPr>
          <p:spPr>
            <a:xfrm>
              <a:off x="0" y="-47625"/>
              <a:ext cx="1773872" cy="193348"/>
            </a:xfrm>
            <a:prstGeom prst="rect">
              <a:avLst/>
            </a:prstGeom>
          </p:spPr>
          <p:txBody>
            <a:bodyPr lIns="50800" tIns="50800" rIns="50800" bIns="50800" rtlCol="0" anchor="ctr"/>
            <a:lstStyle/>
            <a:p>
              <a:pPr algn="ctr">
                <a:lnSpc>
                  <a:spcPts val="3079"/>
                </a:lnSpc>
              </a:pPr>
              <a:endParaRPr/>
            </a:p>
          </p:txBody>
        </p:sp>
      </p:grpSp>
      <p:sp>
        <p:nvSpPr>
          <p:cNvPr id="5" name="TextBox 5"/>
          <p:cNvSpPr txBox="1"/>
          <p:nvPr/>
        </p:nvSpPr>
        <p:spPr>
          <a:xfrm>
            <a:off x="711512" y="325198"/>
            <a:ext cx="8127687" cy="1389739"/>
          </a:xfrm>
          <a:prstGeom prst="rect">
            <a:avLst/>
          </a:prstGeom>
        </p:spPr>
        <p:txBody>
          <a:bodyPr wrap="square" lIns="0" tIns="0" rIns="0" bIns="0" rtlCol="0" anchor="t">
            <a:spAutoFit/>
          </a:bodyPr>
          <a:lstStyle/>
          <a:p>
            <a:pPr algn="ctr">
              <a:lnSpc>
                <a:spcPts val="12880"/>
              </a:lnSpc>
            </a:pPr>
            <a:r>
              <a:rPr lang="en-US" sz="4500" dirty="0">
                <a:solidFill>
                  <a:srgbClr val="000000"/>
                </a:solidFill>
                <a:latin typeface="Open Sans Bold"/>
              </a:rPr>
              <a:t>Electricidad</a:t>
            </a:r>
          </a:p>
        </p:txBody>
      </p:sp>
      <p:sp>
        <p:nvSpPr>
          <p:cNvPr id="6" name="TextBox 6"/>
          <p:cNvSpPr txBox="1"/>
          <p:nvPr/>
        </p:nvSpPr>
        <p:spPr>
          <a:xfrm>
            <a:off x="756753" y="2674392"/>
            <a:ext cx="16774494" cy="2454276"/>
          </a:xfrm>
          <a:prstGeom prst="rect">
            <a:avLst/>
          </a:prstGeom>
        </p:spPr>
        <p:txBody>
          <a:bodyPr lIns="0" tIns="0" rIns="0" bIns="0" rtlCol="0" anchor="t">
            <a:spAutoFit/>
          </a:bodyPr>
          <a:lstStyle/>
          <a:p>
            <a:pPr algn="just">
              <a:lnSpc>
                <a:spcPts val="4899"/>
              </a:lnSpc>
              <a:spcBef>
                <a:spcPct val="0"/>
              </a:spcBef>
            </a:pPr>
            <a:r>
              <a:rPr lang="en-US" sz="3499" spc="178" dirty="0">
                <a:solidFill>
                  <a:srgbClr val="000000"/>
                </a:solidFill>
                <a:latin typeface="Roboto"/>
              </a:rPr>
              <a:t>De forma simple, </a:t>
            </a:r>
            <a:r>
              <a:rPr lang="en-US" sz="3499" spc="178" dirty="0" err="1">
                <a:solidFill>
                  <a:srgbClr val="000000"/>
                </a:solidFill>
                <a:latin typeface="Roboto"/>
              </a:rPr>
              <a:t>podemos</a:t>
            </a:r>
            <a:r>
              <a:rPr lang="en-US" sz="3499" spc="178" dirty="0">
                <a:solidFill>
                  <a:srgbClr val="000000"/>
                </a:solidFill>
                <a:latin typeface="Roboto"/>
              </a:rPr>
              <a:t> </a:t>
            </a:r>
            <a:r>
              <a:rPr lang="en-US" sz="3499" spc="178" dirty="0" err="1">
                <a:solidFill>
                  <a:srgbClr val="000000"/>
                </a:solidFill>
                <a:latin typeface="Roboto"/>
              </a:rPr>
              <a:t>decir</a:t>
            </a:r>
            <a:r>
              <a:rPr lang="en-US" sz="3499" spc="178" dirty="0">
                <a:solidFill>
                  <a:srgbClr val="000000"/>
                </a:solidFill>
                <a:latin typeface="Roboto"/>
              </a:rPr>
              <a:t> que la </a:t>
            </a:r>
            <a:r>
              <a:rPr lang="en-US" sz="3499" spc="178" dirty="0" err="1">
                <a:solidFill>
                  <a:srgbClr val="000000"/>
                </a:solidFill>
                <a:latin typeface="Roboto"/>
              </a:rPr>
              <a:t>electricidad</a:t>
            </a:r>
            <a:r>
              <a:rPr lang="en-US" sz="3499" spc="178" dirty="0">
                <a:solidFill>
                  <a:srgbClr val="000000"/>
                </a:solidFill>
                <a:latin typeface="Roboto"/>
              </a:rPr>
              <a:t> es </a:t>
            </a:r>
            <a:r>
              <a:rPr lang="en-US" sz="3499" spc="178" dirty="0" err="1">
                <a:solidFill>
                  <a:srgbClr val="000000"/>
                </a:solidFill>
                <a:latin typeface="Roboto"/>
              </a:rPr>
              <a:t>esa</a:t>
            </a:r>
            <a:r>
              <a:rPr lang="en-US" sz="3499" spc="178" dirty="0">
                <a:solidFill>
                  <a:srgbClr val="000000"/>
                </a:solidFill>
                <a:latin typeface="Roboto"/>
              </a:rPr>
              <a:t> </a:t>
            </a:r>
            <a:r>
              <a:rPr lang="en-US" sz="3499" spc="178" dirty="0" err="1">
                <a:solidFill>
                  <a:srgbClr val="000000"/>
                </a:solidFill>
                <a:latin typeface="Roboto"/>
              </a:rPr>
              <a:t>energía</a:t>
            </a:r>
            <a:r>
              <a:rPr lang="en-US" sz="3499" spc="178" dirty="0">
                <a:solidFill>
                  <a:srgbClr val="000000"/>
                </a:solidFill>
                <a:latin typeface="Roboto"/>
              </a:rPr>
              <a:t> </a:t>
            </a:r>
            <a:r>
              <a:rPr lang="en-US" sz="3499" spc="178" dirty="0" err="1">
                <a:solidFill>
                  <a:srgbClr val="000000"/>
                </a:solidFill>
                <a:latin typeface="Roboto"/>
              </a:rPr>
              <a:t>capaz</a:t>
            </a:r>
            <a:r>
              <a:rPr lang="en-US" sz="3499" spc="178" dirty="0">
                <a:solidFill>
                  <a:srgbClr val="000000"/>
                </a:solidFill>
                <a:latin typeface="Roboto"/>
              </a:rPr>
              <a:t> de </a:t>
            </a:r>
            <a:r>
              <a:rPr lang="en-US" sz="3499" spc="178" dirty="0" err="1">
                <a:solidFill>
                  <a:srgbClr val="000000"/>
                </a:solidFill>
                <a:latin typeface="Roboto"/>
              </a:rPr>
              <a:t>hacer</a:t>
            </a:r>
            <a:r>
              <a:rPr lang="en-US" sz="3499" spc="178" dirty="0">
                <a:solidFill>
                  <a:srgbClr val="000000"/>
                </a:solidFill>
                <a:latin typeface="Roboto"/>
              </a:rPr>
              <a:t> </a:t>
            </a:r>
            <a:r>
              <a:rPr lang="en-US" sz="3499" spc="178" dirty="0" err="1">
                <a:solidFill>
                  <a:srgbClr val="000000"/>
                </a:solidFill>
                <a:latin typeface="Roboto"/>
              </a:rPr>
              <a:t>brillar</a:t>
            </a:r>
            <a:r>
              <a:rPr lang="en-US" sz="3499" spc="178" dirty="0">
                <a:solidFill>
                  <a:srgbClr val="000000"/>
                </a:solidFill>
                <a:latin typeface="Roboto"/>
              </a:rPr>
              <a:t> bombillas, mover </a:t>
            </a:r>
            <a:r>
              <a:rPr lang="en-US" sz="3499" spc="178" dirty="0" err="1">
                <a:solidFill>
                  <a:srgbClr val="000000"/>
                </a:solidFill>
                <a:latin typeface="Roboto"/>
              </a:rPr>
              <a:t>los</a:t>
            </a:r>
            <a:r>
              <a:rPr lang="en-US" sz="3499" spc="178" dirty="0">
                <a:solidFill>
                  <a:srgbClr val="000000"/>
                </a:solidFill>
                <a:latin typeface="Roboto"/>
              </a:rPr>
              <a:t> </a:t>
            </a:r>
            <a:r>
              <a:rPr lang="en-US" sz="3499" spc="178" dirty="0" err="1">
                <a:solidFill>
                  <a:srgbClr val="000000"/>
                </a:solidFill>
                <a:latin typeface="Roboto"/>
              </a:rPr>
              <a:t>coches</a:t>
            </a:r>
            <a:r>
              <a:rPr lang="en-US" sz="3499" spc="178" dirty="0">
                <a:solidFill>
                  <a:srgbClr val="000000"/>
                </a:solidFill>
                <a:latin typeface="Roboto"/>
              </a:rPr>
              <a:t> </a:t>
            </a:r>
            <a:r>
              <a:rPr lang="en-US" sz="3499" spc="178" dirty="0" err="1">
                <a:solidFill>
                  <a:srgbClr val="000000"/>
                </a:solidFill>
                <a:latin typeface="Roboto"/>
              </a:rPr>
              <a:t>más</a:t>
            </a:r>
            <a:r>
              <a:rPr lang="en-US" sz="3499" spc="178" dirty="0">
                <a:solidFill>
                  <a:srgbClr val="000000"/>
                </a:solidFill>
                <a:latin typeface="Roboto"/>
              </a:rPr>
              <a:t> </a:t>
            </a:r>
            <a:r>
              <a:rPr lang="en-US" sz="3499" spc="178" dirty="0" err="1">
                <a:solidFill>
                  <a:srgbClr val="000000"/>
                </a:solidFill>
                <a:latin typeface="Roboto"/>
              </a:rPr>
              <a:t>eficientes</a:t>
            </a:r>
            <a:r>
              <a:rPr lang="en-US" sz="3499" spc="178" dirty="0">
                <a:solidFill>
                  <a:srgbClr val="000000"/>
                </a:solidFill>
                <a:latin typeface="Roboto"/>
              </a:rPr>
              <a:t>. Si </a:t>
            </a:r>
            <a:r>
              <a:rPr lang="en-US" sz="3499" spc="178" dirty="0" err="1">
                <a:solidFill>
                  <a:srgbClr val="000000"/>
                </a:solidFill>
                <a:latin typeface="Roboto"/>
              </a:rPr>
              <a:t>profundizamos</a:t>
            </a:r>
            <a:r>
              <a:rPr lang="en-US" sz="3499" spc="178" dirty="0">
                <a:solidFill>
                  <a:srgbClr val="000000"/>
                </a:solidFill>
                <a:latin typeface="Roboto"/>
              </a:rPr>
              <a:t> en el </a:t>
            </a:r>
            <a:r>
              <a:rPr lang="en-US" sz="3499" spc="178" dirty="0" err="1">
                <a:solidFill>
                  <a:srgbClr val="000000"/>
                </a:solidFill>
                <a:latin typeface="Roboto"/>
              </a:rPr>
              <a:t>concepto</a:t>
            </a:r>
            <a:r>
              <a:rPr lang="en-US" sz="3499" spc="178" dirty="0">
                <a:solidFill>
                  <a:srgbClr val="000000"/>
                </a:solidFill>
                <a:latin typeface="Roboto"/>
              </a:rPr>
              <a:t> </a:t>
            </a:r>
            <a:r>
              <a:rPr lang="en-US" sz="3499" spc="178" dirty="0" err="1">
                <a:solidFill>
                  <a:srgbClr val="000000"/>
                </a:solidFill>
                <a:latin typeface="Roboto"/>
              </a:rPr>
              <a:t>más</a:t>
            </a:r>
            <a:r>
              <a:rPr lang="en-US" sz="3499" spc="178" dirty="0">
                <a:solidFill>
                  <a:srgbClr val="000000"/>
                </a:solidFill>
                <a:latin typeface="Roboto"/>
              </a:rPr>
              <a:t> </a:t>
            </a:r>
            <a:r>
              <a:rPr lang="en-US" sz="3499" spc="178" dirty="0" err="1">
                <a:solidFill>
                  <a:srgbClr val="000000"/>
                </a:solidFill>
                <a:latin typeface="Roboto"/>
              </a:rPr>
              <a:t>técnico</a:t>
            </a:r>
            <a:r>
              <a:rPr lang="en-US" sz="3499" spc="178" dirty="0">
                <a:solidFill>
                  <a:srgbClr val="000000"/>
                </a:solidFill>
                <a:latin typeface="Roboto"/>
              </a:rPr>
              <a:t>, es la </a:t>
            </a:r>
            <a:r>
              <a:rPr lang="en-US" sz="3499" spc="178" dirty="0" err="1">
                <a:solidFill>
                  <a:srgbClr val="000000"/>
                </a:solidFill>
                <a:latin typeface="Roboto"/>
              </a:rPr>
              <a:t>energía</a:t>
            </a:r>
            <a:r>
              <a:rPr lang="en-US" sz="3499" spc="178" dirty="0">
                <a:solidFill>
                  <a:srgbClr val="000000"/>
                </a:solidFill>
                <a:latin typeface="Roboto"/>
              </a:rPr>
              <a:t> </a:t>
            </a:r>
            <a:r>
              <a:rPr lang="en-US" sz="3499" spc="178" dirty="0" err="1">
                <a:solidFill>
                  <a:srgbClr val="000000"/>
                </a:solidFill>
                <a:latin typeface="Roboto"/>
              </a:rPr>
              <a:t>generada</a:t>
            </a:r>
            <a:r>
              <a:rPr lang="en-US" sz="3499" spc="178" dirty="0">
                <a:solidFill>
                  <a:srgbClr val="000000"/>
                </a:solidFill>
                <a:latin typeface="Roboto"/>
              </a:rPr>
              <a:t> </a:t>
            </a:r>
            <a:r>
              <a:rPr lang="en-US" sz="3499" spc="178" dirty="0" err="1">
                <a:solidFill>
                  <a:srgbClr val="000000"/>
                </a:solidFill>
                <a:latin typeface="Roboto"/>
              </a:rPr>
              <a:t>por</a:t>
            </a:r>
            <a:r>
              <a:rPr lang="en-US" sz="3499" spc="178" dirty="0">
                <a:solidFill>
                  <a:srgbClr val="000000"/>
                </a:solidFill>
                <a:latin typeface="Roboto"/>
              </a:rPr>
              <a:t> el </a:t>
            </a:r>
            <a:r>
              <a:rPr lang="en-US" sz="3499" spc="178" dirty="0" err="1">
                <a:solidFill>
                  <a:srgbClr val="000000"/>
                </a:solidFill>
                <a:latin typeface="Roboto"/>
              </a:rPr>
              <a:t>movimiento</a:t>
            </a:r>
            <a:r>
              <a:rPr lang="en-US" sz="3499" spc="178" dirty="0">
                <a:solidFill>
                  <a:srgbClr val="000000"/>
                </a:solidFill>
                <a:latin typeface="Roboto"/>
              </a:rPr>
              <a:t> de </a:t>
            </a:r>
            <a:r>
              <a:rPr lang="en-US" sz="3499" spc="178" dirty="0" err="1">
                <a:solidFill>
                  <a:srgbClr val="000000"/>
                </a:solidFill>
                <a:latin typeface="Roboto"/>
              </a:rPr>
              <a:t>electrones</a:t>
            </a:r>
            <a:r>
              <a:rPr lang="en-US" sz="3499" spc="178" dirty="0">
                <a:solidFill>
                  <a:srgbClr val="000000"/>
                </a:solidFill>
                <a:latin typeface="Roboto"/>
              </a:rPr>
              <a:t> </a:t>
            </a:r>
            <a:r>
              <a:rPr lang="en-US" sz="3499" spc="178" dirty="0" err="1">
                <a:solidFill>
                  <a:srgbClr val="000000"/>
                </a:solidFill>
                <a:latin typeface="Roboto"/>
              </a:rPr>
              <a:t>positivos</a:t>
            </a:r>
            <a:r>
              <a:rPr lang="en-US" sz="3499" spc="178" dirty="0">
                <a:solidFill>
                  <a:srgbClr val="000000"/>
                </a:solidFill>
                <a:latin typeface="Roboto"/>
              </a:rPr>
              <a:t> y </a:t>
            </a:r>
            <a:r>
              <a:rPr lang="en-US" sz="3499" spc="178" dirty="0" err="1">
                <a:solidFill>
                  <a:srgbClr val="000000"/>
                </a:solidFill>
                <a:latin typeface="Roboto"/>
              </a:rPr>
              <a:t>negativos</a:t>
            </a:r>
            <a:r>
              <a:rPr lang="en-US" sz="3499" spc="178" dirty="0">
                <a:solidFill>
                  <a:srgbClr val="000000"/>
                </a:solidFill>
                <a:latin typeface="Roboto"/>
              </a:rPr>
              <a:t> en el interior de </a:t>
            </a:r>
            <a:r>
              <a:rPr lang="en-US" sz="3499" spc="178" dirty="0" err="1">
                <a:solidFill>
                  <a:srgbClr val="000000"/>
                </a:solidFill>
                <a:latin typeface="Roboto"/>
              </a:rPr>
              <a:t>materiales</a:t>
            </a:r>
            <a:r>
              <a:rPr lang="en-US" sz="3499" spc="178" dirty="0">
                <a:solidFill>
                  <a:srgbClr val="000000"/>
                </a:solidFill>
                <a:latin typeface="Roboto"/>
              </a:rPr>
              <a:t> </a:t>
            </a:r>
            <a:r>
              <a:rPr lang="en-US" sz="3499" spc="178" dirty="0" err="1">
                <a:solidFill>
                  <a:srgbClr val="000000"/>
                </a:solidFill>
                <a:latin typeface="Roboto"/>
              </a:rPr>
              <a:t>conductores</a:t>
            </a:r>
            <a:r>
              <a:rPr lang="en-US" sz="3499" spc="178" dirty="0">
                <a:solidFill>
                  <a:srgbClr val="000000"/>
                </a:solidFill>
                <a:latin typeface="Roboto"/>
              </a:rPr>
              <a:t>.</a:t>
            </a:r>
          </a:p>
        </p:txBody>
      </p:sp>
      <p:sp>
        <p:nvSpPr>
          <p:cNvPr id="7" name="TextBox 7"/>
          <p:cNvSpPr txBox="1"/>
          <p:nvPr/>
        </p:nvSpPr>
        <p:spPr>
          <a:xfrm>
            <a:off x="711513" y="5890668"/>
            <a:ext cx="16819734" cy="2473325"/>
          </a:xfrm>
          <a:prstGeom prst="rect">
            <a:avLst/>
          </a:prstGeom>
        </p:spPr>
        <p:txBody>
          <a:bodyPr lIns="0" tIns="0" rIns="0" bIns="0" rtlCol="0" anchor="t">
            <a:spAutoFit/>
          </a:bodyPr>
          <a:lstStyle/>
          <a:p>
            <a:pPr algn="just">
              <a:lnSpc>
                <a:spcPts val="4900"/>
              </a:lnSpc>
              <a:spcBef>
                <a:spcPct val="0"/>
              </a:spcBef>
            </a:pPr>
            <a:r>
              <a:rPr lang="en-US" sz="3500" spc="178" dirty="0" err="1">
                <a:solidFill>
                  <a:srgbClr val="000000"/>
                </a:solidFill>
                <a:latin typeface="Roboto"/>
              </a:rPr>
              <a:t>pequeños</a:t>
            </a:r>
            <a:r>
              <a:rPr lang="en-US" sz="3500" spc="178" dirty="0">
                <a:solidFill>
                  <a:srgbClr val="000000"/>
                </a:solidFill>
                <a:latin typeface="Roboto"/>
              </a:rPr>
              <a:t> </a:t>
            </a:r>
            <a:r>
              <a:rPr lang="en-US" sz="3500" spc="178" dirty="0" err="1">
                <a:solidFill>
                  <a:srgbClr val="000000"/>
                </a:solidFill>
                <a:latin typeface="Roboto"/>
              </a:rPr>
              <a:t>átomos</a:t>
            </a:r>
            <a:r>
              <a:rPr lang="en-US" sz="3500" spc="178" dirty="0">
                <a:solidFill>
                  <a:srgbClr val="000000"/>
                </a:solidFill>
                <a:latin typeface="Roboto"/>
              </a:rPr>
              <a:t> </a:t>
            </a:r>
            <a:r>
              <a:rPr lang="en-US" sz="3500" spc="178" dirty="0" err="1">
                <a:solidFill>
                  <a:srgbClr val="000000"/>
                </a:solidFill>
                <a:latin typeface="Roboto"/>
              </a:rPr>
              <a:t>minúsculos</a:t>
            </a:r>
            <a:r>
              <a:rPr lang="en-US" sz="3500" spc="178" dirty="0">
                <a:solidFill>
                  <a:srgbClr val="000000"/>
                </a:solidFill>
                <a:latin typeface="Roboto"/>
              </a:rPr>
              <a:t>, </a:t>
            </a:r>
            <a:r>
              <a:rPr lang="en-US" sz="3500" spc="178" dirty="0" err="1">
                <a:solidFill>
                  <a:srgbClr val="000000"/>
                </a:solidFill>
                <a:latin typeface="Roboto"/>
              </a:rPr>
              <a:t>cuyas</a:t>
            </a:r>
            <a:r>
              <a:rPr lang="en-US" sz="3500" spc="178" dirty="0">
                <a:solidFill>
                  <a:srgbClr val="000000"/>
                </a:solidFill>
                <a:latin typeface="Roboto"/>
              </a:rPr>
              <a:t> partes, </a:t>
            </a:r>
            <a:r>
              <a:rPr lang="en-US" sz="3500" spc="178" dirty="0" err="1">
                <a:solidFill>
                  <a:srgbClr val="000000"/>
                </a:solidFill>
                <a:latin typeface="Roboto"/>
              </a:rPr>
              <a:t>si</a:t>
            </a:r>
            <a:r>
              <a:rPr lang="en-US" sz="3500" spc="178" dirty="0">
                <a:solidFill>
                  <a:srgbClr val="000000"/>
                </a:solidFill>
                <a:latin typeface="Roboto"/>
              </a:rPr>
              <a:t> son </a:t>
            </a:r>
            <a:r>
              <a:rPr lang="en-US" sz="3500" spc="178" dirty="0" err="1">
                <a:solidFill>
                  <a:srgbClr val="000000"/>
                </a:solidFill>
                <a:latin typeface="Roboto"/>
              </a:rPr>
              <a:t>opuestas</a:t>
            </a:r>
            <a:r>
              <a:rPr lang="en-US" sz="3500" spc="178" dirty="0">
                <a:solidFill>
                  <a:srgbClr val="000000"/>
                </a:solidFill>
                <a:latin typeface="Roboto"/>
              </a:rPr>
              <a:t>, se </a:t>
            </a:r>
            <a:r>
              <a:rPr lang="en-US" sz="3500" spc="178" dirty="0" err="1">
                <a:solidFill>
                  <a:srgbClr val="000000"/>
                </a:solidFill>
                <a:latin typeface="Roboto"/>
              </a:rPr>
              <a:t>atraen</a:t>
            </a:r>
            <a:r>
              <a:rPr lang="en-US" sz="3500" spc="178" dirty="0">
                <a:solidFill>
                  <a:srgbClr val="000000"/>
                </a:solidFill>
                <a:latin typeface="Roboto"/>
              </a:rPr>
              <a:t>. Sus cargas </a:t>
            </a:r>
            <a:r>
              <a:rPr lang="en-US" sz="3500" spc="178" dirty="0" err="1">
                <a:solidFill>
                  <a:srgbClr val="000000"/>
                </a:solidFill>
                <a:latin typeface="Roboto"/>
              </a:rPr>
              <a:t>positivas</a:t>
            </a:r>
            <a:r>
              <a:rPr lang="en-US" sz="3500" spc="178" dirty="0">
                <a:solidFill>
                  <a:srgbClr val="000000"/>
                </a:solidFill>
                <a:latin typeface="Roboto"/>
              </a:rPr>
              <a:t> y </a:t>
            </a:r>
            <a:r>
              <a:rPr lang="en-US" sz="3500" spc="178" dirty="0" err="1">
                <a:solidFill>
                  <a:srgbClr val="000000"/>
                </a:solidFill>
                <a:latin typeface="Roboto"/>
              </a:rPr>
              <a:t>negativas</a:t>
            </a:r>
            <a:r>
              <a:rPr lang="en-US" sz="3500" spc="178" dirty="0">
                <a:solidFill>
                  <a:srgbClr val="000000"/>
                </a:solidFill>
                <a:latin typeface="Roboto"/>
              </a:rPr>
              <a:t> se </a:t>
            </a:r>
            <a:r>
              <a:rPr lang="en-US" sz="3500" spc="178" dirty="0" err="1">
                <a:solidFill>
                  <a:srgbClr val="000000"/>
                </a:solidFill>
                <a:latin typeface="Roboto"/>
              </a:rPr>
              <a:t>complementan</a:t>
            </a:r>
            <a:r>
              <a:rPr lang="en-US" sz="3500" spc="178" dirty="0">
                <a:solidFill>
                  <a:srgbClr val="000000"/>
                </a:solidFill>
                <a:latin typeface="Roboto"/>
              </a:rPr>
              <a:t> </a:t>
            </a:r>
            <a:r>
              <a:rPr lang="en-US" sz="3500" spc="178" dirty="0" err="1">
                <a:solidFill>
                  <a:srgbClr val="000000"/>
                </a:solidFill>
                <a:latin typeface="Roboto"/>
              </a:rPr>
              <a:t>creando</a:t>
            </a:r>
            <a:r>
              <a:rPr lang="en-US" sz="3500" spc="178" dirty="0">
                <a:solidFill>
                  <a:srgbClr val="000000"/>
                </a:solidFill>
                <a:latin typeface="Roboto"/>
              </a:rPr>
              <a:t> dos </a:t>
            </a:r>
            <a:r>
              <a:rPr lang="en-US" sz="3500" spc="178" dirty="0" err="1">
                <a:solidFill>
                  <a:srgbClr val="000000"/>
                </a:solidFill>
                <a:latin typeface="Roboto"/>
              </a:rPr>
              <a:t>tipos</a:t>
            </a:r>
            <a:r>
              <a:rPr lang="en-US" sz="3500" spc="178" dirty="0">
                <a:solidFill>
                  <a:srgbClr val="000000"/>
                </a:solidFill>
                <a:latin typeface="Roboto"/>
              </a:rPr>
              <a:t> de </a:t>
            </a:r>
            <a:r>
              <a:rPr lang="en-US" sz="3500" spc="178" dirty="0" err="1">
                <a:solidFill>
                  <a:srgbClr val="000000"/>
                </a:solidFill>
                <a:latin typeface="Roboto"/>
              </a:rPr>
              <a:t>electricidad</a:t>
            </a:r>
            <a:r>
              <a:rPr lang="en-US" sz="3500" spc="178" dirty="0">
                <a:solidFill>
                  <a:srgbClr val="000000"/>
                </a:solidFill>
                <a:latin typeface="Roboto"/>
              </a:rPr>
              <a:t>: la </a:t>
            </a:r>
            <a:r>
              <a:rPr lang="en-US" sz="3500" spc="178" dirty="0" err="1">
                <a:solidFill>
                  <a:srgbClr val="000000"/>
                </a:solidFill>
                <a:latin typeface="Roboto"/>
              </a:rPr>
              <a:t>electricidad</a:t>
            </a:r>
            <a:r>
              <a:rPr lang="en-US" sz="3500" spc="178" dirty="0">
                <a:solidFill>
                  <a:srgbClr val="000000"/>
                </a:solidFill>
                <a:latin typeface="Roboto"/>
              </a:rPr>
              <a:t> </a:t>
            </a:r>
            <a:r>
              <a:rPr lang="en-US" sz="3500" spc="178" dirty="0" err="1">
                <a:solidFill>
                  <a:srgbClr val="000000"/>
                </a:solidFill>
                <a:latin typeface="Roboto"/>
              </a:rPr>
              <a:t>estática</a:t>
            </a:r>
            <a:r>
              <a:rPr lang="en-US" sz="3500" spc="178" dirty="0">
                <a:solidFill>
                  <a:srgbClr val="000000"/>
                </a:solidFill>
                <a:latin typeface="Roboto"/>
              </a:rPr>
              <a:t> (</a:t>
            </a:r>
            <a:r>
              <a:rPr lang="en-US" sz="3500" spc="178" dirty="0" err="1">
                <a:solidFill>
                  <a:srgbClr val="000000"/>
                </a:solidFill>
                <a:latin typeface="Roboto"/>
              </a:rPr>
              <a:t>generada</a:t>
            </a:r>
            <a:r>
              <a:rPr lang="en-US" sz="3500" spc="178" dirty="0">
                <a:solidFill>
                  <a:srgbClr val="000000"/>
                </a:solidFill>
                <a:latin typeface="Roboto"/>
              </a:rPr>
              <a:t> </a:t>
            </a:r>
            <a:r>
              <a:rPr lang="en-US" sz="3500" spc="178" dirty="0" err="1">
                <a:solidFill>
                  <a:srgbClr val="000000"/>
                </a:solidFill>
                <a:latin typeface="Roboto"/>
              </a:rPr>
              <a:t>por</a:t>
            </a:r>
            <a:r>
              <a:rPr lang="en-US" sz="3500" spc="178" dirty="0">
                <a:solidFill>
                  <a:srgbClr val="000000"/>
                </a:solidFill>
                <a:latin typeface="Roboto"/>
              </a:rPr>
              <a:t> </a:t>
            </a:r>
            <a:r>
              <a:rPr lang="en-US" sz="3500" spc="178" dirty="0" err="1">
                <a:solidFill>
                  <a:srgbClr val="000000"/>
                </a:solidFill>
                <a:latin typeface="Roboto"/>
              </a:rPr>
              <a:t>fricción</a:t>
            </a:r>
            <a:r>
              <a:rPr lang="en-US" sz="3500" spc="178" dirty="0">
                <a:solidFill>
                  <a:srgbClr val="000000"/>
                </a:solidFill>
                <a:latin typeface="Roboto"/>
              </a:rPr>
              <a:t>) y la </a:t>
            </a:r>
            <a:r>
              <a:rPr lang="en-US" sz="3500" spc="178" dirty="0" err="1">
                <a:solidFill>
                  <a:srgbClr val="000000"/>
                </a:solidFill>
                <a:latin typeface="Roboto"/>
              </a:rPr>
              <a:t>electricidad</a:t>
            </a:r>
            <a:r>
              <a:rPr lang="en-US" sz="3500" spc="178" dirty="0">
                <a:solidFill>
                  <a:srgbClr val="000000"/>
                </a:solidFill>
                <a:latin typeface="Roboto"/>
              </a:rPr>
              <a:t> </a:t>
            </a:r>
            <a:r>
              <a:rPr lang="en-US" sz="3500" spc="178" dirty="0" err="1">
                <a:solidFill>
                  <a:srgbClr val="000000"/>
                </a:solidFill>
                <a:latin typeface="Roboto"/>
              </a:rPr>
              <a:t>dinámica</a:t>
            </a:r>
            <a:r>
              <a:rPr lang="en-US" sz="3500" spc="178" dirty="0">
                <a:solidFill>
                  <a:srgbClr val="000000"/>
                </a:solidFill>
                <a:latin typeface="Roboto"/>
              </a:rPr>
              <a:t> (</a:t>
            </a:r>
            <a:r>
              <a:rPr lang="en-US" sz="3500" spc="178" dirty="0" err="1">
                <a:solidFill>
                  <a:srgbClr val="000000"/>
                </a:solidFill>
                <a:latin typeface="Roboto"/>
              </a:rPr>
              <a:t>concebida</a:t>
            </a:r>
            <a:r>
              <a:rPr lang="en-US" sz="3500" spc="178" dirty="0">
                <a:solidFill>
                  <a:srgbClr val="000000"/>
                </a:solidFill>
                <a:latin typeface="Roboto"/>
              </a:rPr>
              <a:t> </a:t>
            </a:r>
            <a:r>
              <a:rPr lang="en-US" sz="3500" spc="178" dirty="0" err="1">
                <a:solidFill>
                  <a:srgbClr val="000000"/>
                </a:solidFill>
                <a:latin typeface="Roboto"/>
              </a:rPr>
              <a:t>por</a:t>
            </a:r>
            <a:r>
              <a:rPr lang="en-US" sz="3500" spc="178" dirty="0">
                <a:solidFill>
                  <a:srgbClr val="000000"/>
                </a:solidFill>
                <a:latin typeface="Roboto"/>
              </a:rPr>
              <a:t> </a:t>
            </a:r>
            <a:r>
              <a:rPr lang="en-US" sz="3500" spc="178" dirty="0" err="1">
                <a:solidFill>
                  <a:srgbClr val="000000"/>
                </a:solidFill>
                <a:latin typeface="Roboto"/>
              </a:rPr>
              <a:t>corriente</a:t>
            </a:r>
            <a:r>
              <a:rPr lang="en-US" sz="3500" spc="178" dirty="0">
                <a:solidFill>
                  <a:srgbClr val="000000"/>
                </a:solidFill>
                <a:latin typeface="Roboto"/>
              </a:rPr>
              <a: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1759425" y="9733708"/>
            <a:ext cx="6735168" cy="553292"/>
            <a:chOff x="0" y="0"/>
            <a:chExt cx="1773872" cy="145723"/>
          </a:xfrm>
        </p:grpSpPr>
        <p:sp>
          <p:nvSpPr>
            <p:cNvPr id="3" name="Freeform 3"/>
            <p:cNvSpPr/>
            <p:nvPr/>
          </p:nvSpPr>
          <p:spPr>
            <a:xfrm>
              <a:off x="0" y="0"/>
              <a:ext cx="1773872" cy="145723"/>
            </a:xfrm>
            <a:custGeom>
              <a:avLst/>
              <a:gdLst/>
              <a:ahLst/>
              <a:cxnLst/>
              <a:rect l="l" t="t" r="r" b="b"/>
              <a:pathLst>
                <a:path w="1773872" h="145723">
                  <a:moveTo>
                    <a:pt x="0" y="0"/>
                  </a:moveTo>
                  <a:lnTo>
                    <a:pt x="1773872" y="0"/>
                  </a:lnTo>
                  <a:lnTo>
                    <a:pt x="1773872" y="145723"/>
                  </a:lnTo>
                  <a:lnTo>
                    <a:pt x="0" y="145723"/>
                  </a:lnTo>
                  <a:close/>
                </a:path>
              </a:pathLst>
            </a:custGeom>
            <a:solidFill>
              <a:srgbClr val="F23436"/>
            </a:solidFill>
          </p:spPr>
          <p:txBody>
            <a:bodyPr/>
            <a:lstStyle/>
            <a:p>
              <a:endParaRPr lang="es-GT"/>
            </a:p>
          </p:txBody>
        </p:sp>
        <p:sp>
          <p:nvSpPr>
            <p:cNvPr id="4" name="TextBox 4"/>
            <p:cNvSpPr txBox="1"/>
            <p:nvPr/>
          </p:nvSpPr>
          <p:spPr>
            <a:xfrm>
              <a:off x="0" y="-47625"/>
              <a:ext cx="1773872" cy="193348"/>
            </a:xfrm>
            <a:prstGeom prst="rect">
              <a:avLst/>
            </a:prstGeom>
          </p:spPr>
          <p:txBody>
            <a:bodyPr lIns="50800" tIns="50800" rIns="50800" bIns="50800" rtlCol="0" anchor="ctr"/>
            <a:lstStyle/>
            <a:p>
              <a:pPr algn="ctr">
                <a:lnSpc>
                  <a:spcPts val="3079"/>
                </a:lnSpc>
              </a:pPr>
              <a:endParaRPr/>
            </a:p>
          </p:txBody>
        </p:sp>
      </p:grpSp>
      <p:sp>
        <p:nvSpPr>
          <p:cNvPr id="5" name="TextBox 5"/>
          <p:cNvSpPr txBox="1"/>
          <p:nvPr/>
        </p:nvSpPr>
        <p:spPr>
          <a:xfrm>
            <a:off x="591213" y="458004"/>
            <a:ext cx="16443415" cy="6510020"/>
          </a:xfrm>
          <a:prstGeom prst="rect">
            <a:avLst/>
          </a:prstGeom>
        </p:spPr>
        <p:txBody>
          <a:bodyPr lIns="0" tIns="0" rIns="0" bIns="0" rtlCol="0" anchor="t">
            <a:spAutoFit/>
          </a:bodyPr>
          <a:lstStyle/>
          <a:p>
            <a:pPr algn="just">
              <a:lnSpc>
                <a:spcPts val="6159"/>
              </a:lnSpc>
              <a:spcBef>
                <a:spcPct val="0"/>
              </a:spcBef>
            </a:pPr>
            <a:r>
              <a:rPr lang="en-US" sz="4399" spc="224" dirty="0" err="1">
                <a:solidFill>
                  <a:srgbClr val="000000"/>
                </a:solidFill>
                <a:latin typeface="Roboto Bold"/>
              </a:rPr>
              <a:t>Generación</a:t>
            </a:r>
            <a:r>
              <a:rPr lang="en-US" sz="4399" spc="224" dirty="0">
                <a:solidFill>
                  <a:srgbClr val="000000"/>
                </a:solidFill>
                <a:latin typeface="Roboto Bold"/>
              </a:rPr>
              <a:t> de </a:t>
            </a:r>
            <a:r>
              <a:rPr lang="en-US" sz="4399" spc="224" dirty="0" err="1">
                <a:solidFill>
                  <a:srgbClr val="000000"/>
                </a:solidFill>
                <a:latin typeface="Roboto Bold"/>
              </a:rPr>
              <a:t>energía</a:t>
            </a:r>
            <a:endParaRPr lang="en-US" sz="4399" spc="224" dirty="0">
              <a:solidFill>
                <a:srgbClr val="000000"/>
              </a:solidFill>
              <a:latin typeface="Roboto Bold"/>
            </a:endParaRPr>
          </a:p>
          <a:p>
            <a:pPr algn="just">
              <a:lnSpc>
                <a:spcPts val="6159"/>
              </a:lnSpc>
              <a:spcBef>
                <a:spcPct val="0"/>
              </a:spcBef>
            </a:pPr>
            <a:endParaRPr lang="en-US" sz="4399" spc="224" dirty="0">
              <a:solidFill>
                <a:srgbClr val="000000"/>
              </a:solidFill>
              <a:latin typeface="Roboto Bold"/>
            </a:endParaRPr>
          </a:p>
          <a:p>
            <a:pPr algn="just">
              <a:lnSpc>
                <a:spcPts val="4900"/>
              </a:lnSpc>
              <a:spcBef>
                <a:spcPct val="0"/>
              </a:spcBef>
            </a:pPr>
            <a:r>
              <a:rPr lang="en-US" sz="3500" spc="178" dirty="0">
                <a:solidFill>
                  <a:srgbClr val="000000"/>
                </a:solidFill>
                <a:latin typeface="Roboto"/>
              </a:rPr>
              <a:t>La </a:t>
            </a:r>
            <a:r>
              <a:rPr lang="en-US" sz="3500" spc="178" dirty="0" err="1">
                <a:solidFill>
                  <a:srgbClr val="000000"/>
                </a:solidFill>
                <a:latin typeface="Roboto"/>
              </a:rPr>
              <a:t>electricidad</a:t>
            </a:r>
            <a:r>
              <a:rPr lang="en-US" sz="3500" spc="178" dirty="0">
                <a:solidFill>
                  <a:srgbClr val="000000"/>
                </a:solidFill>
                <a:latin typeface="Roboto"/>
              </a:rPr>
              <a:t> se </a:t>
            </a:r>
            <a:r>
              <a:rPr lang="en-US" sz="3500" spc="178" dirty="0" err="1">
                <a:solidFill>
                  <a:srgbClr val="000000"/>
                </a:solidFill>
                <a:latin typeface="Roboto"/>
              </a:rPr>
              <a:t>crea</a:t>
            </a:r>
            <a:r>
              <a:rPr lang="en-US" sz="3500" spc="178" dirty="0">
                <a:solidFill>
                  <a:srgbClr val="000000"/>
                </a:solidFill>
                <a:latin typeface="Roboto"/>
              </a:rPr>
              <a:t> en </a:t>
            </a:r>
            <a:r>
              <a:rPr lang="en-US" sz="3500" spc="178" dirty="0" err="1">
                <a:solidFill>
                  <a:srgbClr val="000000"/>
                </a:solidFill>
                <a:latin typeface="Roboto"/>
              </a:rPr>
              <a:t>centrales</a:t>
            </a:r>
            <a:r>
              <a:rPr lang="en-US" sz="3500" spc="178" dirty="0">
                <a:solidFill>
                  <a:srgbClr val="000000"/>
                </a:solidFill>
                <a:latin typeface="Roboto"/>
              </a:rPr>
              <a:t> </a:t>
            </a:r>
            <a:r>
              <a:rPr lang="en-US" sz="3500" spc="178" dirty="0" err="1">
                <a:solidFill>
                  <a:srgbClr val="000000"/>
                </a:solidFill>
                <a:latin typeface="Roboto"/>
              </a:rPr>
              <a:t>capaces</a:t>
            </a:r>
            <a:r>
              <a:rPr lang="en-US" sz="3500" spc="178" dirty="0">
                <a:solidFill>
                  <a:srgbClr val="000000"/>
                </a:solidFill>
                <a:latin typeface="Roboto"/>
              </a:rPr>
              <a:t> de </a:t>
            </a:r>
            <a:r>
              <a:rPr lang="en-US" sz="3500" spc="178" dirty="0" err="1">
                <a:solidFill>
                  <a:srgbClr val="000000"/>
                </a:solidFill>
                <a:latin typeface="Roboto"/>
              </a:rPr>
              <a:t>obtener</a:t>
            </a:r>
            <a:r>
              <a:rPr lang="en-US" sz="3500" spc="178" dirty="0">
                <a:solidFill>
                  <a:srgbClr val="000000"/>
                </a:solidFill>
                <a:latin typeface="Roboto"/>
              </a:rPr>
              <a:t> </a:t>
            </a:r>
            <a:r>
              <a:rPr lang="en-US" sz="3500" spc="178" dirty="0" err="1">
                <a:solidFill>
                  <a:srgbClr val="000000"/>
                </a:solidFill>
                <a:latin typeface="Roboto"/>
              </a:rPr>
              <a:t>energía</a:t>
            </a:r>
            <a:r>
              <a:rPr lang="en-US" sz="3500" spc="178" dirty="0">
                <a:solidFill>
                  <a:srgbClr val="000000"/>
                </a:solidFill>
                <a:latin typeface="Roboto"/>
              </a:rPr>
              <a:t> </a:t>
            </a:r>
            <a:r>
              <a:rPr lang="en-US" sz="3500" spc="178" dirty="0" err="1">
                <a:solidFill>
                  <a:srgbClr val="000000"/>
                </a:solidFill>
                <a:latin typeface="Roboto"/>
              </a:rPr>
              <a:t>eléctrica</a:t>
            </a:r>
            <a:r>
              <a:rPr lang="en-US" sz="3500" spc="178" dirty="0">
                <a:solidFill>
                  <a:srgbClr val="000000"/>
                </a:solidFill>
                <a:latin typeface="Roboto"/>
              </a:rPr>
              <a:t> a </a:t>
            </a:r>
            <a:r>
              <a:rPr lang="en-US" sz="3500" spc="178" dirty="0" err="1">
                <a:solidFill>
                  <a:srgbClr val="000000"/>
                </a:solidFill>
                <a:latin typeface="Roboto"/>
              </a:rPr>
              <a:t>partir</a:t>
            </a:r>
            <a:r>
              <a:rPr lang="en-US" sz="3500" spc="178" dirty="0">
                <a:solidFill>
                  <a:srgbClr val="000000"/>
                </a:solidFill>
                <a:latin typeface="Roboto"/>
              </a:rPr>
              <a:t> de </a:t>
            </a:r>
            <a:r>
              <a:rPr lang="en-US" sz="3500" spc="178" dirty="0" err="1">
                <a:solidFill>
                  <a:srgbClr val="000000"/>
                </a:solidFill>
                <a:latin typeface="Roboto"/>
              </a:rPr>
              <a:t>energías</a:t>
            </a:r>
            <a:r>
              <a:rPr lang="en-US" sz="3500" spc="178" dirty="0">
                <a:solidFill>
                  <a:srgbClr val="000000"/>
                </a:solidFill>
                <a:latin typeface="Roboto"/>
              </a:rPr>
              <a:t> </a:t>
            </a:r>
            <a:r>
              <a:rPr lang="en-US" sz="3500" spc="178" dirty="0" err="1">
                <a:solidFill>
                  <a:srgbClr val="000000"/>
                </a:solidFill>
                <a:latin typeface="Roboto"/>
              </a:rPr>
              <a:t>primarias</a:t>
            </a:r>
            <a:r>
              <a:rPr lang="en-US" sz="3500" spc="178" dirty="0">
                <a:solidFill>
                  <a:srgbClr val="000000"/>
                </a:solidFill>
                <a:latin typeface="Roboto"/>
              </a:rPr>
              <a:t>. Las </a:t>
            </a:r>
            <a:r>
              <a:rPr lang="en-US" sz="3500" spc="178" dirty="0" err="1">
                <a:solidFill>
                  <a:srgbClr val="000000"/>
                </a:solidFill>
                <a:latin typeface="Roboto"/>
              </a:rPr>
              <a:t>llamadas</a:t>
            </a:r>
            <a:r>
              <a:rPr lang="en-US" sz="3500" spc="178" dirty="0">
                <a:solidFill>
                  <a:srgbClr val="000000"/>
                </a:solidFill>
                <a:latin typeface="Roboto"/>
              </a:rPr>
              <a:t> </a:t>
            </a:r>
            <a:r>
              <a:rPr lang="en-US" sz="3500" spc="178" dirty="0" err="1">
                <a:solidFill>
                  <a:srgbClr val="000000"/>
                </a:solidFill>
                <a:latin typeface="Roboto"/>
              </a:rPr>
              <a:t>energías</a:t>
            </a:r>
            <a:r>
              <a:rPr lang="en-US" sz="3500" spc="178" dirty="0">
                <a:solidFill>
                  <a:srgbClr val="000000"/>
                </a:solidFill>
                <a:latin typeface="Roboto"/>
              </a:rPr>
              <a:t> </a:t>
            </a:r>
            <a:r>
              <a:rPr lang="en-US" sz="3500" spc="178" dirty="0" err="1">
                <a:solidFill>
                  <a:srgbClr val="000000"/>
                </a:solidFill>
                <a:latin typeface="Roboto"/>
              </a:rPr>
              <a:t>primarias</a:t>
            </a:r>
            <a:r>
              <a:rPr lang="en-US" sz="3500" spc="178" dirty="0">
                <a:solidFill>
                  <a:srgbClr val="000000"/>
                </a:solidFill>
                <a:latin typeface="Roboto"/>
              </a:rPr>
              <a:t> </a:t>
            </a:r>
            <a:r>
              <a:rPr lang="en-US" sz="3500" spc="178" dirty="0" err="1">
                <a:solidFill>
                  <a:srgbClr val="000000"/>
                </a:solidFill>
                <a:latin typeface="Roboto"/>
              </a:rPr>
              <a:t>renovables</a:t>
            </a:r>
            <a:r>
              <a:rPr lang="en-US" sz="3500" spc="178" dirty="0">
                <a:solidFill>
                  <a:srgbClr val="000000"/>
                </a:solidFill>
                <a:latin typeface="Roboto"/>
              </a:rPr>
              <a:t> son el </a:t>
            </a:r>
            <a:r>
              <a:rPr lang="en-US" sz="3500" spc="178" dirty="0" err="1">
                <a:solidFill>
                  <a:srgbClr val="000000"/>
                </a:solidFill>
                <a:latin typeface="Roboto"/>
              </a:rPr>
              <a:t>viento</a:t>
            </a:r>
            <a:r>
              <a:rPr lang="en-US" sz="3500" spc="178" dirty="0">
                <a:solidFill>
                  <a:srgbClr val="000000"/>
                </a:solidFill>
                <a:latin typeface="Roboto"/>
              </a:rPr>
              <a:t>, la </a:t>
            </a:r>
            <a:r>
              <a:rPr lang="en-US" sz="3500" spc="178" dirty="0" err="1">
                <a:solidFill>
                  <a:srgbClr val="000000"/>
                </a:solidFill>
                <a:latin typeface="Roboto"/>
              </a:rPr>
              <a:t>radiación</a:t>
            </a:r>
            <a:r>
              <a:rPr lang="en-US" sz="3500" spc="178" dirty="0">
                <a:solidFill>
                  <a:srgbClr val="000000"/>
                </a:solidFill>
                <a:latin typeface="Roboto"/>
              </a:rPr>
              <a:t> solar, las </a:t>
            </a:r>
            <a:r>
              <a:rPr lang="en-US" sz="3500" spc="178" dirty="0" err="1">
                <a:solidFill>
                  <a:srgbClr val="000000"/>
                </a:solidFill>
                <a:latin typeface="Roboto"/>
              </a:rPr>
              <a:t>mareas</a:t>
            </a:r>
            <a:r>
              <a:rPr lang="en-US" sz="3500" spc="178" dirty="0">
                <a:solidFill>
                  <a:srgbClr val="000000"/>
                </a:solidFill>
                <a:latin typeface="Roboto"/>
              </a:rPr>
              <a:t>... y las no-</a:t>
            </a:r>
            <a:r>
              <a:rPr lang="en-US" sz="3500" spc="178" dirty="0" err="1">
                <a:solidFill>
                  <a:srgbClr val="000000"/>
                </a:solidFill>
                <a:latin typeface="Roboto"/>
              </a:rPr>
              <a:t>renovables</a:t>
            </a:r>
            <a:r>
              <a:rPr lang="en-US" sz="3500" spc="178" dirty="0">
                <a:solidFill>
                  <a:srgbClr val="000000"/>
                </a:solidFill>
                <a:latin typeface="Roboto"/>
              </a:rPr>
              <a:t> son el </a:t>
            </a:r>
            <a:r>
              <a:rPr lang="en-US" sz="3500" spc="178" dirty="0" err="1">
                <a:solidFill>
                  <a:srgbClr val="000000"/>
                </a:solidFill>
                <a:latin typeface="Roboto"/>
              </a:rPr>
              <a:t>carbón</a:t>
            </a:r>
            <a:r>
              <a:rPr lang="en-US" sz="3500" spc="178" dirty="0">
                <a:solidFill>
                  <a:srgbClr val="000000"/>
                </a:solidFill>
                <a:latin typeface="Roboto"/>
              </a:rPr>
              <a:t>, el gas natural, el </a:t>
            </a:r>
            <a:r>
              <a:rPr lang="en-US" sz="3500" spc="178" dirty="0" err="1">
                <a:solidFill>
                  <a:srgbClr val="000000"/>
                </a:solidFill>
                <a:latin typeface="Roboto"/>
              </a:rPr>
              <a:t>petróleo</a:t>
            </a:r>
            <a:r>
              <a:rPr lang="en-US" sz="3500" spc="178" dirty="0">
                <a:solidFill>
                  <a:srgbClr val="000000"/>
                </a:solidFill>
                <a:latin typeface="Roboto"/>
              </a:rPr>
              <a:t>... Las </a:t>
            </a:r>
            <a:r>
              <a:rPr lang="en-US" sz="3500" spc="178" dirty="0" err="1">
                <a:solidFill>
                  <a:srgbClr val="000000"/>
                </a:solidFill>
                <a:latin typeface="Roboto"/>
              </a:rPr>
              <a:t>empresas</a:t>
            </a:r>
            <a:r>
              <a:rPr lang="en-US" sz="3500" spc="178" dirty="0">
                <a:solidFill>
                  <a:srgbClr val="000000"/>
                </a:solidFill>
                <a:latin typeface="Roboto"/>
              </a:rPr>
              <a:t> </a:t>
            </a:r>
            <a:r>
              <a:rPr lang="en-US" sz="3500" spc="178" dirty="0" err="1">
                <a:solidFill>
                  <a:srgbClr val="000000"/>
                </a:solidFill>
                <a:latin typeface="Roboto"/>
              </a:rPr>
              <a:t>construyen</a:t>
            </a:r>
            <a:r>
              <a:rPr lang="en-US" sz="3500" spc="178" dirty="0">
                <a:solidFill>
                  <a:srgbClr val="000000"/>
                </a:solidFill>
                <a:latin typeface="Roboto"/>
              </a:rPr>
              <a:t> </a:t>
            </a:r>
            <a:r>
              <a:rPr lang="en-US" sz="3500" spc="178" dirty="0" err="1">
                <a:solidFill>
                  <a:srgbClr val="000000"/>
                </a:solidFill>
                <a:latin typeface="Roboto"/>
              </a:rPr>
              <a:t>centros</a:t>
            </a:r>
            <a:r>
              <a:rPr lang="en-US" sz="3500" spc="178" dirty="0">
                <a:solidFill>
                  <a:srgbClr val="000000"/>
                </a:solidFill>
                <a:latin typeface="Roboto"/>
              </a:rPr>
              <a:t> de </a:t>
            </a:r>
            <a:r>
              <a:rPr lang="en-US" sz="3500" spc="178" dirty="0" err="1">
                <a:solidFill>
                  <a:srgbClr val="000000"/>
                </a:solidFill>
                <a:latin typeface="Roboto"/>
              </a:rPr>
              <a:t>generación</a:t>
            </a:r>
            <a:r>
              <a:rPr lang="en-US" sz="3500" spc="178" dirty="0">
                <a:solidFill>
                  <a:srgbClr val="000000"/>
                </a:solidFill>
                <a:latin typeface="Roboto"/>
              </a:rPr>
              <a:t> de </a:t>
            </a:r>
            <a:r>
              <a:rPr lang="en-US" sz="3500" spc="178" dirty="0" err="1">
                <a:solidFill>
                  <a:srgbClr val="000000"/>
                </a:solidFill>
                <a:latin typeface="Roboto"/>
              </a:rPr>
              <a:t>energía</a:t>
            </a:r>
            <a:r>
              <a:rPr lang="en-US" sz="3500" spc="178" dirty="0">
                <a:solidFill>
                  <a:srgbClr val="000000"/>
                </a:solidFill>
                <a:latin typeface="Roboto"/>
              </a:rPr>
              <a:t> y son </a:t>
            </a:r>
            <a:r>
              <a:rPr lang="en-US" sz="3500" spc="178" dirty="0" err="1">
                <a:solidFill>
                  <a:srgbClr val="000000"/>
                </a:solidFill>
                <a:latin typeface="Roboto"/>
              </a:rPr>
              <a:t>propietarias</a:t>
            </a:r>
            <a:r>
              <a:rPr lang="en-US" sz="3500" spc="178" dirty="0">
                <a:solidFill>
                  <a:srgbClr val="000000"/>
                </a:solidFill>
                <a:latin typeface="Roboto"/>
              </a:rPr>
              <a:t> (</a:t>
            </a:r>
            <a:r>
              <a:rPr lang="en-US" sz="3500" spc="178" dirty="0" err="1">
                <a:solidFill>
                  <a:srgbClr val="000000"/>
                </a:solidFill>
                <a:latin typeface="Roboto"/>
              </a:rPr>
              <a:t>totalmente</a:t>
            </a:r>
            <a:r>
              <a:rPr lang="en-US" sz="3500" spc="178" dirty="0">
                <a:solidFill>
                  <a:srgbClr val="000000"/>
                </a:solidFill>
                <a:latin typeface="Roboto"/>
              </a:rPr>
              <a:t> o en </a:t>
            </a:r>
            <a:r>
              <a:rPr lang="en-US" sz="3500" spc="178" dirty="0" err="1">
                <a:solidFill>
                  <a:srgbClr val="000000"/>
                </a:solidFill>
                <a:latin typeface="Roboto"/>
              </a:rPr>
              <a:t>parte</a:t>
            </a:r>
            <a:r>
              <a:rPr lang="en-US" sz="3500" spc="178" dirty="0">
                <a:solidFill>
                  <a:srgbClr val="000000"/>
                </a:solidFill>
                <a:latin typeface="Roboto"/>
              </a:rPr>
              <a:t>) de las </a:t>
            </a:r>
            <a:r>
              <a:rPr lang="en-US" sz="3500" spc="178" dirty="0" err="1">
                <a:solidFill>
                  <a:srgbClr val="000000"/>
                </a:solidFill>
                <a:latin typeface="Roboto"/>
              </a:rPr>
              <a:t>llamadas</a:t>
            </a:r>
            <a:r>
              <a:rPr lang="en-US" sz="3500" spc="178" dirty="0">
                <a:solidFill>
                  <a:srgbClr val="000000"/>
                </a:solidFill>
                <a:latin typeface="Roboto"/>
              </a:rPr>
              <a:t> </a:t>
            </a:r>
            <a:r>
              <a:rPr lang="en-US" sz="3500" spc="178" dirty="0" err="1">
                <a:solidFill>
                  <a:srgbClr val="000000"/>
                </a:solidFill>
                <a:latin typeface="Roboto"/>
              </a:rPr>
              <a:t>centrales</a:t>
            </a:r>
            <a:r>
              <a:rPr lang="en-US" sz="3500" spc="178" dirty="0">
                <a:solidFill>
                  <a:srgbClr val="000000"/>
                </a:solidFill>
                <a:latin typeface="Roboto"/>
              </a:rPr>
              <a:t> </a:t>
            </a:r>
            <a:r>
              <a:rPr lang="en-US" sz="3500" spc="178" dirty="0" err="1">
                <a:solidFill>
                  <a:srgbClr val="000000"/>
                </a:solidFill>
                <a:latin typeface="Roboto"/>
              </a:rPr>
              <a:t>eléctricas</a:t>
            </a:r>
            <a:r>
              <a:rPr lang="en-US" sz="3500" spc="178" dirty="0">
                <a:solidFill>
                  <a:srgbClr val="000000"/>
                </a:solidFill>
                <a:latin typeface="Roboto"/>
              </a:rPr>
              <a:t> y las </a:t>
            </a:r>
            <a:r>
              <a:rPr lang="en-US" sz="3500" spc="178" dirty="0" err="1">
                <a:solidFill>
                  <a:srgbClr val="000000"/>
                </a:solidFill>
                <a:latin typeface="Roboto"/>
              </a:rPr>
              <a:t>infraestructuras</a:t>
            </a:r>
            <a:r>
              <a:rPr lang="en-US" sz="3500" spc="178" dirty="0">
                <a:solidFill>
                  <a:srgbClr val="000000"/>
                </a:solidFill>
                <a:latin typeface="Roboto"/>
              </a:rPr>
              <a:t>. </a:t>
            </a:r>
            <a:r>
              <a:rPr lang="en-US" sz="3500" spc="178" dirty="0" err="1">
                <a:solidFill>
                  <a:srgbClr val="000000"/>
                </a:solidFill>
                <a:latin typeface="Roboto"/>
              </a:rPr>
              <a:t>Estas</a:t>
            </a:r>
            <a:r>
              <a:rPr lang="en-US" sz="3500" spc="178" dirty="0">
                <a:solidFill>
                  <a:srgbClr val="000000"/>
                </a:solidFill>
                <a:latin typeface="Roboto"/>
              </a:rPr>
              <a:t> </a:t>
            </a:r>
            <a:r>
              <a:rPr lang="en-US" sz="3500" spc="178" dirty="0" err="1">
                <a:solidFill>
                  <a:srgbClr val="000000"/>
                </a:solidFill>
                <a:latin typeface="Roboto"/>
              </a:rPr>
              <a:t>venden</a:t>
            </a:r>
            <a:r>
              <a:rPr lang="en-US" sz="3500" spc="178" dirty="0">
                <a:solidFill>
                  <a:srgbClr val="000000"/>
                </a:solidFill>
                <a:latin typeface="Roboto"/>
              </a:rPr>
              <a:t> la </a:t>
            </a:r>
            <a:r>
              <a:rPr lang="en-US" sz="3500" spc="178" dirty="0" err="1">
                <a:solidFill>
                  <a:srgbClr val="000000"/>
                </a:solidFill>
                <a:latin typeface="Roboto"/>
              </a:rPr>
              <a:t>energía</a:t>
            </a:r>
            <a:r>
              <a:rPr lang="en-US" sz="3500" spc="178" dirty="0">
                <a:solidFill>
                  <a:srgbClr val="000000"/>
                </a:solidFill>
                <a:latin typeface="Roboto"/>
              </a:rPr>
              <a:t> </a:t>
            </a:r>
            <a:r>
              <a:rPr lang="en-US" sz="3500" spc="178" dirty="0" err="1">
                <a:solidFill>
                  <a:srgbClr val="000000"/>
                </a:solidFill>
                <a:latin typeface="Roboto"/>
              </a:rPr>
              <a:t>generada</a:t>
            </a:r>
            <a:r>
              <a:rPr lang="en-US" sz="3500" spc="178" dirty="0">
                <a:solidFill>
                  <a:srgbClr val="000000"/>
                </a:solidFill>
                <a:latin typeface="Roboto"/>
              </a:rPr>
              <a:t> a las </a:t>
            </a:r>
            <a:r>
              <a:rPr lang="en-US" sz="3500" spc="178" dirty="0" err="1">
                <a:solidFill>
                  <a:srgbClr val="000000"/>
                </a:solidFill>
                <a:latin typeface="Roboto"/>
              </a:rPr>
              <a:t>compañías</a:t>
            </a:r>
            <a:r>
              <a:rPr lang="en-US" sz="3500" spc="178" dirty="0">
                <a:solidFill>
                  <a:srgbClr val="000000"/>
                </a:solidFill>
                <a:latin typeface="Roboto"/>
              </a:rPr>
              <a:t> que las </a:t>
            </a:r>
            <a:r>
              <a:rPr lang="en-US" sz="3500" spc="178" dirty="0" err="1">
                <a:solidFill>
                  <a:srgbClr val="000000"/>
                </a:solidFill>
                <a:latin typeface="Roboto"/>
              </a:rPr>
              <a:t>comercializan</a:t>
            </a:r>
            <a:r>
              <a:rPr lang="en-US" sz="3500" spc="178" dirty="0">
                <a:solidFill>
                  <a:srgbClr val="000000"/>
                </a:solidFill>
                <a:latin typeface="Roboto"/>
              </a:rPr>
              <a:t> (</a:t>
            </a:r>
            <a:r>
              <a:rPr lang="en-US" sz="3500" spc="178" dirty="0" err="1">
                <a:solidFill>
                  <a:srgbClr val="000000"/>
                </a:solidFill>
                <a:latin typeface="Roboto"/>
              </a:rPr>
              <a:t>comercializadoras</a:t>
            </a:r>
            <a:r>
              <a:rPr lang="en-US" sz="3500" spc="178" dirty="0">
                <a:solidFill>
                  <a:srgbClr val="000000"/>
                </a:solidFill>
                <a:latin typeface="Roboto"/>
              </a:rPr>
              <a:t>).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1759425" y="9733708"/>
            <a:ext cx="6735168" cy="553292"/>
            <a:chOff x="0" y="0"/>
            <a:chExt cx="1773872" cy="145723"/>
          </a:xfrm>
        </p:grpSpPr>
        <p:sp>
          <p:nvSpPr>
            <p:cNvPr id="3" name="Freeform 3"/>
            <p:cNvSpPr/>
            <p:nvPr/>
          </p:nvSpPr>
          <p:spPr>
            <a:xfrm>
              <a:off x="0" y="0"/>
              <a:ext cx="1773872" cy="145723"/>
            </a:xfrm>
            <a:custGeom>
              <a:avLst/>
              <a:gdLst/>
              <a:ahLst/>
              <a:cxnLst/>
              <a:rect l="l" t="t" r="r" b="b"/>
              <a:pathLst>
                <a:path w="1773872" h="145723">
                  <a:moveTo>
                    <a:pt x="0" y="0"/>
                  </a:moveTo>
                  <a:lnTo>
                    <a:pt x="1773872" y="0"/>
                  </a:lnTo>
                  <a:lnTo>
                    <a:pt x="1773872" y="145723"/>
                  </a:lnTo>
                  <a:lnTo>
                    <a:pt x="0" y="145723"/>
                  </a:lnTo>
                  <a:close/>
                </a:path>
              </a:pathLst>
            </a:custGeom>
            <a:solidFill>
              <a:srgbClr val="F23436"/>
            </a:solidFill>
          </p:spPr>
          <p:txBody>
            <a:bodyPr/>
            <a:lstStyle/>
            <a:p>
              <a:endParaRPr lang="es-GT"/>
            </a:p>
          </p:txBody>
        </p:sp>
        <p:sp>
          <p:nvSpPr>
            <p:cNvPr id="4" name="TextBox 4"/>
            <p:cNvSpPr txBox="1"/>
            <p:nvPr/>
          </p:nvSpPr>
          <p:spPr>
            <a:xfrm>
              <a:off x="0" y="-47625"/>
              <a:ext cx="1773872" cy="193348"/>
            </a:xfrm>
            <a:prstGeom prst="rect">
              <a:avLst/>
            </a:prstGeom>
          </p:spPr>
          <p:txBody>
            <a:bodyPr lIns="50800" tIns="50800" rIns="50800" bIns="50800" rtlCol="0" anchor="ctr"/>
            <a:lstStyle/>
            <a:p>
              <a:pPr algn="ctr">
                <a:lnSpc>
                  <a:spcPts val="3079"/>
                </a:lnSpc>
              </a:pPr>
              <a:endParaRPr/>
            </a:p>
          </p:txBody>
        </p:sp>
      </p:grpSp>
      <p:sp>
        <p:nvSpPr>
          <p:cNvPr id="5" name="TextBox 5"/>
          <p:cNvSpPr txBox="1"/>
          <p:nvPr/>
        </p:nvSpPr>
        <p:spPr>
          <a:xfrm>
            <a:off x="437498" y="933450"/>
            <a:ext cx="17413004" cy="6527800"/>
          </a:xfrm>
          <a:prstGeom prst="rect">
            <a:avLst/>
          </a:prstGeom>
        </p:spPr>
        <p:txBody>
          <a:bodyPr lIns="0" tIns="0" rIns="0" bIns="0" rtlCol="0" anchor="t">
            <a:spAutoFit/>
          </a:bodyPr>
          <a:lstStyle/>
          <a:p>
            <a:pPr algn="just">
              <a:lnSpc>
                <a:spcPts val="6299"/>
              </a:lnSpc>
              <a:spcBef>
                <a:spcPct val="0"/>
              </a:spcBef>
            </a:pPr>
            <a:r>
              <a:rPr lang="en-US" sz="4499" spc="229" dirty="0" err="1">
                <a:solidFill>
                  <a:srgbClr val="000000"/>
                </a:solidFill>
                <a:latin typeface="Roboto Bold"/>
              </a:rPr>
              <a:t>Transmisión</a:t>
            </a:r>
            <a:r>
              <a:rPr lang="en-US" sz="4499" spc="229" dirty="0">
                <a:solidFill>
                  <a:srgbClr val="000000"/>
                </a:solidFill>
                <a:latin typeface="Roboto Bold"/>
              </a:rPr>
              <a:t> de </a:t>
            </a:r>
            <a:r>
              <a:rPr lang="en-US" sz="4499" spc="229" dirty="0" err="1">
                <a:solidFill>
                  <a:srgbClr val="000000"/>
                </a:solidFill>
                <a:latin typeface="Roboto Bold"/>
              </a:rPr>
              <a:t>energía</a:t>
            </a:r>
            <a:endParaRPr lang="en-US" sz="4499" spc="229" dirty="0">
              <a:solidFill>
                <a:srgbClr val="000000"/>
              </a:solidFill>
              <a:latin typeface="Roboto Bold"/>
            </a:endParaRPr>
          </a:p>
          <a:p>
            <a:pPr algn="just">
              <a:lnSpc>
                <a:spcPts val="6299"/>
              </a:lnSpc>
              <a:spcBef>
                <a:spcPct val="0"/>
              </a:spcBef>
            </a:pPr>
            <a:endParaRPr lang="en-US" sz="4499" spc="229" dirty="0">
              <a:solidFill>
                <a:srgbClr val="000000"/>
              </a:solidFill>
              <a:latin typeface="Roboto Bold"/>
            </a:endParaRPr>
          </a:p>
          <a:p>
            <a:pPr algn="just">
              <a:lnSpc>
                <a:spcPts val="4900"/>
              </a:lnSpc>
              <a:spcBef>
                <a:spcPct val="0"/>
              </a:spcBef>
            </a:pPr>
            <a:r>
              <a:rPr lang="en-US" sz="3500" spc="178" dirty="0">
                <a:solidFill>
                  <a:srgbClr val="000000"/>
                </a:solidFill>
                <a:latin typeface="Roboto"/>
              </a:rPr>
              <a:t>Una </a:t>
            </a:r>
            <a:r>
              <a:rPr lang="en-US" sz="3500" spc="178" dirty="0" err="1">
                <a:solidFill>
                  <a:srgbClr val="000000"/>
                </a:solidFill>
                <a:latin typeface="Roboto"/>
              </a:rPr>
              <a:t>vez</a:t>
            </a:r>
            <a:r>
              <a:rPr lang="en-US" sz="3500" spc="178" dirty="0">
                <a:solidFill>
                  <a:srgbClr val="000000"/>
                </a:solidFill>
                <a:latin typeface="Roboto"/>
              </a:rPr>
              <a:t> </a:t>
            </a:r>
            <a:r>
              <a:rPr lang="en-US" sz="3500" spc="178" dirty="0" err="1">
                <a:solidFill>
                  <a:srgbClr val="000000"/>
                </a:solidFill>
                <a:latin typeface="Roboto"/>
              </a:rPr>
              <a:t>obtenida</a:t>
            </a:r>
            <a:r>
              <a:rPr lang="en-US" sz="3500" spc="178" dirty="0">
                <a:solidFill>
                  <a:srgbClr val="000000"/>
                </a:solidFill>
                <a:latin typeface="Roboto"/>
              </a:rPr>
              <a:t> la </a:t>
            </a:r>
            <a:r>
              <a:rPr lang="en-US" sz="3500" spc="178" dirty="0" err="1">
                <a:solidFill>
                  <a:srgbClr val="000000"/>
                </a:solidFill>
                <a:latin typeface="Roboto"/>
              </a:rPr>
              <a:t>energía</a:t>
            </a:r>
            <a:r>
              <a:rPr lang="en-US" sz="3500" spc="178" dirty="0">
                <a:solidFill>
                  <a:srgbClr val="000000"/>
                </a:solidFill>
                <a:latin typeface="Roboto"/>
              </a:rPr>
              <a:t> y </a:t>
            </a:r>
            <a:r>
              <a:rPr lang="en-US" sz="3500" spc="178" dirty="0" err="1">
                <a:solidFill>
                  <a:srgbClr val="000000"/>
                </a:solidFill>
                <a:latin typeface="Roboto"/>
              </a:rPr>
              <a:t>tras</a:t>
            </a:r>
            <a:r>
              <a:rPr lang="en-US" sz="3500" spc="178" dirty="0">
                <a:solidFill>
                  <a:srgbClr val="000000"/>
                </a:solidFill>
                <a:latin typeface="Roboto"/>
              </a:rPr>
              <a:t> ser </a:t>
            </a:r>
            <a:r>
              <a:rPr lang="en-US" sz="3500" spc="178" dirty="0" err="1">
                <a:solidFill>
                  <a:srgbClr val="000000"/>
                </a:solidFill>
                <a:latin typeface="Roboto"/>
              </a:rPr>
              <a:t>convertida</a:t>
            </a:r>
            <a:r>
              <a:rPr lang="en-US" sz="3500" spc="178" dirty="0">
                <a:solidFill>
                  <a:srgbClr val="000000"/>
                </a:solidFill>
                <a:latin typeface="Roboto"/>
              </a:rPr>
              <a:t> en </a:t>
            </a:r>
            <a:r>
              <a:rPr lang="en-US" sz="3500" spc="178" dirty="0" err="1">
                <a:solidFill>
                  <a:srgbClr val="000000"/>
                </a:solidFill>
                <a:latin typeface="Roboto"/>
              </a:rPr>
              <a:t>electricidad</a:t>
            </a:r>
            <a:r>
              <a:rPr lang="en-US" sz="3500" spc="178" dirty="0">
                <a:solidFill>
                  <a:srgbClr val="000000"/>
                </a:solidFill>
                <a:latin typeface="Roboto"/>
              </a:rPr>
              <a:t>, se </a:t>
            </a:r>
            <a:r>
              <a:rPr lang="en-US" sz="3500" spc="178" dirty="0" err="1">
                <a:solidFill>
                  <a:srgbClr val="000000"/>
                </a:solidFill>
                <a:latin typeface="Roboto"/>
              </a:rPr>
              <a:t>transmite</a:t>
            </a:r>
            <a:r>
              <a:rPr lang="en-US" sz="3500" spc="178" dirty="0">
                <a:solidFill>
                  <a:srgbClr val="000000"/>
                </a:solidFill>
                <a:latin typeface="Roboto"/>
              </a:rPr>
              <a:t> </a:t>
            </a:r>
            <a:r>
              <a:rPr lang="en-US" sz="3500" spc="178" dirty="0" err="1">
                <a:solidFill>
                  <a:srgbClr val="000000"/>
                </a:solidFill>
                <a:latin typeface="Roboto"/>
              </a:rPr>
              <a:t>por</a:t>
            </a:r>
            <a:r>
              <a:rPr lang="en-US" sz="3500" spc="178" dirty="0">
                <a:solidFill>
                  <a:srgbClr val="000000"/>
                </a:solidFill>
                <a:latin typeface="Roboto"/>
              </a:rPr>
              <a:t> </a:t>
            </a:r>
            <a:r>
              <a:rPr lang="en-US" sz="3500" spc="178" dirty="0" err="1">
                <a:solidFill>
                  <a:srgbClr val="000000"/>
                </a:solidFill>
                <a:latin typeface="Roboto"/>
              </a:rPr>
              <a:t>vías</a:t>
            </a:r>
            <a:r>
              <a:rPr lang="en-US" sz="3500" spc="178" dirty="0">
                <a:solidFill>
                  <a:srgbClr val="000000"/>
                </a:solidFill>
                <a:latin typeface="Roboto"/>
              </a:rPr>
              <a:t> </a:t>
            </a:r>
            <a:r>
              <a:rPr lang="en-US" sz="3500" spc="178" dirty="0" err="1">
                <a:solidFill>
                  <a:srgbClr val="000000"/>
                </a:solidFill>
                <a:latin typeface="Roboto"/>
              </a:rPr>
              <a:t>elevadas</a:t>
            </a:r>
            <a:r>
              <a:rPr lang="en-US" sz="3500" spc="178" dirty="0">
                <a:solidFill>
                  <a:srgbClr val="000000"/>
                </a:solidFill>
                <a:latin typeface="Roboto"/>
              </a:rPr>
              <a:t> (</a:t>
            </a:r>
            <a:r>
              <a:rPr lang="en-US" sz="3500" spc="178" dirty="0" err="1">
                <a:solidFill>
                  <a:srgbClr val="000000"/>
                </a:solidFill>
                <a:latin typeface="Roboto"/>
              </a:rPr>
              <a:t>torres</a:t>
            </a:r>
            <a:r>
              <a:rPr lang="en-US" sz="3500" spc="178" dirty="0">
                <a:solidFill>
                  <a:srgbClr val="000000"/>
                </a:solidFill>
                <a:latin typeface="Roboto"/>
              </a:rPr>
              <a:t> de </a:t>
            </a:r>
            <a:r>
              <a:rPr lang="en-US" sz="3500" spc="178" dirty="0" err="1">
                <a:solidFill>
                  <a:srgbClr val="000000"/>
                </a:solidFill>
                <a:latin typeface="Roboto"/>
              </a:rPr>
              <a:t>sustentación</a:t>
            </a:r>
            <a:r>
              <a:rPr lang="en-US" sz="3500" spc="178" dirty="0">
                <a:solidFill>
                  <a:srgbClr val="000000"/>
                </a:solidFill>
                <a:latin typeface="Roboto"/>
              </a:rPr>
              <a:t>) o </a:t>
            </a:r>
            <a:r>
              <a:rPr lang="en-US" sz="3500" spc="178" dirty="0" err="1">
                <a:solidFill>
                  <a:srgbClr val="000000"/>
                </a:solidFill>
                <a:latin typeface="Roboto"/>
              </a:rPr>
              <a:t>subterráneas</a:t>
            </a:r>
            <a:r>
              <a:rPr lang="en-US" sz="3500" spc="178" dirty="0">
                <a:solidFill>
                  <a:srgbClr val="000000"/>
                </a:solidFill>
                <a:latin typeface="Roboto"/>
              </a:rPr>
              <a:t>, </a:t>
            </a:r>
            <a:r>
              <a:rPr lang="en-US" sz="3500" spc="178" dirty="0" err="1">
                <a:solidFill>
                  <a:srgbClr val="000000"/>
                </a:solidFill>
                <a:latin typeface="Roboto"/>
              </a:rPr>
              <a:t>desde</a:t>
            </a:r>
            <a:r>
              <a:rPr lang="en-US" sz="3500" spc="178" dirty="0">
                <a:solidFill>
                  <a:srgbClr val="000000"/>
                </a:solidFill>
                <a:latin typeface="Roboto"/>
              </a:rPr>
              <a:t> las </a:t>
            </a:r>
            <a:r>
              <a:rPr lang="en-US" sz="3500" spc="178" dirty="0" err="1">
                <a:solidFill>
                  <a:srgbClr val="000000"/>
                </a:solidFill>
                <a:latin typeface="Roboto"/>
              </a:rPr>
              <a:t>centrales</a:t>
            </a:r>
            <a:r>
              <a:rPr lang="en-US" sz="3500" spc="178" dirty="0">
                <a:solidFill>
                  <a:srgbClr val="000000"/>
                </a:solidFill>
                <a:latin typeface="Roboto"/>
              </a:rPr>
              <a:t> hasta las </a:t>
            </a:r>
            <a:r>
              <a:rPr lang="en-US" sz="3500" spc="178" dirty="0" err="1">
                <a:solidFill>
                  <a:srgbClr val="000000"/>
                </a:solidFill>
                <a:latin typeface="Roboto"/>
              </a:rPr>
              <a:t>subestaciones</a:t>
            </a:r>
            <a:r>
              <a:rPr lang="en-US" sz="3500" spc="178" dirty="0">
                <a:solidFill>
                  <a:srgbClr val="000000"/>
                </a:solidFill>
                <a:latin typeface="Roboto"/>
              </a:rPr>
              <a:t>. </a:t>
            </a:r>
            <a:r>
              <a:rPr lang="en-US" sz="3500" spc="178" dirty="0" err="1">
                <a:solidFill>
                  <a:srgbClr val="000000"/>
                </a:solidFill>
                <a:latin typeface="Roboto"/>
              </a:rPr>
              <a:t>Allí</a:t>
            </a:r>
            <a:r>
              <a:rPr lang="en-US" sz="3500" spc="178" dirty="0">
                <a:solidFill>
                  <a:srgbClr val="000000"/>
                </a:solidFill>
                <a:latin typeface="Roboto"/>
              </a:rPr>
              <a:t> </a:t>
            </a:r>
            <a:r>
              <a:rPr lang="en-US" sz="3500" spc="178" dirty="0" err="1">
                <a:solidFill>
                  <a:srgbClr val="000000"/>
                </a:solidFill>
                <a:latin typeface="Roboto"/>
              </a:rPr>
              <a:t>existen</a:t>
            </a:r>
            <a:r>
              <a:rPr lang="en-US" sz="3500" spc="178" dirty="0">
                <a:solidFill>
                  <a:srgbClr val="000000"/>
                </a:solidFill>
                <a:latin typeface="Roboto"/>
              </a:rPr>
              <a:t> </a:t>
            </a:r>
            <a:r>
              <a:rPr lang="en-US" sz="3500" spc="178" dirty="0" err="1">
                <a:solidFill>
                  <a:srgbClr val="000000"/>
                </a:solidFill>
                <a:latin typeface="Roboto"/>
              </a:rPr>
              <a:t>otros</a:t>
            </a:r>
            <a:r>
              <a:rPr lang="en-US" sz="3500" spc="178" dirty="0">
                <a:solidFill>
                  <a:srgbClr val="000000"/>
                </a:solidFill>
                <a:latin typeface="Roboto"/>
              </a:rPr>
              <a:t> </a:t>
            </a:r>
            <a:r>
              <a:rPr lang="en-US" sz="3500" spc="178" dirty="0" err="1">
                <a:solidFill>
                  <a:srgbClr val="000000"/>
                </a:solidFill>
                <a:latin typeface="Roboto"/>
              </a:rPr>
              <a:t>elementos</a:t>
            </a:r>
            <a:r>
              <a:rPr lang="en-US" sz="3500" spc="178" dirty="0">
                <a:solidFill>
                  <a:srgbClr val="000000"/>
                </a:solidFill>
                <a:latin typeface="Roboto"/>
              </a:rPr>
              <a:t>, </a:t>
            </a:r>
            <a:r>
              <a:rPr lang="en-US" sz="3500" spc="178" dirty="0" err="1">
                <a:solidFill>
                  <a:srgbClr val="000000"/>
                </a:solidFill>
                <a:latin typeface="Roboto"/>
              </a:rPr>
              <a:t>llamados</a:t>
            </a:r>
            <a:r>
              <a:rPr lang="en-US" sz="3500" spc="178" dirty="0">
                <a:solidFill>
                  <a:srgbClr val="000000"/>
                </a:solidFill>
                <a:latin typeface="Roboto"/>
              </a:rPr>
              <a:t> </a:t>
            </a:r>
            <a:r>
              <a:rPr lang="en-US" sz="3500" spc="178" dirty="0" err="1">
                <a:solidFill>
                  <a:srgbClr val="000000"/>
                </a:solidFill>
                <a:latin typeface="Roboto"/>
              </a:rPr>
              <a:t>transformadores</a:t>
            </a:r>
            <a:r>
              <a:rPr lang="en-US" sz="3500" spc="178" dirty="0">
                <a:solidFill>
                  <a:srgbClr val="000000"/>
                </a:solidFill>
                <a:latin typeface="Roboto"/>
              </a:rPr>
              <a:t>, </a:t>
            </a:r>
            <a:r>
              <a:rPr lang="en-US" sz="3500" spc="178" dirty="0" err="1">
                <a:solidFill>
                  <a:srgbClr val="000000"/>
                </a:solidFill>
                <a:latin typeface="Roboto"/>
              </a:rPr>
              <a:t>cuya</a:t>
            </a:r>
            <a:r>
              <a:rPr lang="en-US" sz="3500" spc="178" dirty="0">
                <a:solidFill>
                  <a:srgbClr val="000000"/>
                </a:solidFill>
                <a:latin typeface="Roboto"/>
              </a:rPr>
              <a:t> </a:t>
            </a:r>
            <a:r>
              <a:rPr lang="en-US" sz="3500" spc="178" dirty="0" err="1">
                <a:solidFill>
                  <a:srgbClr val="000000"/>
                </a:solidFill>
                <a:latin typeface="Roboto"/>
              </a:rPr>
              <a:t>misión</a:t>
            </a:r>
            <a:r>
              <a:rPr lang="en-US" sz="3500" spc="178" dirty="0">
                <a:solidFill>
                  <a:srgbClr val="000000"/>
                </a:solidFill>
                <a:latin typeface="Roboto"/>
              </a:rPr>
              <a:t> es </a:t>
            </a:r>
            <a:r>
              <a:rPr lang="en-US" sz="3500" spc="178" dirty="0" err="1">
                <a:solidFill>
                  <a:srgbClr val="000000"/>
                </a:solidFill>
                <a:latin typeface="Roboto"/>
              </a:rPr>
              <a:t>garantizar</a:t>
            </a:r>
            <a:r>
              <a:rPr lang="en-US" sz="3500" spc="178" dirty="0">
                <a:solidFill>
                  <a:srgbClr val="000000"/>
                </a:solidFill>
                <a:latin typeface="Roboto"/>
              </a:rPr>
              <a:t> </a:t>
            </a:r>
            <a:r>
              <a:rPr lang="en-US" sz="3500" spc="178" dirty="0" err="1">
                <a:solidFill>
                  <a:srgbClr val="000000"/>
                </a:solidFill>
                <a:latin typeface="Roboto"/>
              </a:rPr>
              <a:t>una</a:t>
            </a:r>
            <a:r>
              <a:rPr lang="en-US" sz="3500" spc="178" dirty="0">
                <a:solidFill>
                  <a:srgbClr val="000000"/>
                </a:solidFill>
                <a:latin typeface="Roboto"/>
              </a:rPr>
              <a:t> </a:t>
            </a:r>
            <a:r>
              <a:rPr lang="en-US" sz="3500" spc="178" dirty="0" err="1">
                <a:solidFill>
                  <a:srgbClr val="000000"/>
                </a:solidFill>
                <a:latin typeface="Roboto"/>
              </a:rPr>
              <a:t>tensión</a:t>
            </a:r>
            <a:r>
              <a:rPr lang="en-US" sz="3500" spc="178" dirty="0">
                <a:solidFill>
                  <a:srgbClr val="000000"/>
                </a:solidFill>
                <a:latin typeface="Roboto"/>
              </a:rPr>
              <a:t> </a:t>
            </a:r>
            <a:r>
              <a:rPr lang="en-US" sz="3500" spc="178" dirty="0" err="1">
                <a:solidFill>
                  <a:srgbClr val="000000"/>
                </a:solidFill>
                <a:latin typeface="Roboto"/>
              </a:rPr>
              <a:t>eléctrica</a:t>
            </a:r>
            <a:r>
              <a:rPr lang="en-US" sz="3500" spc="178" dirty="0">
                <a:solidFill>
                  <a:srgbClr val="000000"/>
                </a:solidFill>
                <a:latin typeface="Roboto"/>
              </a:rPr>
              <a:t> </a:t>
            </a:r>
            <a:r>
              <a:rPr lang="en-US" sz="3500" spc="178" dirty="0" err="1">
                <a:solidFill>
                  <a:srgbClr val="000000"/>
                </a:solidFill>
                <a:latin typeface="Roboto"/>
              </a:rPr>
              <a:t>adecuada</a:t>
            </a:r>
            <a:r>
              <a:rPr lang="en-US" sz="3500" spc="178" dirty="0">
                <a:solidFill>
                  <a:srgbClr val="000000"/>
                </a:solidFill>
                <a:latin typeface="Roboto"/>
              </a:rPr>
              <a:t>. Las </a:t>
            </a:r>
            <a:r>
              <a:rPr lang="en-US" sz="3500" spc="178" dirty="0" err="1">
                <a:solidFill>
                  <a:srgbClr val="000000"/>
                </a:solidFill>
                <a:latin typeface="Roboto"/>
              </a:rPr>
              <a:t>subestaciones</a:t>
            </a:r>
            <a:r>
              <a:rPr lang="en-US" sz="3500" spc="178" dirty="0">
                <a:solidFill>
                  <a:srgbClr val="000000"/>
                </a:solidFill>
                <a:latin typeface="Roboto"/>
              </a:rPr>
              <a:t> son </a:t>
            </a:r>
            <a:r>
              <a:rPr lang="en-US" sz="3500" spc="178" dirty="0" err="1">
                <a:solidFill>
                  <a:srgbClr val="000000"/>
                </a:solidFill>
                <a:latin typeface="Roboto"/>
              </a:rPr>
              <a:t>necesarias</a:t>
            </a:r>
            <a:r>
              <a:rPr lang="en-US" sz="3500" spc="178" dirty="0">
                <a:solidFill>
                  <a:srgbClr val="000000"/>
                </a:solidFill>
                <a:latin typeface="Roboto"/>
              </a:rPr>
              <a:t> para </a:t>
            </a:r>
            <a:r>
              <a:rPr lang="en-US" sz="3500" spc="178" dirty="0" err="1">
                <a:solidFill>
                  <a:srgbClr val="000000"/>
                </a:solidFill>
                <a:latin typeface="Roboto"/>
              </a:rPr>
              <a:t>tratar</a:t>
            </a:r>
            <a:r>
              <a:rPr lang="en-US" sz="3500" spc="178" dirty="0">
                <a:solidFill>
                  <a:srgbClr val="000000"/>
                </a:solidFill>
                <a:latin typeface="Roboto"/>
              </a:rPr>
              <a:t> la </a:t>
            </a:r>
            <a:r>
              <a:rPr lang="en-US" sz="3500" spc="178" dirty="0" err="1">
                <a:solidFill>
                  <a:srgbClr val="000000"/>
                </a:solidFill>
                <a:latin typeface="Roboto"/>
              </a:rPr>
              <a:t>electricidad</a:t>
            </a:r>
            <a:r>
              <a:rPr lang="en-US" sz="3500" spc="178" dirty="0">
                <a:solidFill>
                  <a:srgbClr val="000000"/>
                </a:solidFill>
                <a:latin typeface="Roboto"/>
              </a:rPr>
              <a:t> y </a:t>
            </a:r>
            <a:r>
              <a:rPr lang="en-US" sz="3500" spc="178" dirty="0" err="1">
                <a:solidFill>
                  <a:srgbClr val="000000"/>
                </a:solidFill>
                <a:latin typeface="Roboto"/>
              </a:rPr>
              <a:t>mantener</a:t>
            </a:r>
            <a:r>
              <a:rPr lang="en-US" sz="3500" spc="178" dirty="0">
                <a:solidFill>
                  <a:srgbClr val="000000"/>
                </a:solidFill>
                <a:latin typeface="Roboto"/>
              </a:rPr>
              <a:t> la </a:t>
            </a:r>
            <a:r>
              <a:rPr lang="en-US" sz="3500" spc="178" dirty="0" err="1">
                <a:solidFill>
                  <a:srgbClr val="000000"/>
                </a:solidFill>
                <a:latin typeface="Roboto"/>
              </a:rPr>
              <a:t>tensión</a:t>
            </a:r>
            <a:r>
              <a:rPr lang="en-US" sz="3500" spc="178" dirty="0">
                <a:solidFill>
                  <a:srgbClr val="000000"/>
                </a:solidFill>
                <a:latin typeface="Roboto"/>
              </a:rPr>
              <a:t> </a:t>
            </a:r>
            <a:r>
              <a:rPr lang="en-US" sz="3500" spc="178" dirty="0" err="1">
                <a:solidFill>
                  <a:srgbClr val="000000"/>
                </a:solidFill>
                <a:latin typeface="Roboto"/>
              </a:rPr>
              <a:t>idónea</a:t>
            </a:r>
            <a:r>
              <a:rPr lang="en-US" sz="3500" spc="178" dirty="0">
                <a:solidFill>
                  <a:srgbClr val="000000"/>
                </a:solidFill>
                <a:latin typeface="Roboto"/>
              </a:rPr>
              <a:t> y </a:t>
            </a:r>
            <a:r>
              <a:rPr lang="en-US" sz="3500" spc="178" dirty="0" err="1">
                <a:solidFill>
                  <a:srgbClr val="000000"/>
                </a:solidFill>
                <a:latin typeface="Roboto"/>
              </a:rPr>
              <a:t>suelen</a:t>
            </a:r>
            <a:r>
              <a:rPr lang="en-US" sz="3500" spc="178" dirty="0">
                <a:solidFill>
                  <a:srgbClr val="000000"/>
                </a:solidFill>
                <a:latin typeface="Roboto"/>
              </a:rPr>
              <a:t> </a:t>
            </a:r>
            <a:r>
              <a:rPr lang="en-US" sz="3500" spc="178" dirty="0" err="1">
                <a:solidFill>
                  <a:srgbClr val="000000"/>
                </a:solidFill>
                <a:latin typeface="Roboto"/>
              </a:rPr>
              <a:t>estar</a:t>
            </a:r>
            <a:r>
              <a:rPr lang="en-US" sz="3500" spc="178" dirty="0">
                <a:solidFill>
                  <a:srgbClr val="000000"/>
                </a:solidFill>
                <a:latin typeface="Roboto"/>
              </a:rPr>
              <a:t> al </a:t>
            </a:r>
            <a:r>
              <a:rPr lang="en-US" sz="3500" spc="178" dirty="0" err="1">
                <a:solidFill>
                  <a:srgbClr val="000000"/>
                </a:solidFill>
                <a:latin typeface="Roboto"/>
              </a:rPr>
              <a:t>aire</a:t>
            </a:r>
            <a:r>
              <a:rPr lang="en-US" sz="3500" spc="178" dirty="0">
                <a:solidFill>
                  <a:srgbClr val="000000"/>
                </a:solidFill>
                <a:latin typeface="Roboto"/>
              </a:rPr>
              <a:t> libre </a:t>
            </a:r>
            <a:r>
              <a:rPr lang="en-US" sz="3500" spc="178" dirty="0" err="1">
                <a:solidFill>
                  <a:srgbClr val="000000"/>
                </a:solidFill>
                <a:latin typeface="Roboto"/>
              </a:rPr>
              <a:t>cerca</a:t>
            </a:r>
            <a:r>
              <a:rPr lang="en-US" sz="3500" spc="178" dirty="0">
                <a:solidFill>
                  <a:srgbClr val="000000"/>
                </a:solidFill>
                <a:latin typeface="Roboto"/>
              </a:rPr>
              <a:t> de las </a:t>
            </a:r>
            <a:r>
              <a:rPr lang="en-US" sz="3500" spc="178" dirty="0" err="1">
                <a:solidFill>
                  <a:srgbClr val="000000"/>
                </a:solidFill>
                <a:latin typeface="Roboto"/>
              </a:rPr>
              <a:t>centrales</a:t>
            </a:r>
            <a:r>
              <a:rPr lang="en-US" sz="3500" spc="178" dirty="0">
                <a:solidFill>
                  <a:srgbClr val="000000"/>
                </a:solidFill>
                <a:latin typeface="Roboto"/>
              </a:rPr>
              <a:t> y/o en la </a:t>
            </a:r>
            <a:r>
              <a:rPr lang="en-US" sz="3500" spc="178" dirty="0" err="1">
                <a:solidFill>
                  <a:srgbClr val="000000"/>
                </a:solidFill>
                <a:latin typeface="Roboto"/>
              </a:rPr>
              <a:t>periferia</a:t>
            </a:r>
            <a:r>
              <a:rPr lang="en-US" sz="3500" spc="178" dirty="0">
                <a:solidFill>
                  <a:srgbClr val="000000"/>
                </a:solidFill>
                <a:latin typeface="Roboto"/>
              </a:rPr>
              <a:t> de las </a:t>
            </a:r>
            <a:r>
              <a:rPr lang="en-US" sz="3500" spc="178" dirty="0" err="1">
                <a:solidFill>
                  <a:srgbClr val="000000"/>
                </a:solidFill>
                <a:latin typeface="Roboto"/>
              </a:rPr>
              <a:t>ciudades</a:t>
            </a:r>
            <a:r>
              <a:rPr lang="en-US" sz="3500" spc="178" dirty="0">
                <a:solidFill>
                  <a:srgbClr val="000000"/>
                </a:solidFill>
                <a:latin typeface="Roboto"/>
              </a:rPr>
              <a:t>. Si no son de gran </a:t>
            </a:r>
            <a:r>
              <a:rPr lang="en-US" sz="3500" spc="178" dirty="0" err="1">
                <a:solidFill>
                  <a:srgbClr val="000000"/>
                </a:solidFill>
                <a:latin typeface="Roboto"/>
              </a:rPr>
              <a:t>tamaño</a:t>
            </a:r>
            <a:r>
              <a:rPr lang="en-US" sz="3500" spc="178" dirty="0">
                <a:solidFill>
                  <a:srgbClr val="000000"/>
                </a:solidFill>
                <a:latin typeface="Roboto"/>
              </a:rPr>
              <a:t> </a:t>
            </a:r>
            <a:r>
              <a:rPr lang="en-US" sz="3500" spc="178" dirty="0" err="1">
                <a:solidFill>
                  <a:srgbClr val="000000"/>
                </a:solidFill>
                <a:latin typeface="Roboto"/>
              </a:rPr>
              <a:t>puedes</a:t>
            </a:r>
            <a:r>
              <a:rPr lang="en-US" sz="3500" spc="178" dirty="0">
                <a:solidFill>
                  <a:srgbClr val="000000"/>
                </a:solidFill>
                <a:latin typeface="Roboto"/>
              </a:rPr>
              <a:t> </a:t>
            </a:r>
            <a:r>
              <a:rPr lang="en-US" sz="3500" spc="178" dirty="0" err="1">
                <a:solidFill>
                  <a:srgbClr val="000000"/>
                </a:solidFill>
                <a:latin typeface="Roboto"/>
              </a:rPr>
              <a:t>encontrarlas</a:t>
            </a:r>
            <a:r>
              <a:rPr lang="en-US" sz="3500" spc="178" dirty="0">
                <a:solidFill>
                  <a:srgbClr val="000000"/>
                </a:solidFill>
                <a:latin typeface="Roboto"/>
              </a:rPr>
              <a:t> </a:t>
            </a:r>
            <a:r>
              <a:rPr lang="en-US" sz="3500" spc="178" dirty="0" err="1">
                <a:solidFill>
                  <a:srgbClr val="000000"/>
                </a:solidFill>
                <a:latin typeface="Roboto"/>
              </a:rPr>
              <a:t>excepcionalmente</a:t>
            </a:r>
            <a:r>
              <a:rPr lang="en-US" sz="3500" spc="178" dirty="0">
                <a:solidFill>
                  <a:srgbClr val="000000"/>
                </a:solidFill>
                <a:latin typeface="Roboto"/>
              </a:rPr>
              <a:t> en la </a:t>
            </a:r>
            <a:r>
              <a:rPr lang="en-US" sz="3500" spc="178" dirty="0" err="1">
                <a:solidFill>
                  <a:srgbClr val="000000"/>
                </a:solidFill>
                <a:latin typeface="Roboto"/>
              </a:rPr>
              <a:t>misma</a:t>
            </a:r>
            <a:r>
              <a:rPr lang="en-US" sz="3500" spc="178" dirty="0">
                <a:solidFill>
                  <a:srgbClr val="000000"/>
                </a:solidFill>
                <a:latin typeface="Roboto"/>
              </a:rPr>
              <a:t> ciudad, </a:t>
            </a:r>
            <a:r>
              <a:rPr lang="en-US" sz="3500" spc="178" dirty="0" err="1">
                <a:solidFill>
                  <a:srgbClr val="000000"/>
                </a:solidFill>
                <a:latin typeface="Roboto"/>
              </a:rPr>
              <a:t>dentro</a:t>
            </a:r>
            <a:r>
              <a:rPr lang="en-US" sz="3500" spc="178" dirty="0">
                <a:solidFill>
                  <a:srgbClr val="000000"/>
                </a:solidFill>
                <a:latin typeface="Roboto"/>
              </a:rPr>
              <a:t> de un </a:t>
            </a:r>
            <a:r>
              <a:rPr lang="en-US" sz="3500" spc="178" dirty="0" err="1">
                <a:solidFill>
                  <a:srgbClr val="000000"/>
                </a:solidFill>
                <a:latin typeface="Roboto"/>
              </a:rPr>
              <a:t>edificio</a:t>
            </a:r>
            <a:r>
              <a:rPr lang="en-US" sz="3500" spc="178" dirty="0">
                <a:solidFill>
                  <a:srgbClr val="000000"/>
                </a:solidFill>
                <a:latin typeface="Roboto"/>
              </a:rPr>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1759425" y="9733708"/>
            <a:ext cx="6735168" cy="553292"/>
            <a:chOff x="0" y="0"/>
            <a:chExt cx="1773872" cy="145723"/>
          </a:xfrm>
        </p:grpSpPr>
        <p:sp>
          <p:nvSpPr>
            <p:cNvPr id="3" name="Freeform 3"/>
            <p:cNvSpPr/>
            <p:nvPr/>
          </p:nvSpPr>
          <p:spPr>
            <a:xfrm>
              <a:off x="0" y="0"/>
              <a:ext cx="1773872" cy="145723"/>
            </a:xfrm>
            <a:custGeom>
              <a:avLst/>
              <a:gdLst/>
              <a:ahLst/>
              <a:cxnLst/>
              <a:rect l="l" t="t" r="r" b="b"/>
              <a:pathLst>
                <a:path w="1773872" h="145723">
                  <a:moveTo>
                    <a:pt x="0" y="0"/>
                  </a:moveTo>
                  <a:lnTo>
                    <a:pt x="1773872" y="0"/>
                  </a:lnTo>
                  <a:lnTo>
                    <a:pt x="1773872" y="145723"/>
                  </a:lnTo>
                  <a:lnTo>
                    <a:pt x="0" y="145723"/>
                  </a:lnTo>
                  <a:close/>
                </a:path>
              </a:pathLst>
            </a:custGeom>
            <a:solidFill>
              <a:srgbClr val="F23436"/>
            </a:solidFill>
          </p:spPr>
          <p:txBody>
            <a:bodyPr/>
            <a:lstStyle/>
            <a:p>
              <a:endParaRPr lang="es-GT"/>
            </a:p>
          </p:txBody>
        </p:sp>
        <p:sp>
          <p:nvSpPr>
            <p:cNvPr id="4" name="TextBox 4"/>
            <p:cNvSpPr txBox="1"/>
            <p:nvPr/>
          </p:nvSpPr>
          <p:spPr>
            <a:xfrm>
              <a:off x="0" y="-47625"/>
              <a:ext cx="1773872" cy="193348"/>
            </a:xfrm>
            <a:prstGeom prst="rect">
              <a:avLst/>
            </a:prstGeom>
          </p:spPr>
          <p:txBody>
            <a:bodyPr lIns="50800" tIns="50800" rIns="50800" bIns="50800" rtlCol="0" anchor="ctr"/>
            <a:lstStyle/>
            <a:p>
              <a:pPr algn="ctr">
                <a:lnSpc>
                  <a:spcPts val="3079"/>
                </a:lnSpc>
              </a:pPr>
              <a:endParaRPr/>
            </a:p>
          </p:txBody>
        </p:sp>
      </p:grpSp>
      <p:sp>
        <p:nvSpPr>
          <p:cNvPr id="5" name="TextBox 5"/>
          <p:cNvSpPr txBox="1"/>
          <p:nvPr/>
        </p:nvSpPr>
        <p:spPr>
          <a:xfrm>
            <a:off x="614862" y="1569485"/>
            <a:ext cx="17129222" cy="5737226"/>
          </a:xfrm>
          <a:prstGeom prst="rect">
            <a:avLst/>
          </a:prstGeom>
        </p:spPr>
        <p:txBody>
          <a:bodyPr lIns="0" tIns="0" rIns="0" bIns="0" rtlCol="0" anchor="t">
            <a:spAutoFit/>
          </a:bodyPr>
          <a:lstStyle/>
          <a:p>
            <a:pPr algn="just">
              <a:lnSpc>
                <a:spcPts val="6299"/>
              </a:lnSpc>
              <a:spcBef>
                <a:spcPct val="0"/>
              </a:spcBef>
            </a:pPr>
            <a:r>
              <a:rPr lang="en-US" sz="4499" spc="229" dirty="0" err="1">
                <a:solidFill>
                  <a:srgbClr val="000000"/>
                </a:solidFill>
                <a:latin typeface="Roboto Bold"/>
              </a:rPr>
              <a:t>Distribución</a:t>
            </a:r>
            <a:r>
              <a:rPr lang="en-US" sz="4499" spc="229" dirty="0">
                <a:solidFill>
                  <a:srgbClr val="000000"/>
                </a:solidFill>
                <a:latin typeface="Roboto Bold"/>
              </a:rPr>
              <a:t> de </a:t>
            </a:r>
            <a:r>
              <a:rPr lang="en-US" sz="4499" spc="229" dirty="0" err="1">
                <a:solidFill>
                  <a:srgbClr val="000000"/>
                </a:solidFill>
                <a:latin typeface="Roboto Bold"/>
              </a:rPr>
              <a:t>energía</a:t>
            </a:r>
            <a:endParaRPr lang="en-US" sz="4499" spc="229" dirty="0">
              <a:solidFill>
                <a:srgbClr val="000000"/>
              </a:solidFill>
              <a:latin typeface="Roboto Bold"/>
            </a:endParaRPr>
          </a:p>
          <a:p>
            <a:pPr algn="just">
              <a:lnSpc>
                <a:spcPts val="4899"/>
              </a:lnSpc>
              <a:spcBef>
                <a:spcPct val="0"/>
              </a:spcBef>
            </a:pPr>
            <a:endParaRPr lang="en-US" sz="4499" spc="229" dirty="0">
              <a:solidFill>
                <a:srgbClr val="000000"/>
              </a:solidFill>
              <a:latin typeface="Roboto Bold"/>
            </a:endParaRPr>
          </a:p>
          <a:p>
            <a:pPr algn="just">
              <a:lnSpc>
                <a:spcPts val="4899"/>
              </a:lnSpc>
              <a:spcBef>
                <a:spcPct val="0"/>
              </a:spcBef>
            </a:pPr>
            <a:r>
              <a:rPr lang="en-US" sz="3499" spc="178" dirty="0">
                <a:solidFill>
                  <a:srgbClr val="000000"/>
                </a:solidFill>
                <a:latin typeface="Roboto"/>
              </a:rPr>
              <a:t>La </a:t>
            </a:r>
            <a:r>
              <a:rPr lang="en-US" sz="3499" spc="178" dirty="0" err="1">
                <a:solidFill>
                  <a:srgbClr val="000000"/>
                </a:solidFill>
                <a:latin typeface="Roboto"/>
              </a:rPr>
              <a:t>electricidad</a:t>
            </a:r>
            <a:r>
              <a:rPr lang="en-US" sz="3499" spc="178" dirty="0">
                <a:solidFill>
                  <a:srgbClr val="000000"/>
                </a:solidFill>
                <a:latin typeface="Roboto"/>
              </a:rPr>
              <a:t> se </a:t>
            </a:r>
            <a:r>
              <a:rPr lang="en-US" sz="3499" spc="178" dirty="0" err="1">
                <a:solidFill>
                  <a:srgbClr val="000000"/>
                </a:solidFill>
                <a:latin typeface="Roboto"/>
              </a:rPr>
              <a:t>envía</a:t>
            </a:r>
            <a:r>
              <a:rPr lang="en-US" sz="3499" spc="178" dirty="0">
                <a:solidFill>
                  <a:srgbClr val="000000"/>
                </a:solidFill>
                <a:latin typeface="Roboto"/>
              </a:rPr>
              <a:t> a </a:t>
            </a:r>
            <a:r>
              <a:rPr lang="en-US" sz="3499" spc="178" dirty="0" err="1">
                <a:solidFill>
                  <a:srgbClr val="000000"/>
                </a:solidFill>
                <a:latin typeface="Roboto"/>
              </a:rPr>
              <a:t>los</a:t>
            </a:r>
            <a:r>
              <a:rPr lang="en-US" sz="3499" spc="178" dirty="0">
                <a:solidFill>
                  <a:srgbClr val="000000"/>
                </a:solidFill>
                <a:latin typeface="Roboto"/>
              </a:rPr>
              <a:t> </a:t>
            </a:r>
            <a:r>
              <a:rPr lang="en-US" sz="3499" spc="178" dirty="0" err="1">
                <a:solidFill>
                  <a:srgbClr val="000000"/>
                </a:solidFill>
                <a:latin typeface="Roboto"/>
              </a:rPr>
              <a:t>hogares</a:t>
            </a:r>
            <a:r>
              <a:rPr lang="en-US" sz="3499" spc="178" dirty="0">
                <a:solidFill>
                  <a:srgbClr val="000000"/>
                </a:solidFill>
                <a:latin typeface="Roboto"/>
              </a:rPr>
              <a:t> de la zona </a:t>
            </a:r>
            <a:r>
              <a:rPr lang="en-US" sz="3499" spc="178" dirty="0" err="1">
                <a:solidFill>
                  <a:srgbClr val="000000"/>
                </a:solidFill>
                <a:latin typeface="Roboto"/>
              </a:rPr>
              <a:t>más</a:t>
            </a:r>
            <a:r>
              <a:rPr lang="en-US" sz="3499" spc="178" dirty="0">
                <a:solidFill>
                  <a:srgbClr val="000000"/>
                </a:solidFill>
                <a:latin typeface="Roboto"/>
              </a:rPr>
              <a:t> </a:t>
            </a:r>
            <a:r>
              <a:rPr lang="en-US" sz="3499" spc="178" dirty="0" err="1">
                <a:solidFill>
                  <a:srgbClr val="000000"/>
                </a:solidFill>
                <a:latin typeface="Roboto"/>
              </a:rPr>
              <a:t>próxima</a:t>
            </a:r>
            <a:r>
              <a:rPr lang="en-US" sz="3499" spc="178" dirty="0">
                <a:solidFill>
                  <a:srgbClr val="000000"/>
                </a:solidFill>
                <a:latin typeface="Roboto"/>
              </a:rPr>
              <a:t> </a:t>
            </a:r>
            <a:r>
              <a:rPr lang="en-US" sz="3499" spc="178" dirty="0" err="1">
                <a:solidFill>
                  <a:srgbClr val="000000"/>
                </a:solidFill>
                <a:latin typeface="Roboto"/>
              </a:rPr>
              <a:t>desde</a:t>
            </a:r>
            <a:r>
              <a:rPr lang="en-US" sz="3499" spc="178" dirty="0">
                <a:solidFill>
                  <a:srgbClr val="000000"/>
                </a:solidFill>
                <a:latin typeface="Roboto"/>
              </a:rPr>
              <a:t> las </a:t>
            </a:r>
            <a:r>
              <a:rPr lang="en-US" sz="3499" spc="178" dirty="0" err="1">
                <a:solidFill>
                  <a:srgbClr val="000000"/>
                </a:solidFill>
                <a:latin typeface="Roboto"/>
              </a:rPr>
              <a:t>subestaciones</a:t>
            </a:r>
            <a:r>
              <a:rPr lang="en-US" sz="3499" spc="178" dirty="0">
                <a:solidFill>
                  <a:srgbClr val="000000"/>
                </a:solidFill>
                <a:latin typeface="Roboto"/>
              </a:rPr>
              <a:t>. Como receptor de la </a:t>
            </a:r>
            <a:r>
              <a:rPr lang="en-US" sz="3499" spc="178" dirty="0" err="1">
                <a:solidFill>
                  <a:srgbClr val="000000"/>
                </a:solidFill>
                <a:latin typeface="Roboto"/>
              </a:rPr>
              <a:t>energía</a:t>
            </a:r>
            <a:r>
              <a:rPr lang="en-US" sz="3499" spc="178" dirty="0">
                <a:solidFill>
                  <a:srgbClr val="000000"/>
                </a:solidFill>
                <a:latin typeface="Roboto"/>
              </a:rPr>
              <a:t> y </a:t>
            </a:r>
            <a:r>
              <a:rPr lang="en-US" sz="3499" spc="178" dirty="0" err="1">
                <a:solidFill>
                  <a:srgbClr val="000000"/>
                </a:solidFill>
                <a:latin typeface="Roboto"/>
              </a:rPr>
              <a:t>consumidor</a:t>
            </a:r>
            <a:r>
              <a:rPr lang="en-US" sz="3499" spc="178" dirty="0">
                <a:solidFill>
                  <a:srgbClr val="000000"/>
                </a:solidFill>
                <a:latin typeface="Roboto"/>
              </a:rPr>
              <a:t>, </a:t>
            </a:r>
            <a:r>
              <a:rPr lang="en-US" sz="3499" spc="178" dirty="0" err="1">
                <a:solidFill>
                  <a:srgbClr val="000000"/>
                </a:solidFill>
                <a:latin typeface="Roboto"/>
              </a:rPr>
              <a:t>tú</a:t>
            </a:r>
            <a:r>
              <a:rPr lang="en-US" sz="3499" spc="178" dirty="0">
                <a:solidFill>
                  <a:srgbClr val="000000"/>
                </a:solidFill>
                <a:latin typeface="Roboto"/>
              </a:rPr>
              <a:t> no </a:t>
            </a:r>
            <a:r>
              <a:rPr lang="en-US" sz="3499" spc="178" dirty="0" err="1">
                <a:solidFill>
                  <a:srgbClr val="000000"/>
                </a:solidFill>
                <a:latin typeface="Roboto"/>
              </a:rPr>
              <a:t>puedes</a:t>
            </a:r>
            <a:r>
              <a:rPr lang="en-US" sz="3499" spc="178" dirty="0">
                <a:solidFill>
                  <a:srgbClr val="000000"/>
                </a:solidFill>
                <a:latin typeface="Roboto"/>
              </a:rPr>
              <a:t> </a:t>
            </a:r>
            <a:r>
              <a:rPr lang="en-US" sz="3499" spc="178" dirty="0" err="1">
                <a:solidFill>
                  <a:srgbClr val="000000"/>
                </a:solidFill>
                <a:latin typeface="Roboto"/>
              </a:rPr>
              <a:t>elegir</a:t>
            </a:r>
            <a:r>
              <a:rPr lang="en-US" sz="3499" spc="178" dirty="0">
                <a:solidFill>
                  <a:srgbClr val="000000"/>
                </a:solidFill>
                <a:latin typeface="Roboto"/>
              </a:rPr>
              <a:t> </a:t>
            </a:r>
            <a:r>
              <a:rPr lang="en-US" sz="3499" spc="178" dirty="0" err="1">
                <a:solidFill>
                  <a:srgbClr val="000000"/>
                </a:solidFill>
                <a:latin typeface="Roboto"/>
              </a:rPr>
              <a:t>cuál</a:t>
            </a:r>
            <a:r>
              <a:rPr lang="en-US" sz="3499" spc="178" dirty="0">
                <a:solidFill>
                  <a:srgbClr val="000000"/>
                </a:solidFill>
                <a:latin typeface="Roboto"/>
              </a:rPr>
              <a:t> es </a:t>
            </a:r>
            <a:r>
              <a:rPr lang="en-US" sz="3499" spc="178" dirty="0" err="1">
                <a:solidFill>
                  <a:srgbClr val="000000"/>
                </a:solidFill>
                <a:latin typeface="Roboto"/>
              </a:rPr>
              <a:t>tu</a:t>
            </a:r>
            <a:r>
              <a:rPr lang="en-US" sz="3499" spc="178" dirty="0">
                <a:solidFill>
                  <a:srgbClr val="000000"/>
                </a:solidFill>
                <a:latin typeface="Roboto"/>
              </a:rPr>
              <a:t> </a:t>
            </a:r>
            <a:r>
              <a:rPr lang="en-US" sz="3499" spc="178" dirty="0" err="1">
                <a:solidFill>
                  <a:srgbClr val="000000"/>
                </a:solidFill>
                <a:latin typeface="Roboto"/>
              </a:rPr>
              <a:t>empresa</a:t>
            </a:r>
            <a:r>
              <a:rPr lang="en-US" sz="3499" spc="178" dirty="0">
                <a:solidFill>
                  <a:srgbClr val="000000"/>
                </a:solidFill>
                <a:latin typeface="Roboto"/>
              </a:rPr>
              <a:t> </a:t>
            </a:r>
            <a:r>
              <a:rPr lang="en-US" sz="3499" spc="178" dirty="0" err="1">
                <a:solidFill>
                  <a:srgbClr val="000000"/>
                </a:solidFill>
                <a:latin typeface="Roboto"/>
              </a:rPr>
              <a:t>distribuidora</a:t>
            </a:r>
            <a:r>
              <a:rPr lang="en-US" sz="3499" spc="178" dirty="0">
                <a:solidFill>
                  <a:srgbClr val="000000"/>
                </a:solidFill>
                <a:latin typeface="Roboto"/>
              </a:rPr>
              <a:t>, </a:t>
            </a:r>
            <a:r>
              <a:rPr lang="en-US" sz="3499" spc="178" dirty="0" err="1">
                <a:solidFill>
                  <a:srgbClr val="000000"/>
                </a:solidFill>
                <a:latin typeface="Roboto"/>
              </a:rPr>
              <a:t>ya</a:t>
            </a:r>
            <a:r>
              <a:rPr lang="en-US" sz="3499" spc="178" dirty="0">
                <a:solidFill>
                  <a:srgbClr val="000000"/>
                </a:solidFill>
                <a:latin typeface="Roboto"/>
              </a:rPr>
              <a:t> que </a:t>
            </a:r>
            <a:r>
              <a:rPr lang="en-US" sz="3499" spc="178" dirty="0" err="1">
                <a:solidFill>
                  <a:srgbClr val="000000"/>
                </a:solidFill>
                <a:latin typeface="Roboto"/>
              </a:rPr>
              <a:t>según</a:t>
            </a:r>
            <a:r>
              <a:rPr lang="en-US" sz="3499" spc="178" dirty="0">
                <a:solidFill>
                  <a:srgbClr val="000000"/>
                </a:solidFill>
                <a:latin typeface="Roboto"/>
              </a:rPr>
              <a:t> la zona en que </a:t>
            </a:r>
            <a:r>
              <a:rPr lang="en-US" sz="3499" spc="178" dirty="0" err="1">
                <a:solidFill>
                  <a:srgbClr val="000000"/>
                </a:solidFill>
                <a:latin typeface="Roboto"/>
              </a:rPr>
              <a:t>vivas</a:t>
            </a:r>
            <a:r>
              <a:rPr lang="en-US" sz="3499" spc="178" dirty="0">
                <a:solidFill>
                  <a:srgbClr val="000000"/>
                </a:solidFill>
                <a:latin typeface="Roboto"/>
              </a:rPr>
              <a:t> </a:t>
            </a:r>
            <a:r>
              <a:rPr lang="en-US" sz="3499" spc="178" dirty="0" err="1">
                <a:solidFill>
                  <a:srgbClr val="000000"/>
                </a:solidFill>
                <a:latin typeface="Roboto"/>
              </a:rPr>
              <a:t>te</a:t>
            </a:r>
            <a:r>
              <a:rPr lang="en-US" sz="3499" spc="178" dirty="0">
                <a:solidFill>
                  <a:srgbClr val="000000"/>
                </a:solidFill>
                <a:latin typeface="Roboto"/>
              </a:rPr>
              <a:t> </a:t>
            </a:r>
            <a:r>
              <a:rPr lang="en-US" sz="3499" spc="178" dirty="0" err="1">
                <a:solidFill>
                  <a:srgbClr val="000000"/>
                </a:solidFill>
                <a:latin typeface="Roboto"/>
              </a:rPr>
              <a:t>tocará</a:t>
            </a:r>
            <a:r>
              <a:rPr lang="en-US" sz="3499" spc="178" dirty="0">
                <a:solidFill>
                  <a:srgbClr val="000000"/>
                </a:solidFill>
                <a:latin typeface="Roboto"/>
              </a:rPr>
              <a:t> </a:t>
            </a:r>
            <a:r>
              <a:rPr lang="en-US" sz="3499" spc="178" dirty="0" err="1">
                <a:solidFill>
                  <a:srgbClr val="000000"/>
                </a:solidFill>
                <a:latin typeface="Roboto"/>
              </a:rPr>
              <a:t>una</a:t>
            </a:r>
            <a:r>
              <a:rPr lang="en-US" sz="3499" spc="178" dirty="0">
                <a:solidFill>
                  <a:srgbClr val="000000"/>
                </a:solidFill>
                <a:latin typeface="Roboto"/>
              </a:rPr>
              <a:t> u otra. La </a:t>
            </a:r>
            <a:r>
              <a:rPr lang="en-US" sz="3499" spc="178" dirty="0" err="1">
                <a:solidFill>
                  <a:srgbClr val="000000"/>
                </a:solidFill>
                <a:latin typeface="Roboto"/>
              </a:rPr>
              <a:t>empresa</a:t>
            </a:r>
            <a:r>
              <a:rPr lang="en-US" sz="3499" spc="178" dirty="0">
                <a:solidFill>
                  <a:srgbClr val="000000"/>
                </a:solidFill>
                <a:latin typeface="Roboto"/>
              </a:rPr>
              <a:t> que </a:t>
            </a:r>
            <a:r>
              <a:rPr lang="en-US" sz="3499" spc="178" dirty="0" err="1">
                <a:solidFill>
                  <a:srgbClr val="000000"/>
                </a:solidFill>
                <a:latin typeface="Roboto"/>
              </a:rPr>
              <a:t>te</a:t>
            </a:r>
            <a:r>
              <a:rPr lang="en-US" sz="3499" spc="178" dirty="0">
                <a:solidFill>
                  <a:srgbClr val="000000"/>
                </a:solidFill>
                <a:latin typeface="Roboto"/>
              </a:rPr>
              <a:t> toque </a:t>
            </a:r>
            <a:r>
              <a:rPr lang="en-US" sz="3499" spc="178" dirty="0" err="1">
                <a:solidFill>
                  <a:srgbClr val="000000"/>
                </a:solidFill>
                <a:latin typeface="Roboto"/>
              </a:rPr>
              <a:t>será</a:t>
            </a:r>
            <a:r>
              <a:rPr lang="en-US" sz="3499" spc="178" dirty="0">
                <a:solidFill>
                  <a:srgbClr val="000000"/>
                </a:solidFill>
                <a:latin typeface="Roboto"/>
              </a:rPr>
              <a:t> </a:t>
            </a:r>
            <a:r>
              <a:rPr lang="en-US" sz="3499" spc="178" dirty="0" err="1">
                <a:solidFill>
                  <a:srgbClr val="000000"/>
                </a:solidFill>
                <a:latin typeface="Roboto"/>
              </a:rPr>
              <a:t>responsable</a:t>
            </a:r>
            <a:r>
              <a:rPr lang="en-US" sz="3499" spc="178" dirty="0">
                <a:solidFill>
                  <a:srgbClr val="000000"/>
                </a:solidFill>
                <a:latin typeface="Roboto"/>
              </a:rPr>
              <a:t> de que la </a:t>
            </a:r>
            <a:r>
              <a:rPr lang="en-US" sz="3499" spc="178" dirty="0" err="1">
                <a:solidFill>
                  <a:srgbClr val="000000"/>
                </a:solidFill>
                <a:latin typeface="Roboto"/>
              </a:rPr>
              <a:t>electricidad</a:t>
            </a:r>
            <a:r>
              <a:rPr lang="en-US" sz="3499" spc="178" dirty="0">
                <a:solidFill>
                  <a:srgbClr val="000000"/>
                </a:solidFill>
                <a:latin typeface="Roboto"/>
              </a:rPr>
              <a:t> </a:t>
            </a:r>
            <a:r>
              <a:rPr lang="en-US" sz="3499" spc="178" dirty="0" err="1">
                <a:solidFill>
                  <a:srgbClr val="000000"/>
                </a:solidFill>
                <a:latin typeface="Roboto"/>
              </a:rPr>
              <a:t>llegue</a:t>
            </a:r>
            <a:r>
              <a:rPr lang="en-US" sz="3499" spc="178" dirty="0">
                <a:solidFill>
                  <a:srgbClr val="000000"/>
                </a:solidFill>
                <a:latin typeface="Roboto"/>
              </a:rPr>
              <a:t> </a:t>
            </a:r>
            <a:r>
              <a:rPr lang="en-US" sz="3499" spc="178" dirty="0" err="1">
                <a:solidFill>
                  <a:srgbClr val="000000"/>
                </a:solidFill>
                <a:latin typeface="Roboto"/>
              </a:rPr>
              <a:t>correctamente</a:t>
            </a:r>
            <a:r>
              <a:rPr lang="en-US" sz="3499" spc="178" dirty="0">
                <a:solidFill>
                  <a:srgbClr val="000000"/>
                </a:solidFill>
                <a:latin typeface="Roboto"/>
              </a:rPr>
              <a:t> a </a:t>
            </a:r>
            <a:r>
              <a:rPr lang="en-US" sz="3499" spc="178" dirty="0" err="1">
                <a:solidFill>
                  <a:srgbClr val="000000"/>
                </a:solidFill>
                <a:latin typeface="Roboto"/>
              </a:rPr>
              <a:t>tu</a:t>
            </a:r>
            <a:r>
              <a:rPr lang="en-US" sz="3499" spc="178" dirty="0">
                <a:solidFill>
                  <a:srgbClr val="000000"/>
                </a:solidFill>
                <a:latin typeface="Roboto"/>
              </a:rPr>
              <a:t> </a:t>
            </a:r>
            <a:r>
              <a:rPr lang="en-US" sz="3499" spc="178" dirty="0" err="1">
                <a:solidFill>
                  <a:srgbClr val="000000"/>
                </a:solidFill>
                <a:latin typeface="Roboto"/>
              </a:rPr>
              <a:t>vivienda</a:t>
            </a:r>
            <a:r>
              <a:rPr lang="en-US" sz="3499" spc="178" dirty="0">
                <a:solidFill>
                  <a:srgbClr val="000000"/>
                </a:solidFill>
                <a:latin typeface="Roboto"/>
              </a:rPr>
              <a:t> y se </a:t>
            </a:r>
            <a:r>
              <a:rPr lang="en-US" sz="3499" spc="178" dirty="0" err="1">
                <a:solidFill>
                  <a:srgbClr val="000000"/>
                </a:solidFill>
                <a:latin typeface="Roboto"/>
              </a:rPr>
              <a:t>ocupará</a:t>
            </a:r>
            <a:r>
              <a:rPr lang="en-US" sz="3499" spc="178" dirty="0">
                <a:solidFill>
                  <a:srgbClr val="000000"/>
                </a:solidFill>
                <a:latin typeface="Roboto"/>
              </a:rPr>
              <a:t> de </a:t>
            </a:r>
            <a:r>
              <a:rPr lang="en-US" sz="3499" spc="178" dirty="0" err="1">
                <a:solidFill>
                  <a:srgbClr val="000000"/>
                </a:solidFill>
                <a:latin typeface="Roboto"/>
              </a:rPr>
              <a:t>solucionar</a:t>
            </a:r>
            <a:r>
              <a:rPr lang="en-US" sz="3499" spc="178" dirty="0">
                <a:solidFill>
                  <a:srgbClr val="000000"/>
                </a:solidFill>
                <a:latin typeface="Roboto"/>
              </a:rPr>
              <a:t> las </a:t>
            </a:r>
            <a:r>
              <a:rPr lang="en-US" sz="3499" spc="178" dirty="0" err="1">
                <a:solidFill>
                  <a:srgbClr val="000000"/>
                </a:solidFill>
                <a:latin typeface="Roboto"/>
              </a:rPr>
              <a:t>averías</a:t>
            </a:r>
            <a:r>
              <a:rPr lang="en-US" sz="3499" spc="178" dirty="0">
                <a:solidFill>
                  <a:srgbClr val="000000"/>
                </a:solidFill>
                <a:latin typeface="Roboto"/>
              </a:rPr>
              <a:t>. </a:t>
            </a:r>
            <a:r>
              <a:rPr lang="en-US" sz="3499" spc="178" dirty="0" err="1">
                <a:solidFill>
                  <a:srgbClr val="000000"/>
                </a:solidFill>
                <a:latin typeface="Roboto"/>
              </a:rPr>
              <a:t>También</a:t>
            </a:r>
            <a:r>
              <a:rPr lang="en-US" sz="3499" spc="178" dirty="0">
                <a:solidFill>
                  <a:srgbClr val="000000"/>
                </a:solidFill>
                <a:latin typeface="Roboto"/>
              </a:rPr>
              <a:t> es la </a:t>
            </a:r>
            <a:r>
              <a:rPr lang="en-US" sz="3499" spc="178" dirty="0" err="1">
                <a:solidFill>
                  <a:srgbClr val="000000"/>
                </a:solidFill>
                <a:latin typeface="Roboto"/>
              </a:rPr>
              <a:t>propietaria</a:t>
            </a:r>
            <a:r>
              <a:rPr lang="en-US" sz="3499" spc="178" dirty="0">
                <a:solidFill>
                  <a:srgbClr val="000000"/>
                </a:solidFill>
                <a:latin typeface="Roboto"/>
              </a:rPr>
              <a:t> de </a:t>
            </a:r>
            <a:r>
              <a:rPr lang="en-US" sz="3499" spc="178" dirty="0" err="1">
                <a:solidFill>
                  <a:srgbClr val="000000"/>
                </a:solidFill>
                <a:latin typeface="Roboto"/>
              </a:rPr>
              <a:t>tu</a:t>
            </a:r>
            <a:r>
              <a:rPr lang="en-US" sz="3499" spc="178" dirty="0">
                <a:solidFill>
                  <a:srgbClr val="000000"/>
                </a:solidFill>
                <a:latin typeface="Roboto"/>
              </a:rPr>
              <a:t> </a:t>
            </a:r>
            <a:r>
              <a:rPr lang="en-US" sz="3499" spc="178" dirty="0" err="1">
                <a:solidFill>
                  <a:srgbClr val="000000"/>
                </a:solidFill>
                <a:latin typeface="Roboto"/>
              </a:rPr>
              <a:t>contador</a:t>
            </a:r>
            <a:r>
              <a:rPr lang="en-US" sz="3499" spc="178" dirty="0">
                <a:solidFill>
                  <a:srgbClr val="000000"/>
                </a:solidFill>
                <a:latin typeface="Roboto"/>
              </a:rPr>
              <a:t> de la luz, y </a:t>
            </a:r>
            <a:r>
              <a:rPr lang="en-US" sz="3499" spc="178" dirty="0" err="1">
                <a:solidFill>
                  <a:srgbClr val="000000"/>
                </a:solidFill>
                <a:latin typeface="Roboto"/>
              </a:rPr>
              <a:t>envía</a:t>
            </a:r>
            <a:r>
              <a:rPr lang="en-US" sz="3499" spc="178" dirty="0">
                <a:solidFill>
                  <a:srgbClr val="000000"/>
                </a:solidFill>
                <a:latin typeface="Roboto"/>
              </a:rPr>
              <a:t> las </a:t>
            </a:r>
            <a:r>
              <a:rPr lang="en-US" sz="3499" spc="178" dirty="0" err="1">
                <a:solidFill>
                  <a:srgbClr val="000000"/>
                </a:solidFill>
                <a:latin typeface="Roboto"/>
              </a:rPr>
              <a:t>lecturas</a:t>
            </a:r>
            <a:r>
              <a:rPr lang="en-US" sz="3499" spc="178" dirty="0">
                <a:solidFill>
                  <a:srgbClr val="000000"/>
                </a:solidFill>
                <a:latin typeface="Roboto"/>
              </a:rPr>
              <a:t> del </a:t>
            </a:r>
            <a:r>
              <a:rPr lang="en-US" sz="3499" spc="178" dirty="0" err="1">
                <a:solidFill>
                  <a:srgbClr val="000000"/>
                </a:solidFill>
                <a:latin typeface="Roboto"/>
              </a:rPr>
              <a:t>mismo</a:t>
            </a:r>
            <a:r>
              <a:rPr lang="en-US" sz="3499" spc="178" dirty="0">
                <a:solidFill>
                  <a:srgbClr val="000000"/>
                </a:solidFill>
                <a:latin typeface="Roboto"/>
              </a:rPr>
              <a:t> a </a:t>
            </a:r>
            <a:r>
              <a:rPr lang="en-US" sz="3499" spc="178" dirty="0" err="1">
                <a:solidFill>
                  <a:srgbClr val="000000"/>
                </a:solidFill>
                <a:latin typeface="Roboto"/>
              </a:rPr>
              <a:t>tu</a:t>
            </a:r>
            <a:r>
              <a:rPr lang="en-US" sz="3499" spc="178" dirty="0">
                <a:solidFill>
                  <a:srgbClr val="000000"/>
                </a:solidFill>
                <a:latin typeface="Roboto"/>
              </a:rPr>
              <a:t> </a:t>
            </a:r>
            <a:r>
              <a:rPr lang="en-US" sz="3499" spc="178" dirty="0" err="1">
                <a:solidFill>
                  <a:srgbClr val="000000"/>
                </a:solidFill>
                <a:latin typeface="Roboto"/>
              </a:rPr>
              <a:t>empresa</a:t>
            </a:r>
            <a:r>
              <a:rPr lang="en-US" sz="3499" spc="178" dirty="0">
                <a:solidFill>
                  <a:srgbClr val="000000"/>
                </a:solidFill>
                <a:latin typeface="Roboto"/>
              </a:rPr>
              <a:t> </a:t>
            </a:r>
            <a:r>
              <a:rPr lang="en-US" sz="3499" spc="178" dirty="0" err="1">
                <a:solidFill>
                  <a:srgbClr val="000000"/>
                </a:solidFill>
                <a:latin typeface="Roboto"/>
              </a:rPr>
              <a:t>comercializadora</a:t>
            </a:r>
            <a:r>
              <a:rPr lang="en-US" sz="3499" spc="178" dirty="0">
                <a:solidFill>
                  <a:srgbClr val="000000"/>
                </a:solidFill>
                <a:latin typeface="Roboto"/>
              </a:rPr>
              <a:t> (que es la que </a:t>
            </a:r>
            <a:r>
              <a:rPr lang="en-US" sz="3499" spc="178" dirty="0" err="1">
                <a:solidFill>
                  <a:srgbClr val="000000"/>
                </a:solidFill>
                <a:latin typeface="Roboto"/>
              </a:rPr>
              <a:t>te</a:t>
            </a:r>
            <a:r>
              <a:rPr lang="en-US" sz="3499" spc="178" dirty="0">
                <a:solidFill>
                  <a:srgbClr val="000000"/>
                </a:solidFill>
                <a:latin typeface="Roboto"/>
              </a:rPr>
              <a:t> cobra).</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1759425" y="9733708"/>
            <a:ext cx="6735168" cy="553292"/>
            <a:chOff x="0" y="0"/>
            <a:chExt cx="1773872" cy="145723"/>
          </a:xfrm>
        </p:grpSpPr>
        <p:sp>
          <p:nvSpPr>
            <p:cNvPr id="3" name="Freeform 3"/>
            <p:cNvSpPr/>
            <p:nvPr/>
          </p:nvSpPr>
          <p:spPr>
            <a:xfrm>
              <a:off x="0" y="0"/>
              <a:ext cx="1773872" cy="145723"/>
            </a:xfrm>
            <a:custGeom>
              <a:avLst/>
              <a:gdLst/>
              <a:ahLst/>
              <a:cxnLst/>
              <a:rect l="l" t="t" r="r" b="b"/>
              <a:pathLst>
                <a:path w="1773872" h="145723">
                  <a:moveTo>
                    <a:pt x="0" y="0"/>
                  </a:moveTo>
                  <a:lnTo>
                    <a:pt x="1773872" y="0"/>
                  </a:lnTo>
                  <a:lnTo>
                    <a:pt x="1773872" y="145723"/>
                  </a:lnTo>
                  <a:lnTo>
                    <a:pt x="0" y="145723"/>
                  </a:lnTo>
                  <a:close/>
                </a:path>
              </a:pathLst>
            </a:custGeom>
            <a:solidFill>
              <a:srgbClr val="F23436"/>
            </a:solidFill>
          </p:spPr>
          <p:txBody>
            <a:bodyPr/>
            <a:lstStyle/>
            <a:p>
              <a:endParaRPr lang="es-GT"/>
            </a:p>
          </p:txBody>
        </p:sp>
        <p:sp>
          <p:nvSpPr>
            <p:cNvPr id="4" name="TextBox 4"/>
            <p:cNvSpPr txBox="1"/>
            <p:nvPr/>
          </p:nvSpPr>
          <p:spPr>
            <a:xfrm>
              <a:off x="0" y="-47625"/>
              <a:ext cx="1773872" cy="193348"/>
            </a:xfrm>
            <a:prstGeom prst="rect">
              <a:avLst/>
            </a:prstGeom>
          </p:spPr>
          <p:txBody>
            <a:bodyPr lIns="50800" tIns="50800" rIns="50800" bIns="50800" rtlCol="0" anchor="ctr"/>
            <a:lstStyle/>
            <a:p>
              <a:pPr algn="ctr">
                <a:lnSpc>
                  <a:spcPts val="3079"/>
                </a:lnSpc>
              </a:pPr>
              <a:endParaRPr/>
            </a:p>
          </p:txBody>
        </p:sp>
      </p:grpSp>
      <p:sp>
        <p:nvSpPr>
          <p:cNvPr id="5" name="TextBox 5"/>
          <p:cNvSpPr txBox="1"/>
          <p:nvPr/>
        </p:nvSpPr>
        <p:spPr>
          <a:xfrm>
            <a:off x="553633" y="587057"/>
            <a:ext cx="10417255" cy="788037"/>
          </a:xfrm>
          <a:prstGeom prst="rect">
            <a:avLst/>
          </a:prstGeom>
        </p:spPr>
        <p:txBody>
          <a:bodyPr lIns="0" tIns="0" rIns="0" bIns="0" rtlCol="0" anchor="t">
            <a:spAutoFit/>
          </a:bodyPr>
          <a:lstStyle/>
          <a:p>
            <a:pPr algn="ctr">
              <a:lnSpc>
                <a:spcPts val="6439"/>
              </a:lnSpc>
              <a:spcBef>
                <a:spcPct val="0"/>
              </a:spcBef>
            </a:pPr>
            <a:r>
              <a:rPr lang="en-US" sz="4599" spc="234">
                <a:solidFill>
                  <a:srgbClr val="000000"/>
                </a:solidFill>
                <a:latin typeface="Roboto Bold"/>
              </a:rPr>
              <a:t>¿Qué tipos de central eléctrica hay?</a:t>
            </a:r>
          </a:p>
        </p:txBody>
      </p:sp>
      <p:sp>
        <p:nvSpPr>
          <p:cNvPr id="6" name="TextBox 6"/>
          <p:cNvSpPr txBox="1"/>
          <p:nvPr/>
        </p:nvSpPr>
        <p:spPr>
          <a:xfrm>
            <a:off x="553633" y="1896614"/>
            <a:ext cx="5742980" cy="622936"/>
          </a:xfrm>
          <a:prstGeom prst="rect">
            <a:avLst/>
          </a:prstGeom>
        </p:spPr>
        <p:txBody>
          <a:bodyPr lIns="0" tIns="0" rIns="0" bIns="0" rtlCol="0" anchor="t">
            <a:spAutoFit/>
          </a:bodyPr>
          <a:lstStyle/>
          <a:p>
            <a:pPr algn="ctr">
              <a:lnSpc>
                <a:spcPts val="5039"/>
              </a:lnSpc>
              <a:spcBef>
                <a:spcPct val="0"/>
              </a:spcBef>
            </a:pPr>
            <a:r>
              <a:rPr lang="en-US" sz="3599" spc="183">
                <a:solidFill>
                  <a:srgbClr val="000000"/>
                </a:solidFill>
                <a:latin typeface="Roboto Bold"/>
              </a:rPr>
              <a:t>Centrales hidroeléctricas</a:t>
            </a:r>
          </a:p>
        </p:txBody>
      </p:sp>
      <p:sp>
        <p:nvSpPr>
          <p:cNvPr id="7" name="TextBox 7"/>
          <p:cNvSpPr txBox="1"/>
          <p:nvPr/>
        </p:nvSpPr>
        <p:spPr>
          <a:xfrm>
            <a:off x="553633" y="2854055"/>
            <a:ext cx="16703548" cy="2390141"/>
          </a:xfrm>
          <a:prstGeom prst="rect">
            <a:avLst/>
          </a:prstGeom>
        </p:spPr>
        <p:txBody>
          <a:bodyPr lIns="0" tIns="0" rIns="0" bIns="0" rtlCol="0" anchor="t">
            <a:spAutoFit/>
          </a:bodyPr>
          <a:lstStyle/>
          <a:p>
            <a:pPr algn="just">
              <a:lnSpc>
                <a:spcPts val="4759"/>
              </a:lnSpc>
              <a:spcBef>
                <a:spcPct val="0"/>
              </a:spcBef>
            </a:pPr>
            <a:r>
              <a:rPr lang="en-US" sz="3399" spc="173">
                <a:solidFill>
                  <a:srgbClr val="000000"/>
                </a:solidFill>
                <a:latin typeface="Roboto"/>
              </a:rPr>
              <a:t>La energía hidroeléctrica es aquella que se genera al transformar la fuerza del agua en energía eléctrica. Para aprovechar dicha fuerza, se construyen grandes infraestructuras hidráulicas capaces de extraer el máximo potencial de este recurso renovable, libre de emisiones y autóctono.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1759425" y="9733708"/>
            <a:ext cx="6735168" cy="553292"/>
            <a:chOff x="0" y="0"/>
            <a:chExt cx="1773872" cy="145723"/>
          </a:xfrm>
        </p:grpSpPr>
        <p:sp>
          <p:nvSpPr>
            <p:cNvPr id="3" name="Freeform 3"/>
            <p:cNvSpPr/>
            <p:nvPr/>
          </p:nvSpPr>
          <p:spPr>
            <a:xfrm>
              <a:off x="0" y="0"/>
              <a:ext cx="1773872" cy="145723"/>
            </a:xfrm>
            <a:custGeom>
              <a:avLst/>
              <a:gdLst/>
              <a:ahLst/>
              <a:cxnLst/>
              <a:rect l="l" t="t" r="r" b="b"/>
              <a:pathLst>
                <a:path w="1773872" h="145723">
                  <a:moveTo>
                    <a:pt x="0" y="0"/>
                  </a:moveTo>
                  <a:lnTo>
                    <a:pt x="1773872" y="0"/>
                  </a:lnTo>
                  <a:lnTo>
                    <a:pt x="1773872" y="145723"/>
                  </a:lnTo>
                  <a:lnTo>
                    <a:pt x="0" y="145723"/>
                  </a:lnTo>
                  <a:close/>
                </a:path>
              </a:pathLst>
            </a:custGeom>
            <a:solidFill>
              <a:srgbClr val="F23436"/>
            </a:solidFill>
          </p:spPr>
          <p:txBody>
            <a:bodyPr/>
            <a:lstStyle/>
            <a:p>
              <a:endParaRPr lang="es-GT"/>
            </a:p>
          </p:txBody>
        </p:sp>
        <p:sp>
          <p:nvSpPr>
            <p:cNvPr id="4" name="TextBox 4"/>
            <p:cNvSpPr txBox="1"/>
            <p:nvPr/>
          </p:nvSpPr>
          <p:spPr>
            <a:xfrm>
              <a:off x="0" y="-47625"/>
              <a:ext cx="1773872" cy="193348"/>
            </a:xfrm>
            <a:prstGeom prst="rect">
              <a:avLst/>
            </a:prstGeom>
          </p:spPr>
          <p:txBody>
            <a:bodyPr lIns="50800" tIns="50800" rIns="50800" bIns="50800" rtlCol="0" anchor="ctr"/>
            <a:lstStyle/>
            <a:p>
              <a:pPr algn="ctr">
                <a:lnSpc>
                  <a:spcPts val="3079"/>
                </a:lnSpc>
              </a:pPr>
              <a:endParaRPr/>
            </a:p>
          </p:txBody>
        </p:sp>
      </p:grpSp>
      <p:sp>
        <p:nvSpPr>
          <p:cNvPr id="5" name="TextBox 5"/>
          <p:cNvSpPr txBox="1"/>
          <p:nvPr/>
        </p:nvSpPr>
        <p:spPr>
          <a:xfrm>
            <a:off x="673983" y="2070991"/>
            <a:ext cx="16940034" cy="5614671"/>
          </a:xfrm>
          <a:prstGeom prst="rect">
            <a:avLst/>
          </a:prstGeom>
        </p:spPr>
        <p:txBody>
          <a:bodyPr lIns="0" tIns="0" rIns="0" bIns="0" rtlCol="0" anchor="t">
            <a:spAutoFit/>
          </a:bodyPr>
          <a:lstStyle/>
          <a:p>
            <a:pPr algn="just">
              <a:lnSpc>
                <a:spcPts val="4479"/>
              </a:lnSpc>
              <a:spcBef>
                <a:spcPct val="0"/>
              </a:spcBef>
            </a:pPr>
            <a:r>
              <a:rPr lang="en-US" sz="3199" spc="163">
                <a:solidFill>
                  <a:srgbClr val="000000"/>
                </a:solidFill>
                <a:latin typeface="Roboto"/>
              </a:rPr>
              <a:t>Las centrales hidroeléctricas convierten en energía eléctrica la diferencia de energía potencial que tiene una determinada masa de agua al trasladarla entre dos puntos situados a distinta altitud o cota.</a:t>
            </a:r>
          </a:p>
          <a:p>
            <a:pPr algn="just">
              <a:lnSpc>
                <a:spcPts val="4479"/>
              </a:lnSpc>
              <a:spcBef>
                <a:spcPct val="0"/>
              </a:spcBef>
            </a:pPr>
            <a:endParaRPr lang="en-US" sz="3199" spc="163">
              <a:solidFill>
                <a:srgbClr val="000000"/>
              </a:solidFill>
              <a:latin typeface="Roboto"/>
            </a:endParaRPr>
          </a:p>
          <a:p>
            <a:pPr algn="just">
              <a:lnSpc>
                <a:spcPts val="4479"/>
              </a:lnSpc>
              <a:spcBef>
                <a:spcPct val="0"/>
              </a:spcBef>
            </a:pPr>
            <a:r>
              <a:rPr lang="en-US" sz="3199" spc="163">
                <a:solidFill>
                  <a:srgbClr val="000000"/>
                </a:solidFill>
                <a:latin typeface="Roboto"/>
              </a:rPr>
              <a:t>Para ello se hace circular un caudal de agua por un circuito hidráulico que salva el desnivel entre dos puntos, lo que se conoce comúnmente como salto, y en el que el agua va adquiriendo velocidad a medida que la energía potencial se va transformado parcialmente en energía cinética. La turbina es la encargada de transformar esa energía cinética en energía mecánica, para que el generador la transforme a su vez en energía eléctrica.</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1759425" y="9733708"/>
            <a:ext cx="6735168" cy="553292"/>
            <a:chOff x="0" y="0"/>
            <a:chExt cx="1773872" cy="145723"/>
          </a:xfrm>
        </p:grpSpPr>
        <p:sp>
          <p:nvSpPr>
            <p:cNvPr id="3" name="Freeform 3"/>
            <p:cNvSpPr/>
            <p:nvPr/>
          </p:nvSpPr>
          <p:spPr>
            <a:xfrm>
              <a:off x="0" y="0"/>
              <a:ext cx="1773872" cy="145723"/>
            </a:xfrm>
            <a:custGeom>
              <a:avLst/>
              <a:gdLst/>
              <a:ahLst/>
              <a:cxnLst/>
              <a:rect l="l" t="t" r="r" b="b"/>
              <a:pathLst>
                <a:path w="1773872" h="145723">
                  <a:moveTo>
                    <a:pt x="0" y="0"/>
                  </a:moveTo>
                  <a:lnTo>
                    <a:pt x="1773872" y="0"/>
                  </a:lnTo>
                  <a:lnTo>
                    <a:pt x="1773872" y="145723"/>
                  </a:lnTo>
                  <a:lnTo>
                    <a:pt x="0" y="145723"/>
                  </a:lnTo>
                  <a:close/>
                </a:path>
              </a:pathLst>
            </a:custGeom>
            <a:solidFill>
              <a:srgbClr val="F23436"/>
            </a:solidFill>
          </p:spPr>
          <p:txBody>
            <a:bodyPr/>
            <a:lstStyle/>
            <a:p>
              <a:endParaRPr lang="es-GT"/>
            </a:p>
          </p:txBody>
        </p:sp>
        <p:sp>
          <p:nvSpPr>
            <p:cNvPr id="4" name="TextBox 4"/>
            <p:cNvSpPr txBox="1"/>
            <p:nvPr/>
          </p:nvSpPr>
          <p:spPr>
            <a:xfrm>
              <a:off x="0" y="-47625"/>
              <a:ext cx="1773872" cy="193348"/>
            </a:xfrm>
            <a:prstGeom prst="rect">
              <a:avLst/>
            </a:prstGeom>
          </p:spPr>
          <p:txBody>
            <a:bodyPr lIns="50800" tIns="50800" rIns="50800" bIns="50800" rtlCol="0" anchor="ctr"/>
            <a:lstStyle/>
            <a:p>
              <a:pPr algn="ctr">
                <a:lnSpc>
                  <a:spcPts val="3079"/>
                </a:lnSpc>
              </a:pPr>
              <a:endParaRPr/>
            </a:p>
          </p:txBody>
        </p:sp>
      </p:grpSp>
      <p:sp>
        <p:nvSpPr>
          <p:cNvPr id="5" name="Freeform 5"/>
          <p:cNvSpPr/>
          <p:nvPr/>
        </p:nvSpPr>
        <p:spPr>
          <a:xfrm>
            <a:off x="3193127" y="249007"/>
            <a:ext cx="7951719" cy="9761347"/>
          </a:xfrm>
          <a:custGeom>
            <a:avLst/>
            <a:gdLst/>
            <a:ahLst/>
            <a:cxnLst/>
            <a:rect l="l" t="t" r="r" b="b"/>
            <a:pathLst>
              <a:path w="7951719" h="9761347">
                <a:moveTo>
                  <a:pt x="0" y="0"/>
                </a:moveTo>
                <a:lnTo>
                  <a:pt x="7951719" y="0"/>
                </a:lnTo>
                <a:lnTo>
                  <a:pt x="7951719" y="9761347"/>
                </a:lnTo>
                <a:lnTo>
                  <a:pt x="0" y="9761347"/>
                </a:lnTo>
                <a:lnTo>
                  <a:pt x="0" y="0"/>
                </a:lnTo>
                <a:close/>
              </a:path>
            </a:pathLst>
          </a:custGeom>
          <a:blipFill>
            <a:blip r:embed="rId2"/>
            <a:stretch>
              <a:fillRect/>
            </a:stretch>
          </a:blipFill>
        </p:spPr>
        <p:txBody>
          <a:bodyPr/>
          <a:lstStyle/>
          <a:p>
            <a:endParaRPr lang="es-GT"/>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1759425" y="9733708"/>
            <a:ext cx="6735168" cy="553292"/>
            <a:chOff x="0" y="0"/>
            <a:chExt cx="1773872" cy="145723"/>
          </a:xfrm>
        </p:grpSpPr>
        <p:sp>
          <p:nvSpPr>
            <p:cNvPr id="3" name="Freeform 3"/>
            <p:cNvSpPr/>
            <p:nvPr/>
          </p:nvSpPr>
          <p:spPr>
            <a:xfrm>
              <a:off x="0" y="0"/>
              <a:ext cx="1773872" cy="145723"/>
            </a:xfrm>
            <a:custGeom>
              <a:avLst/>
              <a:gdLst/>
              <a:ahLst/>
              <a:cxnLst/>
              <a:rect l="l" t="t" r="r" b="b"/>
              <a:pathLst>
                <a:path w="1773872" h="145723">
                  <a:moveTo>
                    <a:pt x="0" y="0"/>
                  </a:moveTo>
                  <a:lnTo>
                    <a:pt x="1773872" y="0"/>
                  </a:lnTo>
                  <a:lnTo>
                    <a:pt x="1773872" y="145723"/>
                  </a:lnTo>
                  <a:lnTo>
                    <a:pt x="0" y="145723"/>
                  </a:lnTo>
                  <a:close/>
                </a:path>
              </a:pathLst>
            </a:custGeom>
            <a:solidFill>
              <a:srgbClr val="F23436"/>
            </a:solidFill>
          </p:spPr>
          <p:txBody>
            <a:bodyPr/>
            <a:lstStyle/>
            <a:p>
              <a:endParaRPr lang="es-GT"/>
            </a:p>
          </p:txBody>
        </p:sp>
        <p:sp>
          <p:nvSpPr>
            <p:cNvPr id="4" name="TextBox 4"/>
            <p:cNvSpPr txBox="1"/>
            <p:nvPr/>
          </p:nvSpPr>
          <p:spPr>
            <a:xfrm>
              <a:off x="0" y="-47625"/>
              <a:ext cx="1773872" cy="193348"/>
            </a:xfrm>
            <a:prstGeom prst="rect">
              <a:avLst/>
            </a:prstGeom>
          </p:spPr>
          <p:txBody>
            <a:bodyPr lIns="50800" tIns="50800" rIns="50800" bIns="50800" rtlCol="0" anchor="ctr"/>
            <a:lstStyle/>
            <a:p>
              <a:pPr algn="ctr">
                <a:lnSpc>
                  <a:spcPts val="3079"/>
                </a:lnSpc>
              </a:pPr>
              <a:endParaRPr/>
            </a:p>
          </p:txBody>
        </p:sp>
      </p:grpSp>
      <p:sp>
        <p:nvSpPr>
          <p:cNvPr id="5" name="TextBox 5"/>
          <p:cNvSpPr txBox="1"/>
          <p:nvPr/>
        </p:nvSpPr>
        <p:spPr>
          <a:xfrm>
            <a:off x="1831383" y="2954020"/>
            <a:ext cx="9740622" cy="4414670"/>
          </a:xfrm>
          <a:prstGeom prst="rect">
            <a:avLst/>
          </a:prstGeom>
        </p:spPr>
        <p:txBody>
          <a:bodyPr lIns="0" tIns="0" rIns="0" bIns="0" rtlCol="0" anchor="t">
            <a:spAutoFit/>
          </a:bodyPr>
          <a:lstStyle/>
          <a:p>
            <a:pPr marL="863590" lvl="1" indent="-431795" algn="l">
              <a:lnSpc>
                <a:spcPts val="5599"/>
              </a:lnSpc>
              <a:buFont typeface="Arial"/>
              <a:buChar char="•"/>
            </a:pPr>
            <a:r>
              <a:rPr lang="en-US" sz="3999" spc="203" dirty="0">
                <a:latin typeface="Roboto"/>
              </a:rPr>
              <a:t>Central </a:t>
            </a:r>
            <a:r>
              <a:rPr lang="en-US" sz="3999" spc="203" dirty="0" err="1">
                <a:latin typeface="Roboto"/>
              </a:rPr>
              <a:t>hidroeléctrica</a:t>
            </a:r>
            <a:r>
              <a:rPr lang="en-US" sz="3999" spc="203" dirty="0">
                <a:latin typeface="Roboto"/>
              </a:rPr>
              <a:t> </a:t>
            </a:r>
            <a:r>
              <a:rPr lang="en-US" sz="3999" spc="203" dirty="0" err="1">
                <a:latin typeface="Roboto"/>
              </a:rPr>
              <a:t>Aguacapa</a:t>
            </a:r>
            <a:endParaRPr lang="en-US" sz="3999" spc="203" dirty="0">
              <a:latin typeface="Roboto"/>
            </a:endParaRPr>
          </a:p>
          <a:p>
            <a:pPr marL="863590" lvl="1" indent="-431795" algn="l">
              <a:lnSpc>
                <a:spcPts val="5599"/>
              </a:lnSpc>
              <a:buFont typeface="Arial"/>
              <a:buChar char="•"/>
            </a:pPr>
            <a:r>
              <a:rPr lang="en-US" sz="3999" spc="203" dirty="0">
                <a:latin typeface="Roboto"/>
              </a:rPr>
              <a:t>Central </a:t>
            </a:r>
            <a:r>
              <a:rPr lang="en-US" sz="3999" spc="203" dirty="0" err="1">
                <a:latin typeface="Roboto"/>
              </a:rPr>
              <a:t>hidroeléctrica</a:t>
            </a:r>
            <a:r>
              <a:rPr lang="en-US" sz="3999" spc="203" dirty="0">
                <a:latin typeface="Roboto"/>
              </a:rPr>
              <a:t> </a:t>
            </a:r>
            <a:r>
              <a:rPr lang="en-US" sz="3999" spc="203" dirty="0" err="1">
                <a:latin typeface="Roboto"/>
              </a:rPr>
              <a:t>Xacbal</a:t>
            </a:r>
            <a:endParaRPr lang="en-US" sz="3999" spc="203" dirty="0">
              <a:latin typeface="Roboto"/>
            </a:endParaRPr>
          </a:p>
          <a:p>
            <a:pPr marL="863590" lvl="1" indent="-431795" algn="l">
              <a:lnSpc>
                <a:spcPts val="5599"/>
              </a:lnSpc>
              <a:buFont typeface="Arial"/>
              <a:buChar char="•"/>
            </a:pPr>
            <a:r>
              <a:rPr lang="en-US" sz="3999" spc="203" dirty="0" err="1">
                <a:latin typeface="Roboto"/>
              </a:rPr>
              <a:t>Hidroeléctrica</a:t>
            </a:r>
            <a:r>
              <a:rPr lang="en-US" sz="3999" spc="203" dirty="0">
                <a:latin typeface="Roboto"/>
              </a:rPr>
              <a:t> </a:t>
            </a:r>
            <a:r>
              <a:rPr lang="en-US" sz="3999" spc="203" dirty="0" err="1">
                <a:latin typeface="Roboto"/>
              </a:rPr>
              <a:t>Chixoy</a:t>
            </a:r>
            <a:endParaRPr lang="en-US" sz="3999" spc="203" dirty="0">
              <a:latin typeface="Roboto"/>
            </a:endParaRPr>
          </a:p>
          <a:p>
            <a:pPr marL="863590" lvl="1" indent="-431795" algn="l">
              <a:lnSpc>
                <a:spcPts val="5599"/>
              </a:lnSpc>
              <a:buFont typeface="Arial"/>
              <a:buChar char="•"/>
            </a:pPr>
            <a:r>
              <a:rPr lang="en-US" sz="3999" spc="203" dirty="0" err="1">
                <a:latin typeface="Roboto"/>
              </a:rPr>
              <a:t>Hidroeléctrica</a:t>
            </a:r>
            <a:r>
              <a:rPr lang="en-US" sz="3999" spc="203" dirty="0">
                <a:latin typeface="Roboto"/>
              </a:rPr>
              <a:t> Rio Las Vacas</a:t>
            </a:r>
          </a:p>
          <a:p>
            <a:pPr marL="863590" lvl="1" indent="-431795" algn="l">
              <a:lnSpc>
                <a:spcPts val="5599"/>
              </a:lnSpc>
              <a:buFont typeface="Arial"/>
              <a:buChar char="•"/>
            </a:pPr>
            <a:r>
              <a:rPr lang="en-US" sz="3999" spc="203" dirty="0" err="1">
                <a:latin typeface="Roboto"/>
              </a:rPr>
              <a:t>Hidroeléctrica</a:t>
            </a:r>
            <a:r>
              <a:rPr lang="en-US" sz="3999" spc="203" dirty="0">
                <a:latin typeface="Roboto"/>
              </a:rPr>
              <a:t> Santa Maria </a:t>
            </a:r>
          </a:p>
          <a:p>
            <a:pPr algn="ctr">
              <a:lnSpc>
                <a:spcPts val="3079"/>
              </a:lnSpc>
              <a:spcBef>
                <a:spcPct val="0"/>
              </a:spcBef>
            </a:pPr>
            <a:endParaRPr lang="en-US" sz="3999" spc="203" dirty="0">
              <a:solidFill>
                <a:srgbClr val="0000FF"/>
              </a:solidFill>
              <a:latin typeface="Roboto"/>
              <a:hlinkClick r:id="rId2" tooltip="https://es.wikipedia.org/wiki/Planta_hidroel%C3%A9ctrica_Santa_Mar%C3%ADa">
                <a:extLst>
                  <a:ext uri="{A12FA001-AC4F-418D-AE19-62706E023703}">
                    <ahyp:hlinkClr xmlns:ahyp="http://schemas.microsoft.com/office/drawing/2018/hyperlinkcolor" val="tx"/>
                  </a:ext>
                </a:extLst>
              </a:hlinkClick>
            </a:endParaRPr>
          </a:p>
          <a:p>
            <a:pPr algn="ctr">
              <a:lnSpc>
                <a:spcPts val="3079"/>
              </a:lnSpc>
              <a:spcBef>
                <a:spcPct val="0"/>
              </a:spcBef>
            </a:pPr>
            <a:endParaRPr lang="en-US" sz="3999" spc="203" dirty="0">
              <a:solidFill>
                <a:srgbClr val="0000FF"/>
              </a:solidFill>
              <a:latin typeface="Roboto"/>
              <a:hlinkClick r:id="rId2" tooltip="https://es.wikipedia.org/wiki/Planta_hidroel%C3%A9ctrica_Santa_Mar%C3%ADa">
                <a:extLst>
                  <a:ext uri="{A12FA001-AC4F-418D-AE19-62706E023703}">
                    <ahyp:hlinkClr xmlns:ahyp="http://schemas.microsoft.com/office/drawing/2018/hyperlinkcolor" val="tx"/>
                  </a:ext>
                </a:extLst>
              </a:hlinkClick>
            </a:endParaRPr>
          </a:p>
        </p:txBody>
      </p:sp>
      <p:sp>
        <p:nvSpPr>
          <p:cNvPr id="6" name="TextBox 6"/>
          <p:cNvSpPr txBox="1"/>
          <p:nvPr/>
        </p:nvSpPr>
        <p:spPr>
          <a:xfrm>
            <a:off x="412472" y="952500"/>
            <a:ext cx="14304789" cy="762000"/>
          </a:xfrm>
          <a:prstGeom prst="rect">
            <a:avLst/>
          </a:prstGeom>
        </p:spPr>
        <p:txBody>
          <a:bodyPr lIns="0" tIns="0" rIns="0" bIns="0" rtlCol="0" anchor="t">
            <a:spAutoFit/>
          </a:bodyPr>
          <a:lstStyle/>
          <a:p>
            <a:pPr algn="ctr">
              <a:lnSpc>
                <a:spcPts val="6299"/>
              </a:lnSpc>
            </a:pPr>
            <a:r>
              <a:rPr lang="en-US" sz="4500">
                <a:solidFill>
                  <a:srgbClr val="000000"/>
                </a:solidFill>
                <a:latin typeface="Open Sans Bold"/>
              </a:rPr>
              <a:t>Centrales Hidroeléctricas en Guatemala</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1759425" y="9733708"/>
            <a:ext cx="6735168" cy="553292"/>
            <a:chOff x="0" y="0"/>
            <a:chExt cx="1773872" cy="145723"/>
          </a:xfrm>
        </p:grpSpPr>
        <p:sp>
          <p:nvSpPr>
            <p:cNvPr id="3" name="Freeform 3"/>
            <p:cNvSpPr/>
            <p:nvPr/>
          </p:nvSpPr>
          <p:spPr>
            <a:xfrm>
              <a:off x="0" y="0"/>
              <a:ext cx="1773872" cy="145723"/>
            </a:xfrm>
            <a:custGeom>
              <a:avLst/>
              <a:gdLst/>
              <a:ahLst/>
              <a:cxnLst/>
              <a:rect l="l" t="t" r="r" b="b"/>
              <a:pathLst>
                <a:path w="1773872" h="145723">
                  <a:moveTo>
                    <a:pt x="0" y="0"/>
                  </a:moveTo>
                  <a:lnTo>
                    <a:pt x="1773872" y="0"/>
                  </a:lnTo>
                  <a:lnTo>
                    <a:pt x="1773872" y="145723"/>
                  </a:lnTo>
                  <a:lnTo>
                    <a:pt x="0" y="145723"/>
                  </a:lnTo>
                  <a:close/>
                </a:path>
              </a:pathLst>
            </a:custGeom>
            <a:solidFill>
              <a:srgbClr val="F23436"/>
            </a:solidFill>
          </p:spPr>
          <p:txBody>
            <a:bodyPr/>
            <a:lstStyle/>
            <a:p>
              <a:endParaRPr lang="es-GT"/>
            </a:p>
          </p:txBody>
        </p:sp>
        <p:sp>
          <p:nvSpPr>
            <p:cNvPr id="4" name="TextBox 4"/>
            <p:cNvSpPr txBox="1"/>
            <p:nvPr/>
          </p:nvSpPr>
          <p:spPr>
            <a:xfrm>
              <a:off x="0" y="-47625"/>
              <a:ext cx="1773872" cy="193348"/>
            </a:xfrm>
            <a:prstGeom prst="rect">
              <a:avLst/>
            </a:prstGeom>
          </p:spPr>
          <p:txBody>
            <a:bodyPr lIns="50800" tIns="50800" rIns="50800" bIns="50800" rtlCol="0" anchor="ctr"/>
            <a:lstStyle/>
            <a:p>
              <a:pPr algn="ctr">
                <a:lnSpc>
                  <a:spcPts val="3079"/>
                </a:lnSpc>
              </a:pPr>
              <a:endParaRPr/>
            </a:p>
          </p:txBody>
        </p:sp>
      </p:grpSp>
      <p:sp>
        <p:nvSpPr>
          <p:cNvPr id="5" name="Freeform 5"/>
          <p:cNvSpPr/>
          <p:nvPr/>
        </p:nvSpPr>
        <p:spPr>
          <a:xfrm>
            <a:off x="8830703" y="602982"/>
            <a:ext cx="9110006" cy="6073337"/>
          </a:xfrm>
          <a:custGeom>
            <a:avLst/>
            <a:gdLst/>
            <a:ahLst/>
            <a:cxnLst/>
            <a:rect l="l" t="t" r="r" b="b"/>
            <a:pathLst>
              <a:path w="9110006" h="6073337">
                <a:moveTo>
                  <a:pt x="0" y="0"/>
                </a:moveTo>
                <a:lnTo>
                  <a:pt x="9110006" y="0"/>
                </a:lnTo>
                <a:lnTo>
                  <a:pt x="9110006" y="6073338"/>
                </a:lnTo>
                <a:lnTo>
                  <a:pt x="0" y="6073338"/>
                </a:lnTo>
                <a:lnTo>
                  <a:pt x="0" y="0"/>
                </a:lnTo>
                <a:close/>
              </a:path>
            </a:pathLst>
          </a:custGeom>
          <a:blipFill>
            <a:blip r:embed="rId2"/>
            <a:stretch>
              <a:fillRect/>
            </a:stretch>
          </a:blipFill>
        </p:spPr>
        <p:txBody>
          <a:bodyPr/>
          <a:lstStyle/>
          <a:p>
            <a:endParaRPr lang="es-GT"/>
          </a:p>
        </p:txBody>
      </p:sp>
      <p:sp>
        <p:nvSpPr>
          <p:cNvPr id="6" name="TextBox 6"/>
          <p:cNvSpPr txBox="1"/>
          <p:nvPr/>
        </p:nvSpPr>
        <p:spPr>
          <a:xfrm>
            <a:off x="1763931" y="360045"/>
            <a:ext cx="5612388" cy="1261111"/>
          </a:xfrm>
          <a:prstGeom prst="rect">
            <a:avLst/>
          </a:prstGeom>
        </p:spPr>
        <p:txBody>
          <a:bodyPr lIns="0" tIns="0" rIns="0" bIns="0" rtlCol="0" anchor="t">
            <a:spAutoFit/>
          </a:bodyPr>
          <a:lstStyle/>
          <a:p>
            <a:pPr algn="ctr">
              <a:lnSpc>
                <a:spcPts val="5039"/>
              </a:lnSpc>
              <a:spcBef>
                <a:spcPct val="0"/>
              </a:spcBef>
            </a:pPr>
            <a:r>
              <a:rPr lang="en-US" sz="3599" spc="183">
                <a:solidFill>
                  <a:srgbClr val="000000"/>
                </a:solidFill>
                <a:latin typeface="Roboto Bold"/>
              </a:rPr>
              <a:t>Central hidroeléctrica Aguacapa</a:t>
            </a:r>
          </a:p>
        </p:txBody>
      </p:sp>
      <p:sp>
        <p:nvSpPr>
          <p:cNvPr id="7" name="TextBox 7"/>
          <p:cNvSpPr txBox="1"/>
          <p:nvPr/>
        </p:nvSpPr>
        <p:spPr>
          <a:xfrm>
            <a:off x="309546" y="2296016"/>
            <a:ext cx="8521157" cy="3657601"/>
          </a:xfrm>
          <a:prstGeom prst="rect">
            <a:avLst/>
          </a:prstGeom>
        </p:spPr>
        <p:txBody>
          <a:bodyPr lIns="0" tIns="0" rIns="0" bIns="0" rtlCol="0" anchor="t">
            <a:spAutoFit/>
          </a:bodyPr>
          <a:lstStyle/>
          <a:p>
            <a:pPr algn="l">
              <a:lnSpc>
                <a:spcPts val="4199"/>
              </a:lnSpc>
              <a:spcBef>
                <a:spcPct val="0"/>
              </a:spcBef>
            </a:pPr>
            <a:r>
              <a:rPr lang="en-US" sz="2999" spc="152">
                <a:solidFill>
                  <a:srgbClr val="000000"/>
                </a:solidFill>
                <a:latin typeface="Roboto"/>
              </a:rPr>
              <a:t>El embalse tiene una capacidad de 300 mil metros cúbicos, el agua se transporta a la casa de máquinas a través de una tubería de 16 kilómetros de longitud y genera energía mediante tres turbinas de 30 Megavatios (MW) cada una, para sumar una capacidad total de 90 MW.</a:t>
            </a:r>
          </a:p>
        </p:txBody>
      </p:sp>
      <p:sp>
        <p:nvSpPr>
          <p:cNvPr id="8" name="TextBox 8"/>
          <p:cNvSpPr txBox="1"/>
          <p:nvPr/>
        </p:nvSpPr>
        <p:spPr>
          <a:xfrm>
            <a:off x="472705" y="6914117"/>
            <a:ext cx="17342589" cy="1562101"/>
          </a:xfrm>
          <a:prstGeom prst="rect">
            <a:avLst/>
          </a:prstGeom>
        </p:spPr>
        <p:txBody>
          <a:bodyPr lIns="0" tIns="0" rIns="0" bIns="0" rtlCol="0" anchor="t">
            <a:spAutoFit/>
          </a:bodyPr>
          <a:lstStyle/>
          <a:p>
            <a:pPr algn="just">
              <a:lnSpc>
                <a:spcPts val="4199"/>
              </a:lnSpc>
              <a:spcBef>
                <a:spcPct val="0"/>
              </a:spcBef>
            </a:pPr>
            <a:r>
              <a:rPr lang="en-US" sz="2999" spc="152">
                <a:solidFill>
                  <a:srgbClr val="000000"/>
                </a:solidFill>
                <a:latin typeface="Roboto"/>
              </a:rPr>
              <a:t>La planta se ubica entre los departamentos de Santa Rosa y Escuintla, comenzó a operar en 1983, formaba parte del programa del INDE para el aprovechamiento del potencial de la cuenca del río del mismo nombre.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1759425" y="9733708"/>
            <a:ext cx="6735168" cy="553292"/>
            <a:chOff x="0" y="0"/>
            <a:chExt cx="1773872" cy="145723"/>
          </a:xfrm>
        </p:grpSpPr>
        <p:sp>
          <p:nvSpPr>
            <p:cNvPr id="3" name="Freeform 3"/>
            <p:cNvSpPr/>
            <p:nvPr/>
          </p:nvSpPr>
          <p:spPr>
            <a:xfrm>
              <a:off x="0" y="0"/>
              <a:ext cx="1773872" cy="145723"/>
            </a:xfrm>
            <a:custGeom>
              <a:avLst/>
              <a:gdLst/>
              <a:ahLst/>
              <a:cxnLst/>
              <a:rect l="l" t="t" r="r" b="b"/>
              <a:pathLst>
                <a:path w="1773872" h="145723">
                  <a:moveTo>
                    <a:pt x="0" y="0"/>
                  </a:moveTo>
                  <a:lnTo>
                    <a:pt x="1773872" y="0"/>
                  </a:lnTo>
                  <a:lnTo>
                    <a:pt x="1773872" y="145723"/>
                  </a:lnTo>
                  <a:lnTo>
                    <a:pt x="0" y="145723"/>
                  </a:lnTo>
                  <a:close/>
                </a:path>
              </a:pathLst>
            </a:custGeom>
            <a:solidFill>
              <a:srgbClr val="F23436"/>
            </a:solidFill>
          </p:spPr>
          <p:txBody>
            <a:bodyPr/>
            <a:lstStyle/>
            <a:p>
              <a:endParaRPr lang="es-GT"/>
            </a:p>
          </p:txBody>
        </p:sp>
        <p:sp>
          <p:nvSpPr>
            <p:cNvPr id="4" name="TextBox 4"/>
            <p:cNvSpPr txBox="1"/>
            <p:nvPr/>
          </p:nvSpPr>
          <p:spPr>
            <a:xfrm>
              <a:off x="0" y="-47625"/>
              <a:ext cx="1773872" cy="193348"/>
            </a:xfrm>
            <a:prstGeom prst="rect">
              <a:avLst/>
            </a:prstGeom>
          </p:spPr>
          <p:txBody>
            <a:bodyPr lIns="50800" tIns="50800" rIns="50800" bIns="50800" rtlCol="0" anchor="ctr"/>
            <a:lstStyle/>
            <a:p>
              <a:pPr algn="ctr">
                <a:lnSpc>
                  <a:spcPts val="3079"/>
                </a:lnSpc>
              </a:pPr>
              <a:endParaRPr/>
            </a:p>
          </p:txBody>
        </p:sp>
      </p:grpSp>
      <p:sp>
        <p:nvSpPr>
          <p:cNvPr id="5" name="Freeform 5"/>
          <p:cNvSpPr/>
          <p:nvPr/>
        </p:nvSpPr>
        <p:spPr>
          <a:xfrm>
            <a:off x="9556719" y="540689"/>
            <a:ext cx="8161003" cy="5469154"/>
          </a:xfrm>
          <a:custGeom>
            <a:avLst/>
            <a:gdLst/>
            <a:ahLst/>
            <a:cxnLst/>
            <a:rect l="l" t="t" r="r" b="b"/>
            <a:pathLst>
              <a:path w="8161003" h="5469154">
                <a:moveTo>
                  <a:pt x="0" y="0"/>
                </a:moveTo>
                <a:lnTo>
                  <a:pt x="8161003" y="0"/>
                </a:lnTo>
                <a:lnTo>
                  <a:pt x="8161003" y="5469154"/>
                </a:lnTo>
                <a:lnTo>
                  <a:pt x="0" y="5469154"/>
                </a:lnTo>
                <a:lnTo>
                  <a:pt x="0" y="0"/>
                </a:lnTo>
                <a:close/>
              </a:path>
            </a:pathLst>
          </a:custGeom>
          <a:blipFill>
            <a:blip r:embed="rId2"/>
            <a:stretch>
              <a:fillRect/>
            </a:stretch>
          </a:blipFill>
        </p:spPr>
        <p:txBody>
          <a:bodyPr/>
          <a:lstStyle/>
          <a:p>
            <a:endParaRPr lang="es-GT"/>
          </a:p>
        </p:txBody>
      </p:sp>
      <p:sp>
        <p:nvSpPr>
          <p:cNvPr id="6" name="TextBox 6"/>
          <p:cNvSpPr txBox="1"/>
          <p:nvPr/>
        </p:nvSpPr>
        <p:spPr>
          <a:xfrm>
            <a:off x="1324318" y="387350"/>
            <a:ext cx="7078597" cy="1216026"/>
          </a:xfrm>
          <a:prstGeom prst="rect">
            <a:avLst/>
          </a:prstGeom>
        </p:spPr>
        <p:txBody>
          <a:bodyPr lIns="0" tIns="0" rIns="0" bIns="0" rtlCol="0" anchor="t">
            <a:spAutoFit/>
          </a:bodyPr>
          <a:lstStyle/>
          <a:p>
            <a:pPr algn="ctr">
              <a:lnSpc>
                <a:spcPts val="4899"/>
              </a:lnSpc>
              <a:spcBef>
                <a:spcPct val="0"/>
              </a:spcBef>
            </a:pPr>
            <a:r>
              <a:rPr lang="en-US" sz="3499" spc="178">
                <a:solidFill>
                  <a:srgbClr val="000000"/>
                </a:solidFill>
                <a:latin typeface="Roboto Bold"/>
              </a:rPr>
              <a:t>Proyecto hidroeléctrico Xacbal, Guatemala</a:t>
            </a:r>
          </a:p>
        </p:txBody>
      </p:sp>
      <p:sp>
        <p:nvSpPr>
          <p:cNvPr id="7" name="TextBox 7"/>
          <p:cNvSpPr txBox="1"/>
          <p:nvPr/>
        </p:nvSpPr>
        <p:spPr>
          <a:xfrm>
            <a:off x="283782" y="2085154"/>
            <a:ext cx="8860218" cy="1118871"/>
          </a:xfrm>
          <a:prstGeom prst="rect">
            <a:avLst/>
          </a:prstGeom>
        </p:spPr>
        <p:txBody>
          <a:bodyPr lIns="0" tIns="0" rIns="0" bIns="0" rtlCol="0" anchor="t">
            <a:spAutoFit/>
          </a:bodyPr>
          <a:lstStyle/>
          <a:p>
            <a:pPr algn="l">
              <a:lnSpc>
                <a:spcPts val="4479"/>
              </a:lnSpc>
              <a:spcBef>
                <a:spcPct val="0"/>
              </a:spcBef>
            </a:pPr>
            <a:r>
              <a:rPr lang="en-US" sz="3199" spc="163">
                <a:solidFill>
                  <a:srgbClr val="000000"/>
                </a:solidFill>
                <a:latin typeface="Roboto"/>
              </a:rPr>
              <a:t>la presa se ubica dentro del municipio de Chajul, departamento de El Quiché. </a:t>
            </a:r>
          </a:p>
        </p:txBody>
      </p:sp>
      <p:sp>
        <p:nvSpPr>
          <p:cNvPr id="8" name="TextBox 8"/>
          <p:cNvSpPr txBox="1"/>
          <p:nvPr/>
        </p:nvSpPr>
        <p:spPr>
          <a:xfrm>
            <a:off x="141891" y="3618679"/>
            <a:ext cx="9144000" cy="2242821"/>
          </a:xfrm>
          <a:prstGeom prst="rect">
            <a:avLst/>
          </a:prstGeom>
        </p:spPr>
        <p:txBody>
          <a:bodyPr lIns="0" tIns="0" rIns="0" bIns="0" rtlCol="0" anchor="t">
            <a:spAutoFit/>
          </a:bodyPr>
          <a:lstStyle/>
          <a:p>
            <a:pPr algn="just">
              <a:lnSpc>
                <a:spcPts val="4479"/>
              </a:lnSpc>
              <a:spcBef>
                <a:spcPct val="0"/>
              </a:spcBef>
            </a:pPr>
            <a:r>
              <a:rPr lang="en-US" sz="3199" spc="163">
                <a:solidFill>
                  <a:srgbClr val="000000"/>
                </a:solidFill>
                <a:latin typeface="Roboto"/>
              </a:rPr>
              <a:t>genera una potencia de 94 MW, se inició la construcción en noviembre de 2,006, y en julio del 2,010 inicia sus operaciones comerciales.</a:t>
            </a:r>
          </a:p>
        </p:txBody>
      </p:sp>
      <p:sp>
        <p:nvSpPr>
          <p:cNvPr id="9" name="TextBox 9"/>
          <p:cNvSpPr txBox="1"/>
          <p:nvPr/>
        </p:nvSpPr>
        <p:spPr>
          <a:xfrm>
            <a:off x="656241" y="6712265"/>
            <a:ext cx="17259300" cy="2242821"/>
          </a:xfrm>
          <a:prstGeom prst="rect">
            <a:avLst/>
          </a:prstGeom>
        </p:spPr>
        <p:txBody>
          <a:bodyPr lIns="0" tIns="0" rIns="0" bIns="0" rtlCol="0" anchor="t">
            <a:spAutoFit/>
          </a:bodyPr>
          <a:lstStyle/>
          <a:p>
            <a:pPr algn="just">
              <a:lnSpc>
                <a:spcPts val="4479"/>
              </a:lnSpc>
              <a:spcBef>
                <a:spcPct val="0"/>
              </a:spcBef>
            </a:pPr>
            <a:r>
              <a:rPr lang="en-US" sz="3199" spc="163" dirty="0" err="1">
                <a:solidFill>
                  <a:srgbClr val="000000"/>
                </a:solidFill>
                <a:latin typeface="Roboto"/>
              </a:rPr>
              <a:t>Cuenta</a:t>
            </a:r>
            <a:r>
              <a:rPr lang="en-US" sz="3199" spc="163" dirty="0">
                <a:solidFill>
                  <a:srgbClr val="000000"/>
                </a:solidFill>
                <a:latin typeface="Roboto"/>
              </a:rPr>
              <a:t> con </a:t>
            </a:r>
            <a:r>
              <a:rPr lang="en-US" sz="3199" spc="163" dirty="0" err="1">
                <a:solidFill>
                  <a:srgbClr val="000000"/>
                </a:solidFill>
                <a:latin typeface="Roboto"/>
              </a:rPr>
              <a:t>una</a:t>
            </a:r>
            <a:r>
              <a:rPr lang="en-US" sz="3199" spc="163" dirty="0">
                <a:solidFill>
                  <a:srgbClr val="000000"/>
                </a:solidFill>
                <a:latin typeface="Roboto"/>
              </a:rPr>
              <a:t> presa de </a:t>
            </a:r>
            <a:r>
              <a:rPr lang="en-US" sz="3199" spc="163" dirty="0" err="1">
                <a:solidFill>
                  <a:srgbClr val="000000"/>
                </a:solidFill>
                <a:latin typeface="Roboto"/>
              </a:rPr>
              <a:t>gravedad</a:t>
            </a:r>
            <a:r>
              <a:rPr lang="en-US" sz="3199" spc="163" dirty="0">
                <a:solidFill>
                  <a:srgbClr val="000000"/>
                </a:solidFill>
                <a:latin typeface="Roboto"/>
              </a:rPr>
              <a:t> con </a:t>
            </a:r>
            <a:r>
              <a:rPr lang="en-US" sz="3199" spc="163" dirty="0" err="1">
                <a:solidFill>
                  <a:srgbClr val="000000"/>
                </a:solidFill>
                <a:latin typeface="Roboto"/>
              </a:rPr>
              <a:t>una</a:t>
            </a:r>
            <a:r>
              <a:rPr lang="en-US" sz="3199" spc="163" dirty="0">
                <a:solidFill>
                  <a:srgbClr val="000000"/>
                </a:solidFill>
                <a:latin typeface="Roboto"/>
              </a:rPr>
              <a:t> </a:t>
            </a:r>
            <a:r>
              <a:rPr lang="en-US" sz="3199" spc="163" dirty="0" err="1">
                <a:solidFill>
                  <a:srgbClr val="000000"/>
                </a:solidFill>
                <a:latin typeface="Roboto"/>
              </a:rPr>
              <a:t>altura</a:t>
            </a:r>
            <a:r>
              <a:rPr lang="en-US" sz="3199" spc="163" dirty="0">
                <a:solidFill>
                  <a:srgbClr val="000000"/>
                </a:solidFill>
                <a:latin typeface="Roboto"/>
              </a:rPr>
              <a:t> de 10,35 m que </a:t>
            </a:r>
            <a:r>
              <a:rPr lang="en-US" sz="3199" spc="163" dirty="0" err="1">
                <a:solidFill>
                  <a:srgbClr val="000000"/>
                </a:solidFill>
                <a:latin typeface="Roboto"/>
              </a:rPr>
              <a:t>utiliza</a:t>
            </a:r>
            <a:r>
              <a:rPr lang="en-US" sz="3199" spc="163" dirty="0">
                <a:solidFill>
                  <a:srgbClr val="000000"/>
                </a:solidFill>
                <a:latin typeface="Roboto"/>
              </a:rPr>
              <a:t> el </a:t>
            </a:r>
            <a:r>
              <a:rPr lang="en-US" sz="3199" spc="163" dirty="0" err="1">
                <a:solidFill>
                  <a:srgbClr val="000000"/>
                </a:solidFill>
                <a:latin typeface="Roboto"/>
              </a:rPr>
              <a:t>agua</a:t>
            </a:r>
            <a:r>
              <a:rPr lang="en-US" sz="3199" spc="163" dirty="0">
                <a:solidFill>
                  <a:srgbClr val="000000"/>
                </a:solidFill>
                <a:latin typeface="Roboto"/>
              </a:rPr>
              <a:t> del </a:t>
            </a:r>
            <a:r>
              <a:rPr lang="en-US" sz="3199" spc="163" dirty="0" err="1">
                <a:solidFill>
                  <a:srgbClr val="000000"/>
                </a:solidFill>
                <a:latin typeface="Roboto"/>
              </a:rPr>
              <a:t>río</a:t>
            </a:r>
            <a:r>
              <a:rPr lang="en-US" sz="3199" spc="163" dirty="0">
                <a:solidFill>
                  <a:srgbClr val="000000"/>
                </a:solidFill>
                <a:latin typeface="Roboto"/>
              </a:rPr>
              <a:t> </a:t>
            </a:r>
            <a:r>
              <a:rPr lang="en-US" sz="3199" spc="163" dirty="0" err="1">
                <a:solidFill>
                  <a:srgbClr val="000000"/>
                </a:solidFill>
                <a:latin typeface="Roboto"/>
              </a:rPr>
              <a:t>Xacbal</a:t>
            </a:r>
            <a:r>
              <a:rPr lang="en-US" sz="3199" spc="163" dirty="0">
                <a:solidFill>
                  <a:srgbClr val="000000"/>
                </a:solidFill>
                <a:latin typeface="Roboto"/>
              </a:rPr>
              <a:t>. Tiene 2 </a:t>
            </a:r>
            <a:r>
              <a:rPr lang="en-US" sz="3199" spc="163" dirty="0" err="1">
                <a:solidFill>
                  <a:srgbClr val="000000"/>
                </a:solidFill>
                <a:latin typeface="Roboto"/>
              </a:rPr>
              <a:t>turbinas</a:t>
            </a:r>
            <a:r>
              <a:rPr lang="en-US" sz="3199" spc="163" dirty="0">
                <a:solidFill>
                  <a:srgbClr val="000000"/>
                </a:solidFill>
                <a:latin typeface="Roboto"/>
              </a:rPr>
              <a:t> Francis vertical de Voith-Siemens con </a:t>
            </a:r>
            <a:r>
              <a:rPr lang="en-US" sz="3199" spc="163" dirty="0" err="1">
                <a:solidFill>
                  <a:srgbClr val="000000"/>
                </a:solidFill>
                <a:latin typeface="Roboto"/>
              </a:rPr>
              <a:t>una</a:t>
            </a:r>
            <a:r>
              <a:rPr lang="en-US" sz="3199" spc="163" dirty="0">
                <a:solidFill>
                  <a:srgbClr val="000000"/>
                </a:solidFill>
                <a:latin typeface="Roboto"/>
              </a:rPr>
              <a:t> capacidad </a:t>
            </a:r>
            <a:r>
              <a:rPr lang="en-US" sz="3199" spc="163" dirty="0" err="1">
                <a:solidFill>
                  <a:srgbClr val="000000"/>
                </a:solidFill>
                <a:latin typeface="Roboto"/>
              </a:rPr>
              <a:t>instalada</a:t>
            </a:r>
            <a:r>
              <a:rPr lang="en-US" sz="3199" spc="163" dirty="0">
                <a:solidFill>
                  <a:srgbClr val="000000"/>
                </a:solidFill>
                <a:latin typeface="Roboto"/>
              </a:rPr>
              <a:t> de 94 MW. Se </a:t>
            </a:r>
            <a:r>
              <a:rPr lang="en-US" sz="3199" spc="163" dirty="0" err="1">
                <a:solidFill>
                  <a:srgbClr val="000000"/>
                </a:solidFill>
                <a:latin typeface="Roboto"/>
              </a:rPr>
              <a:t>estima</a:t>
            </a:r>
            <a:r>
              <a:rPr lang="en-US" sz="3199" spc="163" dirty="0">
                <a:solidFill>
                  <a:srgbClr val="000000"/>
                </a:solidFill>
                <a:latin typeface="Roboto"/>
              </a:rPr>
              <a:t> que </a:t>
            </a:r>
            <a:r>
              <a:rPr lang="en-US" sz="3199" spc="163" dirty="0" err="1">
                <a:solidFill>
                  <a:srgbClr val="000000"/>
                </a:solidFill>
                <a:latin typeface="Roboto"/>
              </a:rPr>
              <a:t>genere</a:t>
            </a:r>
            <a:r>
              <a:rPr lang="en-US" sz="3199" spc="163" dirty="0">
                <a:solidFill>
                  <a:srgbClr val="000000"/>
                </a:solidFill>
                <a:latin typeface="Roboto"/>
              </a:rPr>
              <a:t> un </a:t>
            </a:r>
            <a:r>
              <a:rPr lang="en-US" sz="3199" spc="163" dirty="0" err="1">
                <a:solidFill>
                  <a:srgbClr val="000000"/>
                </a:solidFill>
                <a:latin typeface="Roboto"/>
              </a:rPr>
              <a:t>promedio</a:t>
            </a:r>
            <a:r>
              <a:rPr lang="en-US" sz="3199" spc="163" dirty="0">
                <a:solidFill>
                  <a:srgbClr val="000000"/>
                </a:solidFill>
                <a:latin typeface="Roboto"/>
              </a:rPr>
              <a:t> </a:t>
            </a:r>
            <a:r>
              <a:rPr lang="en-US" sz="3199" spc="163" dirty="0" err="1">
                <a:solidFill>
                  <a:srgbClr val="000000"/>
                </a:solidFill>
                <a:latin typeface="Roboto"/>
              </a:rPr>
              <a:t>anual</a:t>
            </a:r>
            <a:r>
              <a:rPr lang="en-US" sz="3199" spc="163" dirty="0">
                <a:solidFill>
                  <a:srgbClr val="000000"/>
                </a:solidFill>
                <a:latin typeface="Roboto"/>
              </a:rPr>
              <a:t> 486 GWh de </a:t>
            </a:r>
            <a:r>
              <a:rPr lang="en-US" sz="3199" spc="163" dirty="0" err="1">
                <a:solidFill>
                  <a:srgbClr val="000000"/>
                </a:solidFill>
                <a:latin typeface="Roboto"/>
              </a:rPr>
              <a:t>electricidad</a:t>
            </a:r>
            <a:r>
              <a:rPr lang="en-US" sz="3199" spc="163" dirty="0">
                <a:solidFill>
                  <a:srgbClr val="000000"/>
                </a:solidFill>
                <a:latin typeface="Roboto"/>
              </a:rPr>
              <a: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1759425" y="9733708"/>
            <a:ext cx="6735168" cy="553292"/>
            <a:chOff x="0" y="0"/>
            <a:chExt cx="1773872" cy="145723"/>
          </a:xfrm>
        </p:grpSpPr>
        <p:sp>
          <p:nvSpPr>
            <p:cNvPr id="3" name="Freeform 3"/>
            <p:cNvSpPr/>
            <p:nvPr/>
          </p:nvSpPr>
          <p:spPr>
            <a:xfrm>
              <a:off x="0" y="0"/>
              <a:ext cx="1773872" cy="145723"/>
            </a:xfrm>
            <a:custGeom>
              <a:avLst/>
              <a:gdLst/>
              <a:ahLst/>
              <a:cxnLst/>
              <a:rect l="l" t="t" r="r" b="b"/>
              <a:pathLst>
                <a:path w="1773872" h="145723">
                  <a:moveTo>
                    <a:pt x="0" y="0"/>
                  </a:moveTo>
                  <a:lnTo>
                    <a:pt x="1773872" y="0"/>
                  </a:lnTo>
                  <a:lnTo>
                    <a:pt x="1773872" y="145723"/>
                  </a:lnTo>
                  <a:lnTo>
                    <a:pt x="0" y="145723"/>
                  </a:lnTo>
                  <a:close/>
                </a:path>
              </a:pathLst>
            </a:custGeom>
            <a:solidFill>
              <a:srgbClr val="F23436"/>
            </a:solidFill>
          </p:spPr>
          <p:txBody>
            <a:bodyPr/>
            <a:lstStyle/>
            <a:p>
              <a:endParaRPr lang="es-GT"/>
            </a:p>
          </p:txBody>
        </p:sp>
        <p:sp>
          <p:nvSpPr>
            <p:cNvPr id="4" name="TextBox 4"/>
            <p:cNvSpPr txBox="1"/>
            <p:nvPr/>
          </p:nvSpPr>
          <p:spPr>
            <a:xfrm>
              <a:off x="0" y="-47625"/>
              <a:ext cx="1773872" cy="193348"/>
            </a:xfrm>
            <a:prstGeom prst="rect">
              <a:avLst/>
            </a:prstGeom>
          </p:spPr>
          <p:txBody>
            <a:bodyPr lIns="50800" tIns="50800" rIns="50800" bIns="50800" rtlCol="0" anchor="ctr"/>
            <a:lstStyle/>
            <a:p>
              <a:pPr algn="ctr">
                <a:lnSpc>
                  <a:spcPts val="3079"/>
                </a:lnSpc>
              </a:pPr>
              <a:endParaRPr/>
            </a:p>
          </p:txBody>
        </p:sp>
      </p:grpSp>
      <p:sp>
        <p:nvSpPr>
          <p:cNvPr id="5" name="Freeform 5"/>
          <p:cNvSpPr/>
          <p:nvPr/>
        </p:nvSpPr>
        <p:spPr>
          <a:xfrm>
            <a:off x="6813556" y="458469"/>
            <a:ext cx="11140586" cy="5570293"/>
          </a:xfrm>
          <a:custGeom>
            <a:avLst/>
            <a:gdLst/>
            <a:ahLst/>
            <a:cxnLst/>
            <a:rect l="l" t="t" r="r" b="b"/>
            <a:pathLst>
              <a:path w="11140586" h="5570293">
                <a:moveTo>
                  <a:pt x="0" y="0"/>
                </a:moveTo>
                <a:lnTo>
                  <a:pt x="11140586" y="0"/>
                </a:lnTo>
                <a:lnTo>
                  <a:pt x="11140586" y="5570293"/>
                </a:lnTo>
                <a:lnTo>
                  <a:pt x="0" y="5570293"/>
                </a:lnTo>
                <a:lnTo>
                  <a:pt x="0" y="0"/>
                </a:lnTo>
                <a:close/>
              </a:path>
            </a:pathLst>
          </a:custGeom>
          <a:blipFill>
            <a:blip r:embed="rId2"/>
            <a:stretch>
              <a:fillRect/>
            </a:stretch>
          </a:blipFill>
        </p:spPr>
        <p:txBody>
          <a:bodyPr/>
          <a:lstStyle/>
          <a:p>
            <a:endParaRPr lang="es-GT"/>
          </a:p>
        </p:txBody>
      </p:sp>
      <p:sp>
        <p:nvSpPr>
          <p:cNvPr id="6" name="TextBox 6"/>
          <p:cNvSpPr txBox="1"/>
          <p:nvPr/>
        </p:nvSpPr>
        <p:spPr>
          <a:xfrm>
            <a:off x="1028700" y="382269"/>
            <a:ext cx="5179814" cy="646431"/>
          </a:xfrm>
          <a:prstGeom prst="rect">
            <a:avLst/>
          </a:prstGeom>
        </p:spPr>
        <p:txBody>
          <a:bodyPr lIns="0" tIns="0" rIns="0" bIns="0" rtlCol="0" anchor="t">
            <a:spAutoFit/>
          </a:bodyPr>
          <a:lstStyle/>
          <a:p>
            <a:pPr algn="ctr">
              <a:lnSpc>
                <a:spcPts val="5319"/>
              </a:lnSpc>
              <a:spcBef>
                <a:spcPct val="0"/>
              </a:spcBef>
            </a:pPr>
            <a:r>
              <a:rPr lang="en-US" sz="3799" spc="193">
                <a:solidFill>
                  <a:srgbClr val="000000"/>
                </a:solidFill>
                <a:latin typeface="Roboto Bold"/>
              </a:rPr>
              <a:t>Hidroeléctrica Chixoy</a:t>
            </a:r>
          </a:p>
        </p:txBody>
      </p:sp>
      <p:sp>
        <p:nvSpPr>
          <p:cNvPr id="7" name="TextBox 7"/>
          <p:cNvSpPr txBox="1"/>
          <p:nvPr/>
        </p:nvSpPr>
        <p:spPr>
          <a:xfrm>
            <a:off x="248298" y="1942414"/>
            <a:ext cx="6365287" cy="2609851"/>
          </a:xfrm>
          <a:prstGeom prst="rect">
            <a:avLst/>
          </a:prstGeom>
        </p:spPr>
        <p:txBody>
          <a:bodyPr lIns="0" tIns="0" rIns="0" bIns="0" rtlCol="0" anchor="t">
            <a:spAutoFit/>
          </a:bodyPr>
          <a:lstStyle/>
          <a:p>
            <a:pPr algn="just">
              <a:lnSpc>
                <a:spcPts val="4199"/>
              </a:lnSpc>
              <a:spcBef>
                <a:spcPct val="0"/>
              </a:spcBef>
            </a:pPr>
            <a:r>
              <a:rPr lang="en-US" sz="2999" spc="152">
                <a:solidFill>
                  <a:srgbClr val="000000"/>
                </a:solidFill>
                <a:latin typeface="Roboto"/>
              </a:rPr>
              <a:t>Actualmente la hidroeléctrica Chixoy representa un 60% del total de la energía eléctrica generada por el INDE y un 15% a nivel nacional.</a:t>
            </a:r>
          </a:p>
        </p:txBody>
      </p:sp>
      <p:sp>
        <p:nvSpPr>
          <p:cNvPr id="8" name="TextBox 8"/>
          <p:cNvSpPr txBox="1"/>
          <p:nvPr/>
        </p:nvSpPr>
        <p:spPr>
          <a:xfrm>
            <a:off x="1028700" y="6712796"/>
            <a:ext cx="16845440" cy="1562101"/>
          </a:xfrm>
          <a:prstGeom prst="rect">
            <a:avLst/>
          </a:prstGeom>
        </p:spPr>
        <p:txBody>
          <a:bodyPr lIns="0" tIns="0" rIns="0" bIns="0" rtlCol="0" anchor="t">
            <a:spAutoFit/>
          </a:bodyPr>
          <a:lstStyle/>
          <a:p>
            <a:pPr algn="just">
              <a:lnSpc>
                <a:spcPts val="4199"/>
              </a:lnSpc>
              <a:spcBef>
                <a:spcPct val="0"/>
              </a:spcBef>
            </a:pPr>
            <a:r>
              <a:rPr lang="en-US" sz="2999" spc="152">
                <a:solidFill>
                  <a:srgbClr val="000000"/>
                </a:solidFill>
                <a:latin typeface="Roboto"/>
              </a:rPr>
              <a:t>El </a:t>
            </a:r>
            <a:r>
              <a:rPr lang="en-US" sz="2999" spc="152">
                <a:solidFill>
                  <a:srgbClr val="000000"/>
                </a:solidFill>
                <a:latin typeface="Roboto"/>
                <a:hlinkClick r:id="rId3" tooltip="https://agn.gt/lluvias-favorecen-operacion-en-hidroelectrica-chixoy/"/>
              </a:rPr>
              <a:t>embalse</a:t>
            </a:r>
            <a:r>
              <a:rPr lang="en-US" sz="2999" spc="152">
                <a:solidFill>
                  <a:srgbClr val="000000"/>
                </a:solidFill>
                <a:latin typeface="Roboto"/>
              </a:rPr>
              <a:t> de la hidroeléctrica Chixoy está ubicado en San Cristóbal Verapaz, Alta Verapaz, en una zona de montañas donde confluyen los ríos Salamá, Carchelá y Chixoy. Se trata de una represa de 105 metros de altura construida a finales de los años 70.</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1759425" y="9733708"/>
            <a:ext cx="6735168" cy="553292"/>
            <a:chOff x="0" y="0"/>
            <a:chExt cx="1773872" cy="145723"/>
          </a:xfrm>
        </p:grpSpPr>
        <p:sp>
          <p:nvSpPr>
            <p:cNvPr id="3" name="Freeform 3"/>
            <p:cNvSpPr/>
            <p:nvPr/>
          </p:nvSpPr>
          <p:spPr>
            <a:xfrm>
              <a:off x="0" y="0"/>
              <a:ext cx="1773872" cy="145723"/>
            </a:xfrm>
            <a:custGeom>
              <a:avLst/>
              <a:gdLst/>
              <a:ahLst/>
              <a:cxnLst/>
              <a:rect l="l" t="t" r="r" b="b"/>
              <a:pathLst>
                <a:path w="1773872" h="145723">
                  <a:moveTo>
                    <a:pt x="0" y="0"/>
                  </a:moveTo>
                  <a:lnTo>
                    <a:pt x="1773872" y="0"/>
                  </a:lnTo>
                  <a:lnTo>
                    <a:pt x="1773872" y="145723"/>
                  </a:lnTo>
                  <a:lnTo>
                    <a:pt x="0" y="145723"/>
                  </a:lnTo>
                  <a:close/>
                </a:path>
              </a:pathLst>
            </a:custGeom>
            <a:solidFill>
              <a:srgbClr val="F23436"/>
            </a:solidFill>
          </p:spPr>
          <p:txBody>
            <a:bodyPr/>
            <a:lstStyle/>
            <a:p>
              <a:endParaRPr lang="es-GT"/>
            </a:p>
          </p:txBody>
        </p:sp>
        <p:sp>
          <p:nvSpPr>
            <p:cNvPr id="4" name="TextBox 4"/>
            <p:cNvSpPr txBox="1"/>
            <p:nvPr/>
          </p:nvSpPr>
          <p:spPr>
            <a:xfrm>
              <a:off x="0" y="-47625"/>
              <a:ext cx="1773872" cy="193348"/>
            </a:xfrm>
            <a:prstGeom prst="rect">
              <a:avLst/>
            </a:prstGeom>
          </p:spPr>
          <p:txBody>
            <a:bodyPr lIns="50800" tIns="50800" rIns="50800" bIns="50800" rtlCol="0" anchor="ctr"/>
            <a:lstStyle/>
            <a:p>
              <a:pPr algn="ctr">
                <a:lnSpc>
                  <a:spcPts val="3079"/>
                </a:lnSpc>
              </a:pPr>
              <a:endParaRPr/>
            </a:p>
          </p:txBody>
        </p:sp>
      </p:grpSp>
      <p:sp>
        <p:nvSpPr>
          <p:cNvPr id="5" name="Freeform 5"/>
          <p:cNvSpPr/>
          <p:nvPr/>
        </p:nvSpPr>
        <p:spPr>
          <a:xfrm>
            <a:off x="9463576" y="1028700"/>
            <a:ext cx="8441884" cy="5286667"/>
          </a:xfrm>
          <a:custGeom>
            <a:avLst/>
            <a:gdLst/>
            <a:ahLst/>
            <a:cxnLst/>
            <a:rect l="l" t="t" r="r" b="b"/>
            <a:pathLst>
              <a:path w="8441884" h="5286667">
                <a:moveTo>
                  <a:pt x="0" y="0"/>
                </a:moveTo>
                <a:lnTo>
                  <a:pt x="8441884" y="0"/>
                </a:lnTo>
                <a:lnTo>
                  <a:pt x="8441884" y="5286667"/>
                </a:lnTo>
                <a:lnTo>
                  <a:pt x="0" y="5286667"/>
                </a:lnTo>
                <a:lnTo>
                  <a:pt x="0" y="0"/>
                </a:lnTo>
                <a:close/>
              </a:path>
            </a:pathLst>
          </a:custGeom>
          <a:blipFill>
            <a:blip r:embed="rId2"/>
            <a:stretch>
              <a:fillRect/>
            </a:stretch>
          </a:blipFill>
        </p:spPr>
        <p:txBody>
          <a:bodyPr/>
          <a:lstStyle/>
          <a:p>
            <a:endParaRPr lang="es-GT"/>
          </a:p>
        </p:txBody>
      </p:sp>
      <p:sp>
        <p:nvSpPr>
          <p:cNvPr id="6" name="TextBox 6"/>
          <p:cNvSpPr txBox="1"/>
          <p:nvPr/>
        </p:nvSpPr>
        <p:spPr>
          <a:xfrm>
            <a:off x="825698" y="680402"/>
            <a:ext cx="8318302" cy="629921"/>
          </a:xfrm>
          <a:prstGeom prst="rect">
            <a:avLst/>
          </a:prstGeom>
        </p:spPr>
        <p:txBody>
          <a:bodyPr lIns="0" tIns="0" rIns="0" bIns="0" rtlCol="0" anchor="t">
            <a:spAutoFit/>
          </a:bodyPr>
          <a:lstStyle/>
          <a:p>
            <a:pPr algn="l">
              <a:lnSpc>
                <a:spcPts val="5179"/>
              </a:lnSpc>
              <a:spcBef>
                <a:spcPct val="0"/>
              </a:spcBef>
            </a:pPr>
            <a:r>
              <a:rPr lang="en-US" sz="3699" spc="188">
                <a:solidFill>
                  <a:srgbClr val="000000"/>
                </a:solidFill>
                <a:latin typeface="Roboto Bold"/>
              </a:rPr>
              <a:t>Planta hidroeléctrica Río Las Vacas</a:t>
            </a:r>
          </a:p>
        </p:txBody>
      </p:sp>
      <p:sp>
        <p:nvSpPr>
          <p:cNvPr id="7" name="TextBox 7"/>
          <p:cNvSpPr txBox="1"/>
          <p:nvPr/>
        </p:nvSpPr>
        <p:spPr>
          <a:xfrm>
            <a:off x="449322" y="1857193"/>
            <a:ext cx="8544828" cy="4181476"/>
          </a:xfrm>
          <a:prstGeom prst="rect">
            <a:avLst/>
          </a:prstGeom>
        </p:spPr>
        <p:txBody>
          <a:bodyPr lIns="0" tIns="0" rIns="0" bIns="0" rtlCol="0" anchor="t">
            <a:spAutoFit/>
          </a:bodyPr>
          <a:lstStyle/>
          <a:p>
            <a:pPr algn="just">
              <a:lnSpc>
                <a:spcPts val="4199"/>
              </a:lnSpc>
              <a:spcBef>
                <a:spcPct val="0"/>
              </a:spcBef>
            </a:pPr>
            <a:r>
              <a:rPr lang="en-US" sz="2999" spc="152">
                <a:solidFill>
                  <a:srgbClr val="000000"/>
                </a:solidFill>
                <a:latin typeface="Roboto"/>
              </a:rPr>
              <a:t>es una empresa energética ubicada cerca de la aldea San Antonio Las Flores en el municipio de Chinautla, Guatemala. Cuenta con una presa de gravedad con una altura de 17 m y una longitud de 136 m, que utiliza el agua del río Las Vacas. La planta hidroeléctrica fue diseñado como una planta de de</a:t>
            </a:r>
          </a:p>
        </p:txBody>
      </p:sp>
      <p:sp>
        <p:nvSpPr>
          <p:cNvPr id="8" name="TextBox 8"/>
          <p:cNvSpPr txBox="1"/>
          <p:nvPr/>
        </p:nvSpPr>
        <p:spPr>
          <a:xfrm>
            <a:off x="617647" y="7118426"/>
            <a:ext cx="17052707" cy="1038226"/>
          </a:xfrm>
          <a:prstGeom prst="rect">
            <a:avLst/>
          </a:prstGeom>
        </p:spPr>
        <p:txBody>
          <a:bodyPr lIns="0" tIns="0" rIns="0" bIns="0" rtlCol="0" anchor="t">
            <a:spAutoFit/>
          </a:bodyPr>
          <a:lstStyle/>
          <a:p>
            <a:pPr algn="just">
              <a:lnSpc>
                <a:spcPts val="4199"/>
              </a:lnSpc>
              <a:spcBef>
                <a:spcPct val="0"/>
              </a:spcBef>
            </a:pPr>
            <a:r>
              <a:rPr lang="en-US" sz="2999" spc="152">
                <a:solidFill>
                  <a:srgbClr val="000000"/>
                </a:solidFill>
                <a:latin typeface="Roboto"/>
              </a:rPr>
              <a:t>utilizando el cauce del río Las Vacas, el cual está compuesto aproximadamente por el 60% de los drenajes de la ciudad de Guatemala.</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1759425" y="9733708"/>
            <a:ext cx="6735168" cy="553292"/>
            <a:chOff x="0" y="0"/>
            <a:chExt cx="1773872" cy="145723"/>
          </a:xfrm>
        </p:grpSpPr>
        <p:sp>
          <p:nvSpPr>
            <p:cNvPr id="3" name="Freeform 3"/>
            <p:cNvSpPr/>
            <p:nvPr/>
          </p:nvSpPr>
          <p:spPr>
            <a:xfrm>
              <a:off x="0" y="0"/>
              <a:ext cx="1773872" cy="145723"/>
            </a:xfrm>
            <a:custGeom>
              <a:avLst/>
              <a:gdLst/>
              <a:ahLst/>
              <a:cxnLst/>
              <a:rect l="l" t="t" r="r" b="b"/>
              <a:pathLst>
                <a:path w="1773872" h="145723">
                  <a:moveTo>
                    <a:pt x="0" y="0"/>
                  </a:moveTo>
                  <a:lnTo>
                    <a:pt x="1773872" y="0"/>
                  </a:lnTo>
                  <a:lnTo>
                    <a:pt x="1773872" y="145723"/>
                  </a:lnTo>
                  <a:lnTo>
                    <a:pt x="0" y="145723"/>
                  </a:lnTo>
                  <a:close/>
                </a:path>
              </a:pathLst>
            </a:custGeom>
            <a:solidFill>
              <a:srgbClr val="F23436"/>
            </a:solidFill>
          </p:spPr>
          <p:txBody>
            <a:bodyPr/>
            <a:lstStyle/>
            <a:p>
              <a:endParaRPr lang="es-GT"/>
            </a:p>
          </p:txBody>
        </p:sp>
        <p:sp>
          <p:nvSpPr>
            <p:cNvPr id="4" name="TextBox 4"/>
            <p:cNvSpPr txBox="1"/>
            <p:nvPr/>
          </p:nvSpPr>
          <p:spPr>
            <a:xfrm>
              <a:off x="0" y="-47625"/>
              <a:ext cx="1773872" cy="193348"/>
            </a:xfrm>
            <a:prstGeom prst="rect">
              <a:avLst/>
            </a:prstGeom>
          </p:spPr>
          <p:txBody>
            <a:bodyPr lIns="50800" tIns="50800" rIns="50800" bIns="50800" rtlCol="0" anchor="ctr"/>
            <a:lstStyle/>
            <a:p>
              <a:pPr algn="ctr">
                <a:lnSpc>
                  <a:spcPts val="3079"/>
                </a:lnSpc>
              </a:pPr>
              <a:endParaRPr/>
            </a:p>
          </p:txBody>
        </p:sp>
      </p:grpSp>
      <p:sp>
        <p:nvSpPr>
          <p:cNvPr id="5" name="Freeform 5"/>
          <p:cNvSpPr/>
          <p:nvPr/>
        </p:nvSpPr>
        <p:spPr>
          <a:xfrm>
            <a:off x="8774959" y="498474"/>
            <a:ext cx="9204256" cy="6139167"/>
          </a:xfrm>
          <a:custGeom>
            <a:avLst/>
            <a:gdLst/>
            <a:ahLst/>
            <a:cxnLst/>
            <a:rect l="l" t="t" r="r" b="b"/>
            <a:pathLst>
              <a:path w="9204256" h="6139167">
                <a:moveTo>
                  <a:pt x="0" y="0"/>
                </a:moveTo>
                <a:lnTo>
                  <a:pt x="9204256" y="0"/>
                </a:lnTo>
                <a:lnTo>
                  <a:pt x="9204256" y="6139167"/>
                </a:lnTo>
                <a:lnTo>
                  <a:pt x="0" y="6139167"/>
                </a:lnTo>
                <a:lnTo>
                  <a:pt x="0" y="0"/>
                </a:lnTo>
                <a:close/>
              </a:path>
            </a:pathLst>
          </a:custGeom>
          <a:blipFill>
            <a:blip r:embed="rId2"/>
            <a:stretch>
              <a:fillRect/>
            </a:stretch>
          </a:blipFill>
        </p:spPr>
        <p:txBody>
          <a:bodyPr/>
          <a:lstStyle/>
          <a:p>
            <a:endParaRPr lang="es-GT"/>
          </a:p>
        </p:txBody>
      </p:sp>
      <p:sp>
        <p:nvSpPr>
          <p:cNvPr id="6" name="TextBox 6"/>
          <p:cNvSpPr txBox="1"/>
          <p:nvPr/>
        </p:nvSpPr>
        <p:spPr>
          <a:xfrm>
            <a:off x="633301" y="431799"/>
            <a:ext cx="7420094" cy="596901"/>
          </a:xfrm>
          <a:prstGeom prst="rect">
            <a:avLst/>
          </a:prstGeom>
        </p:spPr>
        <p:txBody>
          <a:bodyPr lIns="0" tIns="0" rIns="0" bIns="0" rtlCol="0" anchor="t">
            <a:spAutoFit/>
          </a:bodyPr>
          <a:lstStyle/>
          <a:p>
            <a:pPr algn="ctr">
              <a:lnSpc>
                <a:spcPts val="4899"/>
              </a:lnSpc>
              <a:spcBef>
                <a:spcPct val="0"/>
              </a:spcBef>
            </a:pPr>
            <a:r>
              <a:rPr lang="en-US" sz="3499" spc="178">
                <a:solidFill>
                  <a:srgbClr val="000000"/>
                </a:solidFill>
                <a:latin typeface="Roboto Bold"/>
              </a:rPr>
              <a:t>Planta hidroeléctrica Santa María</a:t>
            </a:r>
          </a:p>
        </p:txBody>
      </p:sp>
      <p:sp>
        <p:nvSpPr>
          <p:cNvPr id="7" name="TextBox 7"/>
          <p:cNvSpPr txBox="1"/>
          <p:nvPr/>
        </p:nvSpPr>
        <p:spPr>
          <a:xfrm>
            <a:off x="1028700" y="1787896"/>
            <a:ext cx="7024695" cy="1562101"/>
          </a:xfrm>
          <a:prstGeom prst="rect">
            <a:avLst/>
          </a:prstGeom>
        </p:spPr>
        <p:txBody>
          <a:bodyPr lIns="0" tIns="0" rIns="0" bIns="0" rtlCol="0" anchor="t">
            <a:spAutoFit/>
          </a:bodyPr>
          <a:lstStyle/>
          <a:p>
            <a:pPr algn="just">
              <a:lnSpc>
                <a:spcPts val="4199"/>
              </a:lnSpc>
              <a:spcBef>
                <a:spcPct val="0"/>
              </a:spcBef>
            </a:pPr>
            <a:r>
              <a:rPr lang="en-US" sz="2999" spc="152">
                <a:solidFill>
                  <a:srgbClr val="000000"/>
                </a:solidFill>
                <a:latin typeface="Roboto"/>
              </a:rPr>
              <a:t>La Hidroeléctrica de Santa María, ubicada en el Municipio de Zunil, Departamento de Quetzaltenango,</a:t>
            </a:r>
          </a:p>
        </p:txBody>
      </p:sp>
      <p:sp>
        <p:nvSpPr>
          <p:cNvPr id="8" name="TextBox 8"/>
          <p:cNvSpPr txBox="1"/>
          <p:nvPr/>
        </p:nvSpPr>
        <p:spPr>
          <a:xfrm>
            <a:off x="633301" y="6847412"/>
            <a:ext cx="17345914" cy="2609851"/>
          </a:xfrm>
          <a:prstGeom prst="rect">
            <a:avLst/>
          </a:prstGeom>
        </p:spPr>
        <p:txBody>
          <a:bodyPr lIns="0" tIns="0" rIns="0" bIns="0" rtlCol="0" anchor="t">
            <a:spAutoFit/>
          </a:bodyPr>
          <a:lstStyle/>
          <a:p>
            <a:pPr algn="just">
              <a:lnSpc>
                <a:spcPts val="4199"/>
              </a:lnSpc>
              <a:spcBef>
                <a:spcPct val="0"/>
              </a:spcBef>
            </a:pPr>
            <a:r>
              <a:rPr lang="en-US" sz="2999" spc="152">
                <a:solidFill>
                  <a:srgbClr val="000000"/>
                </a:solidFill>
                <a:latin typeface="Roboto"/>
                <a:ea typeface="Roboto"/>
              </a:rPr>
              <a:t>El agua se transporta a la central eléctrica a través de 614 m de tubería de presión larga. Actualmente la planta tiene 3 turbinas diferentes ( 1 × 2.48 MW y 2 × 2.2 MW ) con una capacidad instalada total de 6.88   MW . La planta tiene una declinación de nivel de 101   m, y un flujo diseñado de 2.35   m 3 / s para las unidades 1 y 2, y 2.42   m 3 / s para la unidad 3.</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1759425" y="9733708"/>
            <a:ext cx="6735168" cy="553292"/>
            <a:chOff x="0" y="0"/>
            <a:chExt cx="1773872" cy="145723"/>
          </a:xfrm>
        </p:grpSpPr>
        <p:sp>
          <p:nvSpPr>
            <p:cNvPr id="3" name="Freeform 3"/>
            <p:cNvSpPr/>
            <p:nvPr/>
          </p:nvSpPr>
          <p:spPr>
            <a:xfrm>
              <a:off x="0" y="0"/>
              <a:ext cx="1773872" cy="145723"/>
            </a:xfrm>
            <a:custGeom>
              <a:avLst/>
              <a:gdLst/>
              <a:ahLst/>
              <a:cxnLst/>
              <a:rect l="l" t="t" r="r" b="b"/>
              <a:pathLst>
                <a:path w="1773872" h="145723">
                  <a:moveTo>
                    <a:pt x="0" y="0"/>
                  </a:moveTo>
                  <a:lnTo>
                    <a:pt x="1773872" y="0"/>
                  </a:lnTo>
                  <a:lnTo>
                    <a:pt x="1773872" y="145723"/>
                  </a:lnTo>
                  <a:lnTo>
                    <a:pt x="0" y="145723"/>
                  </a:lnTo>
                  <a:close/>
                </a:path>
              </a:pathLst>
            </a:custGeom>
            <a:solidFill>
              <a:srgbClr val="F23436"/>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GT"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TextBox 4"/>
            <p:cNvSpPr txBox="1"/>
            <p:nvPr/>
          </p:nvSpPr>
          <p:spPr>
            <a:xfrm>
              <a:off x="0" y="-47625"/>
              <a:ext cx="1773872" cy="193348"/>
            </a:xfrm>
            <a:prstGeom prst="rect">
              <a:avLst/>
            </a:prstGeom>
          </p:spPr>
          <p:txBody>
            <a:bodyPr lIns="50800" tIns="50800" rIns="50800" bIns="50800" rtlCol="0" anchor="ctr"/>
            <a:lstStyle/>
            <a:p>
              <a:pPr marL="0" marR="0" lvl="0" indent="0" algn="ctr" defTabSz="914400" rtl="0" eaLnBrk="1" fontAlgn="auto" latinLnBrk="0" hangingPunct="1">
                <a:lnSpc>
                  <a:spcPts val="307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6" name="CuadroTexto 5">
            <a:extLst>
              <a:ext uri="{FF2B5EF4-FFF2-40B4-BE49-F238E27FC236}">
                <a16:creationId xmlns:a16="http://schemas.microsoft.com/office/drawing/2014/main" id="{017AF512-37A5-547E-B168-ACB8F4A8C385}"/>
              </a:ext>
            </a:extLst>
          </p:cNvPr>
          <p:cNvSpPr txBox="1"/>
          <p:nvPr/>
        </p:nvSpPr>
        <p:spPr>
          <a:xfrm>
            <a:off x="838200" y="1409700"/>
            <a:ext cx="16611600" cy="6186309"/>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s-ES" sz="4000" b="1" i="0" u="none" strike="noStrike" kern="1200" cap="none" spc="0" normalizeH="0" baseline="0" noProof="0" dirty="0">
                <a:ln>
                  <a:noFill/>
                </a:ln>
                <a:solidFill>
                  <a:prstClr val="black"/>
                </a:solidFill>
                <a:effectLst/>
                <a:uLnTx/>
                <a:uFillTx/>
                <a:latin typeface="Calibri"/>
                <a:ea typeface="+mn-ea"/>
                <a:cs typeface="+mn-cs"/>
              </a:rPr>
              <a:t>PANELES SOLARES</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s-ES" sz="32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s-ES" sz="3200" b="0" i="0" u="none" strike="noStrike" kern="1200" cap="none" spc="0" normalizeH="0" baseline="0" noProof="0" dirty="0">
                <a:ln>
                  <a:noFill/>
                </a:ln>
                <a:solidFill>
                  <a:prstClr val="black"/>
                </a:solidFill>
                <a:effectLst/>
                <a:uLnTx/>
                <a:uFillTx/>
                <a:latin typeface="Calibri"/>
                <a:ea typeface="+mn-ea"/>
                <a:cs typeface="+mn-cs"/>
              </a:rPr>
              <a:t>Los paneles solares son el intermediario que hace que la luz solar nos sirva de energía. Su diseño es simple, muy eficaz y permite el autoconsumo, lo que fomenta la sostenibilidad. En un futuro próximo, los paneles generarán electricidad incluso de noche.</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s-ES" sz="32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s-ES" sz="3200" b="0" i="0" u="none" strike="noStrike" kern="1200" cap="none" spc="0" normalizeH="0" baseline="0" noProof="0" dirty="0">
                <a:ln>
                  <a:noFill/>
                </a:ln>
                <a:solidFill>
                  <a:prstClr val="black"/>
                </a:solidFill>
                <a:effectLst/>
                <a:uLnTx/>
                <a:uFillTx/>
                <a:latin typeface="Calibri"/>
                <a:ea typeface="+mn-ea"/>
                <a:cs typeface="+mn-cs"/>
              </a:rPr>
              <a:t>Inagotable, limpia y accesible, incluso en zonas remotas, la energía solar representa una magnífica alternativa a las fuentes de energía convencionales, pero, ¿qué tipos de tecnologías se utilizan actualmente para su producción? La transformación de la energía procedente de los rayos del sol en electricidad se realiza en una central solar, utilizando diferentes sistemas dependiendo de su tipología. </a:t>
            </a: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es-ES" sz="1800" b="0" i="0" u="none" strike="noStrike" kern="1200" cap="none" spc="0" normalizeH="0" baseline="0" noProof="0" dirty="0">
                <a:ln>
                  <a:noFill/>
                </a:ln>
                <a:solidFill>
                  <a:srgbClr val="666666"/>
                </a:solidFill>
                <a:effectLst/>
                <a:uLnTx/>
                <a:uFillTx/>
                <a:latin typeface="BentonBook"/>
                <a:ea typeface="+mn-ea"/>
                <a:cs typeface="+mn-cs"/>
              </a:rPr>
            </a:br>
            <a:endParaRPr kumimoji="0" lang="es-GT" sz="18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8013945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1759425" y="9733708"/>
            <a:ext cx="6735168" cy="553292"/>
            <a:chOff x="0" y="0"/>
            <a:chExt cx="1773872" cy="145723"/>
          </a:xfrm>
        </p:grpSpPr>
        <p:sp>
          <p:nvSpPr>
            <p:cNvPr id="3" name="Freeform 3"/>
            <p:cNvSpPr/>
            <p:nvPr/>
          </p:nvSpPr>
          <p:spPr>
            <a:xfrm>
              <a:off x="0" y="0"/>
              <a:ext cx="1773872" cy="145723"/>
            </a:xfrm>
            <a:custGeom>
              <a:avLst/>
              <a:gdLst/>
              <a:ahLst/>
              <a:cxnLst/>
              <a:rect l="l" t="t" r="r" b="b"/>
              <a:pathLst>
                <a:path w="1773872" h="145723">
                  <a:moveTo>
                    <a:pt x="0" y="0"/>
                  </a:moveTo>
                  <a:lnTo>
                    <a:pt x="1773872" y="0"/>
                  </a:lnTo>
                  <a:lnTo>
                    <a:pt x="1773872" y="145723"/>
                  </a:lnTo>
                  <a:lnTo>
                    <a:pt x="0" y="145723"/>
                  </a:lnTo>
                  <a:close/>
                </a:path>
              </a:pathLst>
            </a:custGeom>
            <a:solidFill>
              <a:srgbClr val="F23436"/>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GT"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TextBox 4"/>
            <p:cNvSpPr txBox="1"/>
            <p:nvPr/>
          </p:nvSpPr>
          <p:spPr>
            <a:xfrm>
              <a:off x="0" y="-47625"/>
              <a:ext cx="1773872" cy="193348"/>
            </a:xfrm>
            <a:prstGeom prst="rect">
              <a:avLst/>
            </a:prstGeom>
          </p:spPr>
          <p:txBody>
            <a:bodyPr lIns="50800" tIns="50800" rIns="50800" bIns="50800" rtlCol="0" anchor="ctr"/>
            <a:lstStyle/>
            <a:p>
              <a:pPr marL="0" marR="0" lvl="0" indent="0" algn="ctr" defTabSz="914400" rtl="0" eaLnBrk="1" fontAlgn="auto" latinLnBrk="0" hangingPunct="1">
                <a:lnSpc>
                  <a:spcPts val="307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6" name="CuadroTexto 5">
            <a:extLst>
              <a:ext uri="{FF2B5EF4-FFF2-40B4-BE49-F238E27FC236}">
                <a16:creationId xmlns:a16="http://schemas.microsoft.com/office/drawing/2014/main" id="{CA445348-E704-B86A-E443-71F7B114E171}"/>
              </a:ext>
            </a:extLst>
          </p:cNvPr>
          <p:cNvSpPr txBox="1"/>
          <p:nvPr/>
        </p:nvSpPr>
        <p:spPr>
          <a:xfrm>
            <a:off x="1181100" y="2019300"/>
            <a:ext cx="15925800" cy="5509200"/>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s-ES" sz="3200" b="0" i="0" u="none" strike="noStrike" kern="1200" cap="none" spc="0" normalizeH="0" baseline="0" noProof="0" dirty="0">
                <a:ln>
                  <a:noFill/>
                </a:ln>
                <a:solidFill>
                  <a:prstClr val="black"/>
                </a:solidFill>
                <a:effectLst/>
                <a:uLnTx/>
                <a:uFillTx/>
                <a:latin typeface="Calibri"/>
                <a:ea typeface="+mn-ea"/>
                <a:cs typeface="+mn-cs"/>
              </a:rPr>
              <a:t>El proceso de producción de electricidad en una planta solar es totalmente ecológico y no genera elementos contaminantes para el medioambiente, además de resultar una de las energías renovables más eficientes que existen en la actualidad.</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s-ES" sz="32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s-ES" sz="3200" b="0" i="0" u="none" strike="noStrike" kern="1200" cap="none" spc="0" normalizeH="0" baseline="0" noProof="0" dirty="0">
                <a:ln>
                  <a:noFill/>
                </a:ln>
                <a:solidFill>
                  <a:prstClr val="black"/>
                </a:solidFill>
                <a:effectLst/>
                <a:uLnTx/>
                <a:uFillTx/>
                <a:latin typeface="Calibri"/>
                <a:ea typeface="+mn-ea"/>
                <a:cs typeface="+mn-cs"/>
              </a:rPr>
              <a:t>Gracias a estas ventajas de la energía solar comparada con las energías generadas a partir de combustibles fósiles o fuentes no renovables, las centrales solares suponen una herramienta clave para el desarrollo de un nuevo modelo productivo sostenible a largo plazo, totalmente respetuoso con el entorno natural. </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s-ES" sz="32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s-ES" sz="3200" b="0" i="0" u="none" strike="noStrike" kern="1200" cap="none" spc="0" normalizeH="0" baseline="0" noProof="0" dirty="0">
                <a:ln>
                  <a:noFill/>
                </a:ln>
                <a:solidFill>
                  <a:prstClr val="black"/>
                </a:solidFill>
                <a:effectLst/>
                <a:uLnTx/>
                <a:uFillTx/>
                <a:latin typeface="Calibri"/>
                <a:ea typeface="+mn-ea"/>
                <a:cs typeface="+mn-cs"/>
              </a:rPr>
              <a:t>Dependiendo de su sistema de funcionamiento, existen dos tipos principales de plantas solares: centrales solares térmicas y plantas solares fotovoltaicas</a:t>
            </a:r>
            <a:r>
              <a:rPr kumimoji="0" lang="es-ES" sz="1800" b="0" i="0" u="none" strike="noStrike" kern="1200" cap="none" spc="0" normalizeH="0" baseline="0" noProof="0" dirty="0">
                <a:ln>
                  <a:noFill/>
                </a:ln>
                <a:solidFill>
                  <a:srgbClr val="757575"/>
                </a:solidFill>
                <a:effectLst/>
                <a:highlight>
                  <a:srgbClr val="F8F8F8"/>
                </a:highlight>
                <a:uLnTx/>
                <a:uFillTx/>
                <a:latin typeface="Roboto-Regular"/>
                <a:ea typeface="+mn-ea"/>
                <a:cs typeface="+mn-cs"/>
              </a:rPr>
              <a:t>. </a:t>
            </a:r>
          </a:p>
        </p:txBody>
      </p:sp>
    </p:spTree>
    <p:extLst>
      <p:ext uri="{BB962C8B-B14F-4D97-AF65-F5344CB8AC3E}">
        <p14:creationId xmlns:p14="http://schemas.microsoft.com/office/powerpoint/2010/main" val="23391675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1759425" y="9733708"/>
            <a:ext cx="6735168" cy="553292"/>
            <a:chOff x="0" y="0"/>
            <a:chExt cx="1773872" cy="145723"/>
          </a:xfrm>
        </p:grpSpPr>
        <p:sp>
          <p:nvSpPr>
            <p:cNvPr id="3" name="Freeform 3"/>
            <p:cNvSpPr/>
            <p:nvPr/>
          </p:nvSpPr>
          <p:spPr>
            <a:xfrm>
              <a:off x="0" y="0"/>
              <a:ext cx="1773872" cy="145723"/>
            </a:xfrm>
            <a:custGeom>
              <a:avLst/>
              <a:gdLst/>
              <a:ahLst/>
              <a:cxnLst/>
              <a:rect l="l" t="t" r="r" b="b"/>
              <a:pathLst>
                <a:path w="1773872" h="145723">
                  <a:moveTo>
                    <a:pt x="0" y="0"/>
                  </a:moveTo>
                  <a:lnTo>
                    <a:pt x="1773872" y="0"/>
                  </a:lnTo>
                  <a:lnTo>
                    <a:pt x="1773872" y="145723"/>
                  </a:lnTo>
                  <a:lnTo>
                    <a:pt x="0" y="145723"/>
                  </a:lnTo>
                  <a:close/>
                </a:path>
              </a:pathLst>
            </a:custGeom>
            <a:solidFill>
              <a:srgbClr val="F23436"/>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GT"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TextBox 4"/>
            <p:cNvSpPr txBox="1"/>
            <p:nvPr/>
          </p:nvSpPr>
          <p:spPr>
            <a:xfrm>
              <a:off x="0" y="-47625"/>
              <a:ext cx="1773872" cy="193348"/>
            </a:xfrm>
            <a:prstGeom prst="rect">
              <a:avLst/>
            </a:prstGeom>
          </p:spPr>
          <p:txBody>
            <a:bodyPr lIns="50800" tIns="50800" rIns="50800" bIns="50800" rtlCol="0" anchor="ctr"/>
            <a:lstStyle/>
            <a:p>
              <a:pPr marL="0" marR="0" lvl="0" indent="0" algn="ctr" defTabSz="914400" rtl="0" eaLnBrk="1" fontAlgn="auto" latinLnBrk="0" hangingPunct="1">
                <a:lnSpc>
                  <a:spcPts val="307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pic>
        <p:nvPicPr>
          <p:cNvPr id="6" name="Imagen 5">
            <a:extLst>
              <a:ext uri="{FF2B5EF4-FFF2-40B4-BE49-F238E27FC236}">
                <a16:creationId xmlns:a16="http://schemas.microsoft.com/office/drawing/2014/main" id="{F90B0D50-F089-CA63-88DD-8ED239055BE0}"/>
              </a:ext>
            </a:extLst>
          </p:cNvPr>
          <p:cNvPicPr>
            <a:picLocks noChangeAspect="1"/>
          </p:cNvPicPr>
          <p:nvPr/>
        </p:nvPicPr>
        <p:blipFill>
          <a:blip r:embed="rId2">
            <a:clrChange>
              <a:clrFrom>
                <a:srgbClr val="F8F8F8"/>
              </a:clrFrom>
              <a:clrTo>
                <a:srgbClr val="F8F8F8">
                  <a:alpha val="0"/>
                </a:srgbClr>
              </a:clrTo>
            </a:clrChange>
          </a:blip>
          <a:stretch>
            <a:fillRect/>
          </a:stretch>
        </p:blipFill>
        <p:spPr>
          <a:xfrm>
            <a:off x="628906" y="1790700"/>
            <a:ext cx="17030187" cy="5638800"/>
          </a:xfrm>
          <a:prstGeom prst="rect">
            <a:avLst/>
          </a:prstGeom>
        </p:spPr>
      </p:pic>
    </p:spTree>
    <p:extLst>
      <p:ext uri="{BB962C8B-B14F-4D97-AF65-F5344CB8AC3E}">
        <p14:creationId xmlns:p14="http://schemas.microsoft.com/office/powerpoint/2010/main" val="10313265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1759425" y="9733708"/>
            <a:ext cx="6735168" cy="553292"/>
            <a:chOff x="0" y="0"/>
            <a:chExt cx="1773872" cy="145723"/>
          </a:xfrm>
        </p:grpSpPr>
        <p:sp>
          <p:nvSpPr>
            <p:cNvPr id="3" name="Freeform 3"/>
            <p:cNvSpPr/>
            <p:nvPr/>
          </p:nvSpPr>
          <p:spPr>
            <a:xfrm>
              <a:off x="0" y="0"/>
              <a:ext cx="1773872" cy="145723"/>
            </a:xfrm>
            <a:custGeom>
              <a:avLst/>
              <a:gdLst/>
              <a:ahLst/>
              <a:cxnLst/>
              <a:rect l="l" t="t" r="r" b="b"/>
              <a:pathLst>
                <a:path w="1773872" h="145723">
                  <a:moveTo>
                    <a:pt x="0" y="0"/>
                  </a:moveTo>
                  <a:lnTo>
                    <a:pt x="1773872" y="0"/>
                  </a:lnTo>
                  <a:lnTo>
                    <a:pt x="1773872" y="145723"/>
                  </a:lnTo>
                  <a:lnTo>
                    <a:pt x="0" y="145723"/>
                  </a:lnTo>
                  <a:close/>
                </a:path>
              </a:pathLst>
            </a:custGeom>
            <a:solidFill>
              <a:srgbClr val="F23436"/>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GT"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TextBox 4"/>
            <p:cNvSpPr txBox="1"/>
            <p:nvPr/>
          </p:nvSpPr>
          <p:spPr>
            <a:xfrm>
              <a:off x="0" y="-47625"/>
              <a:ext cx="1773872" cy="193348"/>
            </a:xfrm>
            <a:prstGeom prst="rect">
              <a:avLst/>
            </a:prstGeom>
          </p:spPr>
          <p:txBody>
            <a:bodyPr lIns="50800" tIns="50800" rIns="50800" bIns="50800" rtlCol="0" anchor="ctr"/>
            <a:lstStyle/>
            <a:p>
              <a:pPr marL="0" marR="0" lvl="0" indent="0" algn="ctr" defTabSz="914400" rtl="0" eaLnBrk="1" fontAlgn="auto" latinLnBrk="0" hangingPunct="1">
                <a:lnSpc>
                  <a:spcPts val="307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pic>
        <p:nvPicPr>
          <p:cNvPr id="6" name="Imagen 5">
            <a:extLst>
              <a:ext uri="{FF2B5EF4-FFF2-40B4-BE49-F238E27FC236}">
                <a16:creationId xmlns:a16="http://schemas.microsoft.com/office/drawing/2014/main" id="{0B563823-F308-CA97-0DA3-1A277B803D1D}"/>
              </a:ext>
            </a:extLst>
          </p:cNvPr>
          <p:cNvPicPr>
            <a:picLocks noChangeAspect="1"/>
          </p:cNvPicPr>
          <p:nvPr/>
        </p:nvPicPr>
        <p:blipFill>
          <a:blip r:embed="rId2">
            <a:clrChange>
              <a:clrFrom>
                <a:srgbClr val="F8F8F8"/>
              </a:clrFrom>
              <a:clrTo>
                <a:srgbClr val="F8F8F8">
                  <a:alpha val="0"/>
                </a:srgbClr>
              </a:clrTo>
            </a:clrChange>
          </a:blip>
          <a:stretch>
            <a:fillRect/>
          </a:stretch>
        </p:blipFill>
        <p:spPr>
          <a:xfrm>
            <a:off x="0" y="1181100"/>
            <a:ext cx="17523472" cy="7467600"/>
          </a:xfrm>
          <a:prstGeom prst="rect">
            <a:avLst/>
          </a:prstGeom>
        </p:spPr>
      </p:pic>
    </p:spTree>
    <p:extLst>
      <p:ext uri="{BB962C8B-B14F-4D97-AF65-F5344CB8AC3E}">
        <p14:creationId xmlns:p14="http://schemas.microsoft.com/office/powerpoint/2010/main" val="31866404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1759425" y="9733708"/>
            <a:ext cx="6735168" cy="553292"/>
            <a:chOff x="0" y="0"/>
            <a:chExt cx="1773872" cy="145723"/>
          </a:xfrm>
        </p:grpSpPr>
        <p:sp>
          <p:nvSpPr>
            <p:cNvPr id="3" name="Freeform 3"/>
            <p:cNvSpPr/>
            <p:nvPr/>
          </p:nvSpPr>
          <p:spPr>
            <a:xfrm>
              <a:off x="0" y="0"/>
              <a:ext cx="1773872" cy="145723"/>
            </a:xfrm>
            <a:custGeom>
              <a:avLst/>
              <a:gdLst/>
              <a:ahLst/>
              <a:cxnLst/>
              <a:rect l="l" t="t" r="r" b="b"/>
              <a:pathLst>
                <a:path w="1773872" h="145723">
                  <a:moveTo>
                    <a:pt x="0" y="0"/>
                  </a:moveTo>
                  <a:lnTo>
                    <a:pt x="1773872" y="0"/>
                  </a:lnTo>
                  <a:lnTo>
                    <a:pt x="1773872" y="145723"/>
                  </a:lnTo>
                  <a:lnTo>
                    <a:pt x="0" y="145723"/>
                  </a:lnTo>
                  <a:close/>
                </a:path>
              </a:pathLst>
            </a:custGeom>
            <a:solidFill>
              <a:srgbClr val="F23436"/>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GT"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TextBox 4"/>
            <p:cNvSpPr txBox="1"/>
            <p:nvPr/>
          </p:nvSpPr>
          <p:spPr>
            <a:xfrm>
              <a:off x="0" y="-47625"/>
              <a:ext cx="1773872" cy="193348"/>
            </a:xfrm>
            <a:prstGeom prst="rect">
              <a:avLst/>
            </a:prstGeom>
          </p:spPr>
          <p:txBody>
            <a:bodyPr lIns="50800" tIns="50800" rIns="50800" bIns="50800" rtlCol="0" anchor="ctr"/>
            <a:lstStyle/>
            <a:p>
              <a:pPr marL="0" marR="0" lvl="0" indent="0" algn="ctr" defTabSz="914400" rtl="0" eaLnBrk="1" fontAlgn="auto" latinLnBrk="0" hangingPunct="1">
                <a:lnSpc>
                  <a:spcPts val="307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6" name="CuadroTexto 5">
            <a:extLst>
              <a:ext uri="{FF2B5EF4-FFF2-40B4-BE49-F238E27FC236}">
                <a16:creationId xmlns:a16="http://schemas.microsoft.com/office/drawing/2014/main" id="{FB666826-4151-1D08-6692-3E41D30E5594}"/>
              </a:ext>
            </a:extLst>
          </p:cNvPr>
          <p:cNvSpPr txBox="1"/>
          <p:nvPr/>
        </p:nvSpPr>
        <p:spPr>
          <a:xfrm>
            <a:off x="533400" y="1028700"/>
            <a:ext cx="16916400" cy="7848302"/>
          </a:xfrm>
          <a:prstGeom prst="rect">
            <a:avLst/>
          </a:prstGeom>
          <a:noFill/>
        </p:spPr>
        <p:txBody>
          <a:bodyPr wrap="square">
            <a:spAutoFit/>
          </a:bodyPr>
          <a:lstStyle/>
          <a:p>
            <a:pPr marL="0" marR="0" lvl="0" indent="0" algn="just" defTabSz="914400" rtl="0" eaLnBrk="1" fontAlgn="base" latinLnBrk="0" hangingPunct="1">
              <a:lnSpc>
                <a:spcPct val="100000"/>
              </a:lnSpc>
              <a:spcBef>
                <a:spcPts val="0"/>
              </a:spcBef>
              <a:spcAft>
                <a:spcPts val="0"/>
              </a:spcAft>
              <a:buClrTx/>
              <a:buSzTx/>
              <a:buFontTx/>
              <a:buNone/>
              <a:tabLst/>
              <a:defRPr/>
            </a:pPr>
            <a:r>
              <a:rPr kumimoji="0" lang="es-ES" sz="2800" b="1" i="0" u="none" strike="noStrike" kern="1200" cap="none" spc="0" normalizeH="0" baseline="0" noProof="0" dirty="0">
                <a:ln>
                  <a:noFill/>
                </a:ln>
                <a:solidFill>
                  <a:prstClr val="black"/>
                </a:solidFill>
                <a:effectLst/>
                <a:uLnTx/>
                <a:uFillTx/>
                <a:latin typeface="Calibri"/>
                <a:ea typeface="+mn-ea"/>
                <a:cs typeface="+mn-cs"/>
              </a:rPr>
              <a:t>Central solar térmica o </a:t>
            </a:r>
            <a:r>
              <a:rPr kumimoji="0" lang="es-ES" sz="2800" b="1" i="0" u="none" strike="noStrike" kern="1200" cap="none" spc="0" normalizeH="0" baseline="0" noProof="0" dirty="0" err="1">
                <a:ln>
                  <a:noFill/>
                </a:ln>
                <a:solidFill>
                  <a:prstClr val="black"/>
                </a:solidFill>
                <a:effectLst/>
                <a:uLnTx/>
                <a:uFillTx/>
                <a:latin typeface="Calibri"/>
                <a:ea typeface="+mn-ea"/>
                <a:cs typeface="+mn-cs"/>
              </a:rPr>
              <a:t>termosolar</a:t>
            </a:r>
            <a:endParaRPr kumimoji="0" lang="es-ES" sz="2800" b="1" i="0" u="none" strike="noStrike" kern="1200" cap="none" spc="0" normalizeH="0" baseline="0" noProof="0" dirty="0">
              <a:ln>
                <a:noFill/>
              </a:ln>
              <a:solidFill>
                <a:prstClr val="black"/>
              </a:solidFill>
              <a:effectLst/>
              <a:uLnTx/>
              <a:uFillTx/>
              <a:latin typeface="Calibri"/>
              <a:ea typeface="+mn-ea"/>
              <a:cs typeface="+mn-cs"/>
            </a:endParaRPr>
          </a:p>
          <a:p>
            <a:pPr marL="0" marR="0" lvl="0" indent="0" algn="just" defTabSz="914400" rtl="0" eaLnBrk="1" fontAlgn="base" latinLnBrk="0" hangingPunct="1">
              <a:lnSpc>
                <a:spcPct val="100000"/>
              </a:lnSpc>
              <a:spcBef>
                <a:spcPts val="0"/>
              </a:spcBef>
              <a:spcAft>
                <a:spcPts val="0"/>
              </a:spcAft>
              <a:buClrTx/>
              <a:buSzTx/>
              <a:buFontTx/>
              <a:buNone/>
              <a:tabLst/>
              <a:defRPr/>
            </a:pPr>
            <a:endParaRPr kumimoji="0" lang="es-ES" sz="2800" b="1"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2800" b="0" i="0" u="none" strike="noStrike" kern="1200" cap="none" spc="0" normalizeH="0" baseline="0" noProof="0" dirty="0">
                <a:ln>
                  <a:noFill/>
                </a:ln>
                <a:solidFill>
                  <a:prstClr val="black"/>
                </a:solidFill>
                <a:effectLst/>
                <a:uLnTx/>
                <a:uFillTx/>
                <a:latin typeface="Calibri"/>
                <a:ea typeface="+mn-ea"/>
                <a:cs typeface="+mn-cs"/>
              </a:rPr>
              <a:t>Una planta solar térmica es una instalación destinada a la transformación de energía solar en electricidad mediante un ciclo termodinámico convencional. Sin embargo, a diferencia de las centrales térmicas, que funcionan utilizando combustibles fósiles, en el caso de una central termo solar se emplea una fuente de energía totalmente ecológica, como es la luz del sol. La tecnología empleada para la obtención de electricidad es ligeramente diferente dependiendo del tipo de planta termo solar del que estemos hablando, pero su sistema de funcionamiento es similar.</a:t>
            </a:r>
            <a:br>
              <a:rPr kumimoji="0" lang="es-ES" sz="2800" b="0" i="0" u="none" strike="noStrike" kern="1200" cap="none" spc="0" normalizeH="0" baseline="0" noProof="0" dirty="0">
                <a:ln>
                  <a:noFill/>
                </a:ln>
                <a:solidFill>
                  <a:prstClr val="black"/>
                </a:solidFill>
                <a:effectLst/>
                <a:uLnTx/>
                <a:uFillTx/>
                <a:latin typeface="Calibri"/>
                <a:ea typeface="+mn-ea"/>
                <a:cs typeface="+mn-cs"/>
              </a:rPr>
            </a:br>
            <a:endParaRPr kumimoji="0" lang="es-ES" sz="28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s-ES" sz="2800" b="0" i="0" u="none" strike="noStrike" kern="1200" cap="none" spc="0" normalizeH="0" baseline="0" noProof="0" dirty="0">
                <a:ln>
                  <a:noFill/>
                </a:ln>
                <a:solidFill>
                  <a:prstClr val="black"/>
                </a:solidFill>
                <a:effectLst/>
                <a:uLnTx/>
                <a:uFillTx/>
                <a:latin typeface="Calibri"/>
                <a:ea typeface="+mn-ea"/>
                <a:cs typeface="+mn-cs"/>
              </a:rPr>
              <a:t>Una central solar térmica concentra la radiación solar para calentar un fluido con propiedades termo conductoras y elevar su temperatura hasta que se convierte en vapor. Después, éste es conducido hasta una turbina. Aquí, la energía térmica se convierte en energía mecánica, que se transmite a un alternador donde tiene lugar su transformación final en energía eléctrica Una vez completado el ciclo termodinámico, el vapor se reconduce a un condensador donde recupera su estado líquido y el proceso se repite de nuevo. </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s-ES" sz="28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s-ES" sz="2800" b="0" i="0" u="none" strike="noStrike" kern="1200" cap="none" spc="0" normalizeH="0" baseline="0" noProof="0" dirty="0">
                <a:ln>
                  <a:noFill/>
                </a:ln>
                <a:solidFill>
                  <a:prstClr val="black"/>
                </a:solidFill>
                <a:effectLst/>
                <a:uLnTx/>
                <a:uFillTx/>
                <a:latin typeface="Calibri"/>
                <a:ea typeface="+mn-ea"/>
                <a:cs typeface="+mn-cs"/>
              </a:rPr>
              <a:t>Desde el punto de vista de la eficiencia, es importante tener en cuenta que el rendimiento de una planta solar térmica depende de las horas de insolación y las condiciones meteorológicas. Por eso, estas centrales también cuentan con un depósito acumulador que permite almacenar la energía obtenida para utilizarla cuando sea preciso.</a:t>
            </a:r>
          </a:p>
        </p:txBody>
      </p:sp>
    </p:spTree>
    <p:extLst>
      <p:ext uri="{BB962C8B-B14F-4D97-AF65-F5344CB8AC3E}">
        <p14:creationId xmlns:p14="http://schemas.microsoft.com/office/powerpoint/2010/main" val="19971225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1759425" y="9733708"/>
            <a:ext cx="6735168" cy="553292"/>
            <a:chOff x="0" y="0"/>
            <a:chExt cx="1773872" cy="145723"/>
          </a:xfrm>
        </p:grpSpPr>
        <p:sp>
          <p:nvSpPr>
            <p:cNvPr id="3" name="Freeform 3"/>
            <p:cNvSpPr/>
            <p:nvPr/>
          </p:nvSpPr>
          <p:spPr>
            <a:xfrm>
              <a:off x="0" y="0"/>
              <a:ext cx="1773872" cy="145723"/>
            </a:xfrm>
            <a:custGeom>
              <a:avLst/>
              <a:gdLst/>
              <a:ahLst/>
              <a:cxnLst/>
              <a:rect l="l" t="t" r="r" b="b"/>
              <a:pathLst>
                <a:path w="1773872" h="145723">
                  <a:moveTo>
                    <a:pt x="0" y="0"/>
                  </a:moveTo>
                  <a:lnTo>
                    <a:pt x="1773872" y="0"/>
                  </a:lnTo>
                  <a:lnTo>
                    <a:pt x="1773872" y="145723"/>
                  </a:lnTo>
                  <a:lnTo>
                    <a:pt x="0" y="145723"/>
                  </a:lnTo>
                  <a:close/>
                </a:path>
              </a:pathLst>
            </a:custGeom>
            <a:solidFill>
              <a:srgbClr val="F23436"/>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GT"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TextBox 4"/>
            <p:cNvSpPr txBox="1"/>
            <p:nvPr/>
          </p:nvSpPr>
          <p:spPr>
            <a:xfrm>
              <a:off x="0" y="-47625"/>
              <a:ext cx="1773872" cy="193348"/>
            </a:xfrm>
            <a:prstGeom prst="rect">
              <a:avLst/>
            </a:prstGeom>
          </p:spPr>
          <p:txBody>
            <a:bodyPr lIns="50800" tIns="50800" rIns="50800" bIns="50800" rtlCol="0" anchor="ctr"/>
            <a:lstStyle/>
            <a:p>
              <a:pPr marL="0" marR="0" lvl="0" indent="0" algn="ctr" defTabSz="914400" rtl="0" eaLnBrk="1" fontAlgn="auto" latinLnBrk="0" hangingPunct="1">
                <a:lnSpc>
                  <a:spcPts val="307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6" name="CuadroTexto 5">
            <a:extLst>
              <a:ext uri="{FF2B5EF4-FFF2-40B4-BE49-F238E27FC236}">
                <a16:creationId xmlns:a16="http://schemas.microsoft.com/office/drawing/2014/main" id="{AB93AC8D-C69D-6E10-ACBC-26E41A611E33}"/>
              </a:ext>
            </a:extLst>
          </p:cNvPr>
          <p:cNvSpPr txBox="1"/>
          <p:nvPr/>
        </p:nvSpPr>
        <p:spPr>
          <a:xfrm>
            <a:off x="952500" y="1409700"/>
            <a:ext cx="16383000" cy="4031873"/>
          </a:xfrm>
          <a:prstGeom prst="rect">
            <a:avLst/>
          </a:prstGeom>
          <a:noFill/>
        </p:spPr>
        <p:txBody>
          <a:bodyPr wrap="square">
            <a:spAutoFit/>
          </a:bodyPr>
          <a:lstStyle/>
          <a:p>
            <a:pPr marL="0" marR="0" lvl="0" indent="0" algn="just" defTabSz="914400" rtl="0" eaLnBrk="1" fontAlgn="base" latinLnBrk="0" hangingPunct="1">
              <a:lnSpc>
                <a:spcPct val="100000"/>
              </a:lnSpc>
              <a:spcBef>
                <a:spcPts val="0"/>
              </a:spcBef>
              <a:spcAft>
                <a:spcPts val="0"/>
              </a:spcAft>
              <a:buClrTx/>
              <a:buSzTx/>
              <a:buFontTx/>
              <a:buNone/>
              <a:tabLst/>
              <a:defRPr/>
            </a:pPr>
            <a:r>
              <a:rPr kumimoji="0" lang="es-ES" sz="3200" b="1" i="0" u="none" strike="noStrike" kern="1200" cap="none" spc="0" normalizeH="0" baseline="0" noProof="0" dirty="0">
                <a:ln>
                  <a:noFill/>
                </a:ln>
                <a:solidFill>
                  <a:prstClr val="black"/>
                </a:solidFill>
                <a:effectLst/>
                <a:uLnTx/>
                <a:uFillTx/>
                <a:latin typeface="Calibri"/>
                <a:ea typeface="+mn-ea"/>
                <a:cs typeface="+mn-cs"/>
              </a:rPr>
              <a:t>Central solar fotovoltaica</a:t>
            </a:r>
          </a:p>
          <a:p>
            <a:pPr marL="0" marR="0" lvl="0" indent="0" algn="just" defTabSz="914400" rtl="0" eaLnBrk="1" fontAlgn="base" latinLnBrk="0" hangingPunct="1">
              <a:lnSpc>
                <a:spcPct val="100000"/>
              </a:lnSpc>
              <a:spcBef>
                <a:spcPts val="0"/>
              </a:spcBef>
              <a:spcAft>
                <a:spcPts val="0"/>
              </a:spcAft>
              <a:buClrTx/>
              <a:buSzTx/>
              <a:buFontTx/>
              <a:buNone/>
              <a:tabLst/>
              <a:defRPr/>
            </a:pPr>
            <a:endParaRPr kumimoji="0" lang="es-ES" sz="3200" b="1" i="0" u="none" strike="noStrike" kern="1200" cap="none" spc="0" normalizeH="0" baseline="0" noProof="0" dirty="0">
              <a:ln>
                <a:noFill/>
              </a:ln>
              <a:solidFill>
                <a:prstClr val="black"/>
              </a:solidFill>
              <a:effectLst/>
              <a:uLnTx/>
              <a:uFillTx/>
              <a:latin typeface="Calibri"/>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s-ES" sz="3200" b="0" i="0" u="none" strike="noStrike" kern="1200" cap="none" spc="0" normalizeH="0" baseline="0" noProof="0" dirty="0">
                <a:ln>
                  <a:noFill/>
                </a:ln>
                <a:solidFill>
                  <a:prstClr val="black"/>
                </a:solidFill>
                <a:effectLst/>
                <a:uLnTx/>
                <a:uFillTx/>
                <a:latin typeface="Calibri"/>
                <a:ea typeface="+mn-ea"/>
                <a:cs typeface="+mn-cs"/>
              </a:rPr>
              <a:t>El funcionamiento de una planta solar fotovoltaica se basa en los fotones o energía luminosa de los rayos del sol. Los tipos de placas solares utilizados en este tipo de instalaciones también son diferentes. Si en las plantas solares térmicas se emplean colectores, en una central fotovoltaica se utilizan placas formadas por células solares fotovoltaicas, fabricadas de silicio (placas solares monocristalinas o policristalinas) u otros materiales con propiedades fotovoltaicas (placas solares amorfas).</a:t>
            </a:r>
          </a:p>
        </p:txBody>
      </p:sp>
    </p:spTree>
    <p:extLst>
      <p:ext uri="{BB962C8B-B14F-4D97-AF65-F5344CB8AC3E}">
        <p14:creationId xmlns:p14="http://schemas.microsoft.com/office/powerpoint/2010/main" val="10408901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1759425" y="9733708"/>
            <a:ext cx="6735168" cy="553292"/>
            <a:chOff x="0" y="0"/>
            <a:chExt cx="1773872" cy="145723"/>
          </a:xfrm>
        </p:grpSpPr>
        <p:sp>
          <p:nvSpPr>
            <p:cNvPr id="3" name="Freeform 3"/>
            <p:cNvSpPr/>
            <p:nvPr/>
          </p:nvSpPr>
          <p:spPr>
            <a:xfrm>
              <a:off x="0" y="0"/>
              <a:ext cx="1773872" cy="145723"/>
            </a:xfrm>
            <a:custGeom>
              <a:avLst/>
              <a:gdLst/>
              <a:ahLst/>
              <a:cxnLst/>
              <a:rect l="l" t="t" r="r" b="b"/>
              <a:pathLst>
                <a:path w="1773872" h="145723">
                  <a:moveTo>
                    <a:pt x="0" y="0"/>
                  </a:moveTo>
                  <a:lnTo>
                    <a:pt x="1773872" y="0"/>
                  </a:lnTo>
                  <a:lnTo>
                    <a:pt x="1773872" y="145723"/>
                  </a:lnTo>
                  <a:lnTo>
                    <a:pt x="0" y="145723"/>
                  </a:lnTo>
                  <a:close/>
                </a:path>
              </a:pathLst>
            </a:custGeom>
            <a:solidFill>
              <a:srgbClr val="F23436"/>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GT"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TextBox 4"/>
            <p:cNvSpPr txBox="1"/>
            <p:nvPr/>
          </p:nvSpPr>
          <p:spPr>
            <a:xfrm>
              <a:off x="0" y="-47625"/>
              <a:ext cx="1773872" cy="193348"/>
            </a:xfrm>
            <a:prstGeom prst="rect">
              <a:avLst/>
            </a:prstGeom>
          </p:spPr>
          <p:txBody>
            <a:bodyPr lIns="50800" tIns="50800" rIns="50800" bIns="50800" rtlCol="0" anchor="ctr"/>
            <a:lstStyle/>
            <a:p>
              <a:pPr marL="0" marR="0" lvl="0" indent="0" algn="ctr" defTabSz="914400" rtl="0" eaLnBrk="1" fontAlgn="auto" latinLnBrk="0" hangingPunct="1">
                <a:lnSpc>
                  <a:spcPts val="307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6" name="CuadroTexto 5">
            <a:extLst>
              <a:ext uri="{FF2B5EF4-FFF2-40B4-BE49-F238E27FC236}">
                <a16:creationId xmlns:a16="http://schemas.microsoft.com/office/drawing/2014/main" id="{194146A6-4249-37F3-9C63-AECE1FB0434E}"/>
              </a:ext>
            </a:extLst>
          </p:cNvPr>
          <p:cNvSpPr txBox="1"/>
          <p:nvPr/>
        </p:nvSpPr>
        <p:spPr>
          <a:xfrm>
            <a:off x="914400" y="1257300"/>
            <a:ext cx="16459200" cy="6494085"/>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s-ES" sz="3200" b="1" i="0" u="none" strike="noStrike" kern="1200" cap="none" spc="0" normalizeH="0" baseline="0" noProof="0" dirty="0">
                <a:ln>
                  <a:noFill/>
                </a:ln>
                <a:solidFill>
                  <a:prstClr val="black"/>
                </a:solidFill>
                <a:effectLst/>
                <a:uLnTx/>
                <a:uFillTx/>
                <a:latin typeface="Calibri"/>
                <a:ea typeface="+mn-ea"/>
                <a:cs typeface="+mn-cs"/>
              </a:rPr>
              <a:t>¿Cómo funcionan estas células solares?</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s-ES" sz="32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s-ES" sz="3200" b="0" i="0" u="none" strike="noStrike" kern="1200" cap="none" spc="0" normalizeH="0" baseline="0" noProof="0" dirty="0">
                <a:ln>
                  <a:noFill/>
                </a:ln>
                <a:solidFill>
                  <a:prstClr val="black"/>
                </a:solidFill>
                <a:effectLst/>
                <a:uLnTx/>
                <a:uFillTx/>
                <a:latin typeface="Calibri"/>
                <a:ea typeface="+mn-ea"/>
                <a:cs typeface="+mn-cs"/>
              </a:rPr>
              <a:t>Gracias a los materiales con los que están fabricadas, cuando los rayos del sol inciden sobre ellas de forma directa, los electrones contenidos en las capas más externas de las células fotovoltaicas absorben la radiación y generan energía eléctrica de corriente continua. Para construir una planta solar fotovoltaica, estas células solares se conectan en serie para integrarse en un único módulo, formando placas fotovoltaicas.</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s-ES" sz="32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s-ES" sz="3200" b="0" i="0" u="none" strike="noStrike" kern="1200" cap="none" spc="0" normalizeH="0" baseline="0" noProof="0" dirty="0">
                <a:ln>
                  <a:noFill/>
                </a:ln>
                <a:solidFill>
                  <a:prstClr val="black"/>
                </a:solidFill>
                <a:effectLst/>
                <a:uLnTx/>
                <a:uFillTx/>
                <a:latin typeface="Calibri"/>
                <a:ea typeface="+mn-ea"/>
                <a:cs typeface="+mn-cs"/>
              </a:rPr>
              <a:t>A su vez, las placas solares están conectadas en paralelo, formando cadenas acopladas a un inversor de corriente, donde la corriente continua procedente de las células fotovoltaicas se transforma en energía alterna. Después, la electricidad se dirige a un transformador, en el que se adapta su tensión e intensidad para que pueda ser transportada a través de las líneas de la red eléctrica hasta los centros de consumo.</a:t>
            </a:r>
          </a:p>
        </p:txBody>
      </p:sp>
    </p:spTree>
    <p:extLst>
      <p:ext uri="{BB962C8B-B14F-4D97-AF65-F5344CB8AC3E}">
        <p14:creationId xmlns:p14="http://schemas.microsoft.com/office/powerpoint/2010/main" val="24353707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1759425" y="9733708"/>
            <a:ext cx="6735168" cy="553292"/>
            <a:chOff x="0" y="0"/>
            <a:chExt cx="1773872" cy="145723"/>
          </a:xfrm>
        </p:grpSpPr>
        <p:sp>
          <p:nvSpPr>
            <p:cNvPr id="3" name="Freeform 3"/>
            <p:cNvSpPr/>
            <p:nvPr/>
          </p:nvSpPr>
          <p:spPr>
            <a:xfrm>
              <a:off x="0" y="0"/>
              <a:ext cx="1773872" cy="145723"/>
            </a:xfrm>
            <a:custGeom>
              <a:avLst/>
              <a:gdLst/>
              <a:ahLst/>
              <a:cxnLst/>
              <a:rect l="l" t="t" r="r" b="b"/>
              <a:pathLst>
                <a:path w="1773872" h="145723">
                  <a:moveTo>
                    <a:pt x="0" y="0"/>
                  </a:moveTo>
                  <a:lnTo>
                    <a:pt x="1773872" y="0"/>
                  </a:lnTo>
                  <a:lnTo>
                    <a:pt x="1773872" y="145723"/>
                  </a:lnTo>
                  <a:lnTo>
                    <a:pt x="0" y="145723"/>
                  </a:lnTo>
                  <a:close/>
                </a:path>
              </a:pathLst>
            </a:custGeom>
            <a:solidFill>
              <a:srgbClr val="F23436"/>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GT"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TextBox 4"/>
            <p:cNvSpPr txBox="1"/>
            <p:nvPr/>
          </p:nvSpPr>
          <p:spPr>
            <a:xfrm>
              <a:off x="0" y="-47625"/>
              <a:ext cx="1773872" cy="193348"/>
            </a:xfrm>
            <a:prstGeom prst="rect">
              <a:avLst/>
            </a:prstGeom>
          </p:spPr>
          <p:txBody>
            <a:bodyPr lIns="50800" tIns="50800" rIns="50800" bIns="50800" rtlCol="0" anchor="ctr"/>
            <a:lstStyle/>
            <a:p>
              <a:pPr marL="0" marR="0" lvl="0" indent="0" algn="ctr" defTabSz="914400" rtl="0" eaLnBrk="1" fontAlgn="auto" latinLnBrk="0" hangingPunct="1">
                <a:lnSpc>
                  <a:spcPts val="307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pic>
        <p:nvPicPr>
          <p:cNvPr id="1026" name="Picture 2" descr="Instalación Placas Solares Madrid ▷ Besun Energy ®">
            <a:extLst>
              <a:ext uri="{FF2B5EF4-FFF2-40B4-BE49-F238E27FC236}">
                <a16:creationId xmlns:a16="http://schemas.microsoft.com/office/drawing/2014/main" id="{3362BA89-B340-7504-28BE-7D016D57CB2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29000" y="466725"/>
            <a:ext cx="11430000" cy="98202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328011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1759425" y="9733708"/>
            <a:ext cx="6735168" cy="553292"/>
            <a:chOff x="0" y="0"/>
            <a:chExt cx="1773872" cy="145723"/>
          </a:xfrm>
        </p:grpSpPr>
        <p:sp>
          <p:nvSpPr>
            <p:cNvPr id="3" name="Freeform 3"/>
            <p:cNvSpPr/>
            <p:nvPr/>
          </p:nvSpPr>
          <p:spPr>
            <a:xfrm>
              <a:off x="0" y="0"/>
              <a:ext cx="1773872" cy="145723"/>
            </a:xfrm>
            <a:custGeom>
              <a:avLst/>
              <a:gdLst/>
              <a:ahLst/>
              <a:cxnLst/>
              <a:rect l="l" t="t" r="r" b="b"/>
              <a:pathLst>
                <a:path w="1773872" h="145723">
                  <a:moveTo>
                    <a:pt x="0" y="0"/>
                  </a:moveTo>
                  <a:lnTo>
                    <a:pt x="1773872" y="0"/>
                  </a:lnTo>
                  <a:lnTo>
                    <a:pt x="1773872" y="145723"/>
                  </a:lnTo>
                  <a:lnTo>
                    <a:pt x="0" y="145723"/>
                  </a:lnTo>
                  <a:close/>
                </a:path>
              </a:pathLst>
            </a:custGeom>
            <a:solidFill>
              <a:srgbClr val="F23436"/>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GT"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TextBox 4"/>
            <p:cNvSpPr txBox="1"/>
            <p:nvPr/>
          </p:nvSpPr>
          <p:spPr>
            <a:xfrm>
              <a:off x="0" y="-47625"/>
              <a:ext cx="1773872" cy="193348"/>
            </a:xfrm>
            <a:prstGeom prst="rect">
              <a:avLst/>
            </a:prstGeom>
          </p:spPr>
          <p:txBody>
            <a:bodyPr lIns="50800" tIns="50800" rIns="50800" bIns="50800" rtlCol="0" anchor="ctr"/>
            <a:lstStyle/>
            <a:p>
              <a:pPr marL="0" marR="0" lvl="0" indent="0" algn="ctr" defTabSz="914400" rtl="0" eaLnBrk="1" fontAlgn="auto" latinLnBrk="0" hangingPunct="1">
                <a:lnSpc>
                  <a:spcPts val="307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pic>
        <p:nvPicPr>
          <p:cNvPr id="2050" name="Picture 2" descr="Las placas solares: el corazón de un sistema fotovoltaico - SunFields">
            <a:extLst>
              <a:ext uri="{FF2B5EF4-FFF2-40B4-BE49-F238E27FC236}">
                <a16:creationId xmlns:a16="http://schemas.microsoft.com/office/drawing/2014/main" id="{0C7C9F69-D0F3-BFF6-BDDA-2F84D32E391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90875" y="857250"/>
            <a:ext cx="11906250" cy="8572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7269421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14">
            <a:extLst>
              <a:ext uri="{FF2B5EF4-FFF2-40B4-BE49-F238E27FC236}">
                <a16:creationId xmlns:a16="http://schemas.microsoft.com/office/drawing/2014/main" id="{A92CF0CF-E20D-4C03-AE25-A672922F5F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7542" cy="10287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6" name="Rectangle 16">
            <a:extLst>
              <a:ext uri="{FF2B5EF4-FFF2-40B4-BE49-F238E27FC236}">
                <a16:creationId xmlns:a16="http://schemas.microsoft.com/office/drawing/2014/main" id="{25DA13EB-813C-4FE6-98DF-2EE99B48BD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602" y="0"/>
            <a:ext cx="18287542" cy="10287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white"/>
              </a:solidFill>
              <a:effectLst/>
              <a:uLnTx/>
              <a:uFillTx/>
              <a:latin typeface="Calibri"/>
              <a:ea typeface="+mn-ea"/>
              <a:cs typeface="+mn-cs"/>
            </a:endParaRPr>
          </a:p>
        </p:txBody>
      </p:sp>
      <p:sp>
        <p:nvSpPr>
          <p:cNvPr id="8" name="CuadroTexto 7">
            <a:extLst>
              <a:ext uri="{FF2B5EF4-FFF2-40B4-BE49-F238E27FC236}">
                <a16:creationId xmlns:a16="http://schemas.microsoft.com/office/drawing/2014/main" id="{B1C7BFA6-D9C2-AC48-FA4B-1D26828D3A50}"/>
              </a:ext>
            </a:extLst>
          </p:cNvPr>
          <p:cNvSpPr txBox="1"/>
          <p:nvPr/>
        </p:nvSpPr>
        <p:spPr>
          <a:xfrm>
            <a:off x="7052928" y="7565381"/>
            <a:ext cx="9711072" cy="2668575"/>
          </a:xfrm>
          <a:prstGeom prst="rect">
            <a:avLst/>
          </a:prstGeom>
        </p:spPr>
        <p:txBody>
          <a:bodyPr vert="horz" lIns="91440" tIns="45720" rIns="91440" bIns="45720" rtlCol="0" anchor="t">
            <a:normAutofit/>
          </a:bodyPr>
          <a:lstStyle/>
          <a:p>
            <a:pPr marL="0" marR="0" lvl="0" indent="0" algn="l" defTabSz="914400" rtl="0" eaLnBrk="1" fontAlgn="auto" latinLnBrk="0" hangingPunct="1">
              <a:lnSpc>
                <a:spcPct val="90000"/>
              </a:lnSpc>
              <a:spcBef>
                <a:spcPct val="0"/>
              </a:spcBef>
              <a:spcAft>
                <a:spcPts val="600"/>
              </a:spcAft>
              <a:buClrTx/>
              <a:buSzTx/>
              <a:buFontTx/>
              <a:buNone/>
              <a:tabLst/>
              <a:defRPr/>
            </a:pPr>
            <a:r>
              <a:rPr kumimoji="0" lang="en-US" sz="6000" b="1" i="0" u="none" strike="noStrike" kern="1200" cap="none" spc="0" normalizeH="0" baseline="0" noProof="0" dirty="0">
                <a:ln>
                  <a:noFill/>
                </a:ln>
                <a:solidFill>
                  <a:srgbClr val="1F497D"/>
                </a:solidFill>
                <a:effectLst/>
                <a:uLnTx/>
                <a:uFillTx/>
                <a:latin typeface="Calibri"/>
                <a:ea typeface="+mn-ea"/>
                <a:cs typeface="+mn-cs"/>
              </a:rPr>
              <a:t>Hotel Valle Dorado, Río Hondo Zacapa, Guatemala</a:t>
            </a:r>
          </a:p>
        </p:txBody>
      </p:sp>
      <p:grpSp>
        <p:nvGrpSpPr>
          <p:cNvPr id="27" name="Group 18">
            <a:extLst>
              <a:ext uri="{FF2B5EF4-FFF2-40B4-BE49-F238E27FC236}">
                <a16:creationId xmlns:a16="http://schemas.microsoft.com/office/drawing/2014/main" id="{B260B5EA-4014-4EFA-BF60-A205CBAE251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2581824" y="-1"/>
            <a:ext cx="5749320" cy="4314203"/>
            <a:chOff x="-305" y="-1"/>
            <a:chExt cx="3832880" cy="2876136"/>
          </a:xfrm>
        </p:grpSpPr>
        <p:sp>
          <p:nvSpPr>
            <p:cNvPr id="20" name="Freeform: Shape 19">
              <a:extLst>
                <a:ext uri="{FF2B5EF4-FFF2-40B4-BE49-F238E27FC236}">
                  <a16:creationId xmlns:a16="http://schemas.microsoft.com/office/drawing/2014/main" id="{1BF22D31-E67F-4195-BB34-8A55D356D8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8" name="Freeform: Shape 20">
              <a:extLst>
                <a:ext uri="{FF2B5EF4-FFF2-40B4-BE49-F238E27FC236}">
                  <a16:creationId xmlns:a16="http://schemas.microsoft.com/office/drawing/2014/main" id="{B703BC64-7A80-4B64-8B4B-8D19B05111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22" name="Freeform: Shape 21">
              <a:extLst>
                <a:ext uri="{FF2B5EF4-FFF2-40B4-BE49-F238E27FC236}">
                  <a16:creationId xmlns:a16="http://schemas.microsoft.com/office/drawing/2014/main" id="{7E248705-DEB3-4F6D-A983-40926993E8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29" name="Freeform: Shape 22">
              <a:extLst>
                <a:ext uri="{FF2B5EF4-FFF2-40B4-BE49-F238E27FC236}">
                  <a16:creationId xmlns:a16="http://schemas.microsoft.com/office/drawing/2014/main" id="{2A101A4C-B9EA-4041-A2C3-59AF4B6DE0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pic>
        <p:nvPicPr>
          <p:cNvPr id="6" name="Imagen 5" descr="Vista desde lo alto de una montaña junto a un cuerpo de agua&#10;&#10;Descripción generada automáticamente con confianza media">
            <a:extLst>
              <a:ext uri="{FF2B5EF4-FFF2-40B4-BE49-F238E27FC236}">
                <a16:creationId xmlns:a16="http://schemas.microsoft.com/office/drawing/2014/main" id="{0262765B-EEDE-ED62-5132-5BC24C88E89B}"/>
              </a:ext>
            </a:extLst>
          </p:cNvPr>
          <p:cNvPicPr>
            <a:picLocks noChangeAspect="1"/>
          </p:cNvPicPr>
          <p:nvPr/>
        </p:nvPicPr>
        <p:blipFill>
          <a:blip r:embed="rId2"/>
          <a:stretch>
            <a:fillRect/>
          </a:stretch>
        </p:blipFill>
        <p:spPr>
          <a:xfrm>
            <a:off x="1004490" y="595095"/>
            <a:ext cx="10896600" cy="6837618"/>
          </a:xfrm>
          <a:prstGeom prst="rect">
            <a:avLst/>
          </a:prstGeom>
        </p:spPr>
      </p:pic>
      <p:grpSp>
        <p:nvGrpSpPr>
          <p:cNvPr id="2" name="Group 2">
            <a:extLst>
              <a:ext uri="{FF2B5EF4-FFF2-40B4-BE49-F238E27FC236}">
                <a16:creationId xmlns:a16="http://schemas.microsoft.com/office/drawing/2014/main" id="{2BA6B331-1C46-D258-2636-11E3A49F77C0}"/>
              </a:ext>
            </a:extLst>
          </p:cNvPr>
          <p:cNvGrpSpPr/>
          <p:nvPr/>
        </p:nvGrpSpPr>
        <p:grpSpPr>
          <a:xfrm>
            <a:off x="805065" y="7565381"/>
            <a:ext cx="5486400" cy="598005"/>
            <a:chOff x="0" y="-47625"/>
            <a:chExt cx="1773872" cy="193348"/>
          </a:xfrm>
        </p:grpSpPr>
        <p:sp>
          <p:nvSpPr>
            <p:cNvPr id="3" name="Freeform 3">
              <a:extLst>
                <a:ext uri="{FF2B5EF4-FFF2-40B4-BE49-F238E27FC236}">
                  <a16:creationId xmlns:a16="http://schemas.microsoft.com/office/drawing/2014/main" id="{E963CE8E-9398-3BD2-B60B-5DCC040263BA}"/>
                </a:ext>
              </a:extLst>
            </p:cNvPr>
            <p:cNvSpPr/>
            <p:nvPr/>
          </p:nvSpPr>
          <p:spPr>
            <a:xfrm>
              <a:off x="0" y="0"/>
              <a:ext cx="1773872" cy="145723"/>
            </a:xfrm>
            <a:custGeom>
              <a:avLst/>
              <a:gdLst/>
              <a:ahLst/>
              <a:cxnLst/>
              <a:rect l="l" t="t" r="r" b="b"/>
              <a:pathLst>
                <a:path w="1773872" h="145723">
                  <a:moveTo>
                    <a:pt x="0" y="0"/>
                  </a:moveTo>
                  <a:lnTo>
                    <a:pt x="1773872" y="0"/>
                  </a:lnTo>
                  <a:lnTo>
                    <a:pt x="1773872" y="145723"/>
                  </a:lnTo>
                  <a:lnTo>
                    <a:pt x="0" y="145723"/>
                  </a:lnTo>
                  <a:close/>
                </a:path>
              </a:pathLst>
            </a:custGeom>
            <a:solidFill>
              <a:srgbClr val="F23436"/>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GT"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TextBox 4">
              <a:extLst>
                <a:ext uri="{FF2B5EF4-FFF2-40B4-BE49-F238E27FC236}">
                  <a16:creationId xmlns:a16="http://schemas.microsoft.com/office/drawing/2014/main" id="{DA903190-D0B0-738B-3B90-E3CEBA050EF2}"/>
                </a:ext>
              </a:extLst>
            </p:cNvPr>
            <p:cNvSpPr txBox="1"/>
            <p:nvPr/>
          </p:nvSpPr>
          <p:spPr>
            <a:xfrm>
              <a:off x="0" y="-47625"/>
              <a:ext cx="1773872" cy="193348"/>
            </a:xfrm>
            <a:prstGeom prst="rect">
              <a:avLst/>
            </a:prstGeom>
          </p:spPr>
          <p:txBody>
            <a:bodyPr lIns="50800" tIns="50800" rIns="50800" bIns="50800" rtlCol="0" anchor="ctr"/>
            <a:lstStyle/>
            <a:p>
              <a:pPr marL="0" marR="0" lvl="0" indent="0" algn="ctr" defTabSz="914400" rtl="0" eaLnBrk="1" fontAlgn="auto" latinLnBrk="0" hangingPunct="1">
                <a:lnSpc>
                  <a:spcPts val="307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Tree>
    <p:extLst>
      <p:ext uri="{BB962C8B-B14F-4D97-AF65-F5344CB8AC3E}">
        <p14:creationId xmlns:p14="http://schemas.microsoft.com/office/powerpoint/2010/main" val="24652647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04695F26-39DB-450E-B464-9C76CD233B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7542" cy="10287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a:extLst>
              <a:ext uri="{FF2B5EF4-FFF2-40B4-BE49-F238E27FC236}">
                <a16:creationId xmlns:a16="http://schemas.microsoft.com/office/drawing/2014/main" id="{2F42E55F-A297-474F-AF2D-6D3A15822B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16" y="-1"/>
            <a:ext cx="18287542" cy="102869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6" name="CuadroTexto 5">
            <a:extLst>
              <a:ext uri="{FF2B5EF4-FFF2-40B4-BE49-F238E27FC236}">
                <a16:creationId xmlns:a16="http://schemas.microsoft.com/office/drawing/2014/main" id="{51C2FBD3-321B-0DFD-3A2B-FA45362FF725}"/>
              </a:ext>
            </a:extLst>
          </p:cNvPr>
          <p:cNvSpPr txBox="1"/>
          <p:nvPr/>
        </p:nvSpPr>
        <p:spPr>
          <a:xfrm>
            <a:off x="1222583" y="418006"/>
            <a:ext cx="7517209" cy="2660904"/>
          </a:xfrm>
          <a:prstGeom prst="rect">
            <a:avLst/>
          </a:prstGeom>
        </p:spPr>
        <p:txBody>
          <a:bodyPr vert="horz" lIns="91440" tIns="45720" rIns="91440" bIns="45720" rtlCol="0" anchor="ctr">
            <a:normAutofit/>
          </a:bodyPr>
          <a:lstStyle/>
          <a:p>
            <a:pPr marL="0" marR="0" lvl="0" indent="0" algn="l" defTabSz="914400" rtl="0" eaLnBrk="1" fontAlgn="auto" latinLnBrk="0" hangingPunct="1">
              <a:lnSpc>
                <a:spcPct val="90000"/>
              </a:lnSpc>
              <a:spcBef>
                <a:spcPct val="0"/>
              </a:spcBef>
              <a:spcAft>
                <a:spcPts val="600"/>
              </a:spcAft>
              <a:buClrTx/>
              <a:buSzTx/>
              <a:buFontTx/>
              <a:buNone/>
              <a:tabLst/>
              <a:defRPr/>
            </a:pPr>
            <a:r>
              <a:rPr kumimoji="0" lang="en-US" sz="5400" b="1" i="0" u="none" strike="noStrike" kern="1200" cap="none" spc="0" normalizeH="0" baseline="0" noProof="0">
                <a:ln>
                  <a:noFill/>
                </a:ln>
                <a:solidFill>
                  <a:srgbClr val="1F497D"/>
                </a:solidFill>
                <a:effectLst/>
                <a:uLnTx/>
                <a:uFillTx/>
                <a:latin typeface="Calibri"/>
                <a:ea typeface="+mn-ea"/>
                <a:cs typeface="+mn-cs"/>
              </a:rPr>
              <a:t>Green Solar I (SIBO, S, A) Estanzuela, Zacapa</a:t>
            </a:r>
          </a:p>
        </p:txBody>
      </p:sp>
      <p:grpSp>
        <p:nvGrpSpPr>
          <p:cNvPr id="19" name="Group 18">
            <a:extLst>
              <a:ext uri="{FF2B5EF4-FFF2-40B4-BE49-F238E27FC236}">
                <a16:creationId xmlns:a16="http://schemas.microsoft.com/office/drawing/2014/main" id="{972070F7-E065-4D60-8938-9FB8CDB8ACB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flipH="1">
            <a:off x="-269877" y="255465"/>
            <a:ext cx="3772422" cy="3261500"/>
            <a:chOff x="-305" y="-4155"/>
            <a:chExt cx="2514948" cy="2174333"/>
          </a:xfrm>
        </p:grpSpPr>
        <p:sp>
          <p:nvSpPr>
            <p:cNvPr id="20" name="Freeform: Shape 19">
              <a:extLst>
                <a:ext uri="{FF2B5EF4-FFF2-40B4-BE49-F238E27FC236}">
                  <a16:creationId xmlns:a16="http://schemas.microsoft.com/office/drawing/2014/main" id="{4F672C03-E63A-4F6B-96BD-0C4E3F1B82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1" name="Freeform: Shape 20">
              <a:extLst>
                <a:ext uri="{FF2B5EF4-FFF2-40B4-BE49-F238E27FC236}">
                  <a16:creationId xmlns:a16="http://schemas.microsoft.com/office/drawing/2014/main" id="{9BB94CDF-5C33-4B0A-B53F-50762639C1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2" name="Freeform: Shape 21">
              <a:extLst>
                <a:ext uri="{FF2B5EF4-FFF2-40B4-BE49-F238E27FC236}">
                  <a16:creationId xmlns:a16="http://schemas.microsoft.com/office/drawing/2014/main" id="{D3C92F9D-544D-4691-94A7-B937CF4BE3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white"/>
                </a:solidFill>
                <a:effectLst/>
                <a:uLnTx/>
                <a:uFillTx/>
                <a:latin typeface="Calibri"/>
                <a:ea typeface="+mn-ea"/>
                <a:cs typeface="+mn-cs"/>
              </a:endParaRPr>
            </a:p>
          </p:txBody>
        </p:sp>
        <p:sp>
          <p:nvSpPr>
            <p:cNvPr id="23" name="Freeform: Shape 22">
              <a:extLst>
                <a:ext uri="{FF2B5EF4-FFF2-40B4-BE49-F238E27FC236}">
                  <a16:creationId xmlns:a16="http://schemas.microsoft.com/office/drawing/2014/main" id="{DCA4DEE4-B7B4-47F4-A9C5-31AED8369A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grpSp>
      <p:sp>
        <p:nvSpPr>
          <p:cNvPr id="8" name="CuadroTexto 7">
            <a:extLst>
              <a:ext uri="{FF2B5EF4-FFF2-40B4-BE49-F238E27FC236}">
                <a16:creationId xmlns:a16="http://schemas.microsoft.com/office/drawing/2014/main" id="{DE5EA757-9F1E-AD11-2807-D11AEE7C7045}"/>
              </a:ext>
            </a:extLst>
          </p:cNvPr>
          <p:cNvSpPr txBox="1"/>
          <p:nvPr/>
        </p:nvSpPr>
        <p:spPr>
          <a:xfrm>
            <a:off x="9739201" y="993262"/>
            <a:ext cx="7543800" cy="4988438"/>
          </a:xfrm>
          <a:prstGeom prst="rect">
            <a:avLst/>
          </a:prstGeom>
        </p:spPr>
        <p:txBody>
          <a:bodyPr vert="horz" lIns="91440" tIns="45720" rIns="91440" bIns="45720" rtlCol="0" anchor="ctr">
            <a:normAutofit lnSpcReduction="10000"/>
          </a:bodyPr>
          <a:lstStyle/>
          <a:p>
            <a:pPr marL="0" marR="0" lvl="0" indent="0" algn="just" defTabSz="914400" rtl="0" eaLnBrk="1" fontAlgn="auto" latinLnBrk="0" hangingPunct="1">
              <a:lnSpc>
                <a:spcPct val="90000"/>
              </a:lnSpc>
              <a:spcBef>
                <a:spcPts val="0"/>
              </a:spcBef>
              <a:spcAft>
                <a:spcPts val="600"/>
              </a:spcAft>
              <a:buClrTx/>
              <a:buSzTx/>
              <a:buFontTx/>
              <a:buNone/>
              <a:tabLst/>
              <a:defRPr/>
            </a:pPr>
            <a:r>
              <a:rPr kumimoji="0" lang="es-GT" sz="3200" b="0" i="0" u="none" strike="noStrike" kern="1200" cap="none" spc="0" normalizeH="0" baseline="0" noProof="0" dirty="0" err="1">
                <a:ln>
                  <a:noFill/>
                </a:ln>
                <a:solidFill>
                  <a:prstClr val="black"/>
                </a:solidFill>
                <a:effectLst/>
                <a:uLnTx/>
                <a:uFillTx/>
                <a:latin typeface="Calibri"/>
                <a:ea typeface="+mn-ea"/>
                <a:cs typeface="+mn-cs"/>
              </a:rPr>
              <a:t>Sibo</a:t>
            </a:r>
            <a:r>
              <a:rPr kumimoji="0" lang="es-GT" sz="3200" b="0" i="0" u="none" strike="noStrike" kern="1200" cap="none" spc="0" normalizeH="0" baseline="0" noProof="0" dirty="0">
                <a:ln>
                  <a:noFill/>
                </a:ln>
                <a:solidFill>
                  <a:prstClr val="black"/>
                </a:solidFill>
                <a:effectLst/>
                <a:uLnTx/>
                <a:uFillTx/>
                <a:latin typeface="Calibri"/>
                <a:ea typeface="+mn-ea"/>
                <a:cs typeface="+mn-cs"/>
              </a:rPr>
              <a:t> Energy S.A., empresa costarricense especializada en energía solar fotovoltaica, </a:t>
            </a:r>
            <a:r>
              <a:rPr kumimoji="0" lang="es-ES" sz="3200" b="0" i="0" u="none" strike="noStrike" kern="1200" cap="none" spc="0" normalizeH="0" baseline="0" noProof="0" dirty="0">
                <a:ln>
                  <a:noFill/>
                </a:ln>
                <a:solidFill>
                  <a:prstClr val="black"/>
                </a:solidFill>
                <a:effectLst/>
                <a:uLnTx/>
                <a:uFillTx/>
                <a:latin typeface="Calibri"/>
                <a:ea typeface="+mn-ea"/>
                <a:cs typeface="+mn-cs"/>
              </a:rPr>
              <a:t>Con más de 12 hectáreas y 20.320 paneles solares es considerada la mayor planta solar de Centroamérica. Con capacidad de 5 MW</a:t>
            </a:r>
          </a:p>
          <a:p>
            <a:pPr marL="0" marR="0" lvl="0" indent="0" algn="just" defTabSz="914400" rtl="0" eaLnBrk="1" fontAlgn="auto" latinLnBrk="0" hangingPunct="1">
              <a:lnSpc>
                <a:spcPct val="90000"/>
              </a:lnSpc>
              <a:spcBef>
                <a:spcPts val="0"/>
              </a:spcBef>
              <a:spcAft>
                <a:spcPts val="600"/>
              </a:spcAft>
              <a:buClrTx/>
              <a:buSzTx/>
              <a:buFontTx/>
              <a:buNone/>
              <a:tabLst/>
              <a:defRPr/>
            </a:pPr>
            <a:endParaRPr kumimoji="0" lang="es-ES" sz="32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just" defTabSz="914400" rtl="0" eaLnBrk="1" fontAlgn="auto" latinLnBrk="0" hangingPunct="1">
              <a:lnSpc>
                <a:spcPct val="90000"/>
              </a:lnSpc>
              <a:spcBef>
                <a:spcPts val="0"/>
              </a:spcBef>
              <a:spcAft>
                <a:spcPts val="600"/>
              </a:spcAft>
              <a:buClrTx/>
              <a:buSzTx/>
              <a:buFontTx/>
              <a:buNone/>
              <a:tabLst/>
              <a:defRPr/>
            </a:pPr>
            <a:r>
              <a:rPr kumimoji="0" lang="es-ES" sz="3200" b="0" i="0" u="none" strike="noStrike" kern="1200" cap="none" spc="0" normalizeH="0" baseline="0" noProof="0" dirty="0">
                <a:ln>
                  <a:noFill/>
                </a:ln>
                <a:solidFill>
                  <a:prstClr val="black"/>
                </a:solidFill>
                <a:effectLst/>
                <a:uLnTx/>
                <a:uFillTx/>
                <a:latin typeface="Calibri"/>
                <a:ea typeface="+mn-ea"/>
                <a:cs typeface="+mn-cs"/>
              </a:rPr>
              <a:t>Los paneles giran en forma automática siguiendo la luz del sol, para lo cual se usa un sistema informático en el cual se puede programar según la hora en que sale y se oculta el sol cada día”</a:t>
            </a:r>
            <a:endParaRPr kumimoji="0" lang="en-US" sz="3200" b="0" i="0" u="none" strike="noStrike" kern="1200" cap="none" spc="0" normalizeH="0" baseline="0" noProof="0" dirty="0">
              <a:ln>
                <a:noFill/>
              </a:ln>
              <a:solidFill>
                <a:prstClr val="black"/>
              </a:solidFill>
              <a:effectLst/>
              <a:uLnTx/>
              <a:uFillTx/>
              <a:latin typeface="Calibri"/>
              <a:ea typeface="+mn-ea"/>
              <a:cs typeface="+mn-cs"/>
            </a:endParaRPr>
          </a:p>
        </p:txBody>
      </p:sp>
      <p:pic>
        <p:nvPicPr>
          <p:cNvPr id="10" name="Imagen 9">
            <a:extLst>
              <a:ext uri="{FF2B5EF4-FFF2-40B4-BE49-F238E27FC236}">
                <a16:creationId xmlns:a16="http://schemas.microsoft.com/office/drawing/2014/main" id="{2ACD7837-B2CB-529B-F6D8-4F84AA2A6665}"/>
              </a:ext>
            </a:extLst>
          </p:cNvPr>
          <p:cNvPicPr>
            <a:picLocks noChangeAspect="1"/>
          </p:cNvPicPr>
          <p:nvPr/>
        </p:nvPicPr>
        <p:blipFill>
          <a:blip r:embed="rId2"/>
          <a:stretch>
            <a:fillRect/>
          </a:stretch>
        </p:blipFill>
        <p:spPr>
          <a:xfrm>
            <a:off x="364800" y="4246048"/>
            <a:ext cx="8474400" cy="5296499"/>
          </a:xfrm>
          <a:prstGeom prst="rect">
            <a:avLst/>
          </a:prstGeom>
        </p:spPr>
      </p:pic>
      <p:grpSp>
        <p:nvGrpSpPr>
          <p:cNvPr id="2" name="Group 2">
            <a:extLst>
              <a:ext uri="{FF2B5EF4-FFF2-40B4-BE49-F238E27FC236}">
                <a16:creationId xmlns:a16="http://schemas.microsoft.com/office/drawing/2014/main" id="{2BA6B331-1C46-D258-2636-11E3A49F77C0}"/>
              </a:ext>
            </a:extLst>
          </p:cNvPr>
          <p:cNvGrpSpPr/>
          <p:nvPr/>
        </p:nvGrpSpPr>
        <p:grpSpPr>
          <a:xfrm>
            <a:off x="9533461" y="6541533"/>
            <a:ext cx="7749540" cy="844682"/>
            <a:chOff x="0" y="-47625"/>
            <a:chExt cx="1773872" cy="193348"/>
          </a:xfrm>
        </p:grpSpPr>
        <p:sp>
          <p:nvSpPr>
            <p:cNvPr id="3" name="Freeform 3">
              <a:extLst>
                <a:ext uri="{FF2B5EF4-FFF2-40B4-BE49-F238E27FC236}">
                  <a16:creationId xmlns:a16="http://schemas.microsoft.com/office/drawing/2014/main" id="{E963CE8E-9398-3BD2-B60B-5DCC040263BA}"/>
                </a:ext>
              </a:extLst>
            </p:cNvPr>
            <p:cNvSpPr/>
            <p:nvPr/>
          </p:nvSpPr>
          <p:spPr>
            <a:xfrm>
              <a:off x="0" y="0"/>
              <a:ext cx="1773872" cy="145723"/>
            </a:xfrm>
            <a:custGeom>
              <a:avLst/>
              <a:gdLst/>
              <a:ahLst/>
              <a:cxnLst/>
              <a:rect l="l" t="t" r="r" b="b"/>
              <a:pathLst>
                <a:path w="1773872" h="145723">
                  <a:moveTo>
                    <a:pt x="0" y="0"/>
                  </a:moveTo>
                  <a:lnTo>
                    <a:pt x="1773872" y="0"/>
                  </a:lnTo>
                  <a:lnTo>
                    <a:pt x="1773872" y="145723"/>
                  </a:lnTo>
                  <a:lnTo>
                    <a:pt x="0" y="145723"/>
                  </a:lnTo>
                  <a:close/>
                </a:path>
              </a:pathLst>
            </a:custGeom>
            <a:solidFill>
              <a:srgbClr val="F23436"/>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GT"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TextBox 4">
              <a:extLst>
                <a:ext uri="{FF2B5EF4-FFF2-40B4-BE49-F238E27FC236}">
                  <a16:creationId xmlns:a16="http://schemas.microsoft.com/office/drawing/2014/main" id="{DA903190-D0B0-738B-3B90-E3CEBA050EF2}"/>
                </a:ext>
              </a:extLst>
            </p:cNvPr>
            <p:cNvSpPr txBox="1"/>
            <p:nvPr/>
          </p:nvSpPr>
          <p:spPr>
            <a:xfrm>
              <a:off x="0" y="-47625"/>
              <a:ext cx="1773872" cy="193348"/>
            </a:xfrm>
            <a:prstGeom prst="rect">
              <a:avLst/>
            </a:prstGeom>
          </p:spPr>
          <p:txBody>
            <a:bodyPr lIns="50800" tIns="50800" rIns="50800" bIns="50800" rtlCol="0" anchor="ctr"/>
            <a:lstStyle/>
            <a:p>
              <a:pPr marL="0" marR="0" lvl="0" indent="0" algn="ctr" defTabSz="914400" rtl="0" eaLnBrk="1" fontAlgn="auto" latinLnBrk="0" hangingPunct="1">
                <a:lnSpc>
                  <a:spcPts val="307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Tree>
    <p:extLst>
      <p:ext uri="{BB962C8B-B14F-4D97-AF65-F5344CB8AC3E}">
        <p14:creationId xmlns:p14="http://schemas.microsoft.com/office/powerpoint/2010/main" val="306080030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04695F26-39DB-450E-B464-9C76CD233B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7542" cy="10287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2" name="Rectangle 21">
            <a:extLst>
              <a:ext uri="{FF2B5EF4-FFF2-40B4-BE49-F238E27FC236}">
                <a16:creationId xmlns:a16="http://schemas.microsoft.com/office/drawing/2014/main" id="{2F42E55F-A297-474F-AF2D-6D3A15822B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16" y="-1"/>
            <a:ext cx="18287542" cy="102869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nvGrpSpPr>
          <p:cNvPr id="24" name="Group 23">
            <a:extLst>
              <a:ext uri="{FF2B5EF4-FFF2-40B4-BE49-F238E27FC236}">
                <a16:creationId xmlns:a16="http://schemas.microsoft.com/office/drawing/2014/main" id="{972070F7-E065-4D60-8938-9FB8CDB8ACB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flipH="1">
            <a:off x="-269877" y="255465"/>
            <a:ext cx="3772422" cy="3261500"/>
            <a:chOff x="-305" y="-4155"/>
            <a:chExt cx="2514948" cy="2174333"/>
          </a:xfrm>
        </p:grpSpPr>
        <p:sp>
          <p:nvSpPr>
            <p:cNvPr id="25" name="Freeform: Shape 24">
              <a:extLst>
                <a:ext uri="{FF2B5EF4-FFF2-40B4-BE49-F238E27FC236}">
                  <a16:creationId xmlns:a16="http://schemas.microsoft.com/office/drawing/2014/main" id="{4F672C03-E63A-4F6B-96BD-0C4E3F1B82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6" name="Freeform: Shape 25">
              <a:extLst>
                <a:ext uri="{FF2B5EF4-FFF2-40B4-BE49-F238E27FC236}">
                  <a16:creationId xmlns:a16="http://schemas.microsoft.com/office/drawing/2014/main" id="{9BB94CDF-5C33-4B0A-B53F-50762639C1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7" name="Freeform: Shape 26">
              <a:extLst>
                <a:ext uri="{FF2B5EF4-FFF2-40B4-BE49-F238E27FC236}">
                  <a16:creationId xmlns:a16="http://schemas.microsoft.com/office/drawing/2014/main" id="{D3C92F9D-544D-4691-94A7-B937CF4BE3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white"/>
                </a:solidFill>
                <a:effectLst/>
                <a:uLnTx/>
                <a:uFillTx/>
                <a:latin typeface="Calibri"/>
                <a:ea typeface="+mn-ea"/>
                <a:cs typeface="+mn-cs"/>
              </a:endParaRPr>
            </a:p>
          </p:txBody>
        </p:sp>
        <p:sp>
          <p:nvSpPr>
            <p:cNvPr id="28" name="Freeform: Shape 27">
              <a:extLst>
                <a:ext uri="{FF2B5EF4-FFF2-40B4-BE49-F238E27FC236}">
                  <a16:creationId xmlns:a16="http://schemas.microsoft.com/office/drawing/2014/main" id="{DCA4DEE4-B7B4-47F4-A9C5-31AED8369A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grpSp>
      <p:sp>
        <p:nvSpPr>
          <p:cNvPr id="6" name="CuadroTexto 5">
            <a:extLst>
              <a:ext uri="{FF2B5EF4-FFF2-40B4-BE49-F238E27FC236}">
                <a16:creationId xmlns:a16="http://schemas.microsoft.com/office/drawing/2014/main" id="{8A4E827A-A847-BBDD-D4A5-104E1B3E4381}"/>
              </a:ext>
            </a:extLst>
          </p:cNvPr>
          <p:cNvSpPr txBox="1"/>
          <p:nvPr/>
        </p:nvSpPr>
        <p:spPr>
          <a:xfrm>
            <a:off x="980082" y="5841481"/>
            <a:ext cx="8392518" cy="2660904"/>
          </a:xfrm>
          <a:prstGeom prst="rect">
            <a:avLst/>
          </a:prstGeom>
        </p:spPr>
        <p:txBody>
          <a:bodyPr vert="horz" lIns="91440" tIns="45720" rIns="91440" bIns="45720" rtlCol="0" anchor="ctr">
            <a:normAutofit/>
          </a:bodyPr>
          <a:lstStyle/>
          <a:p>
            <a:pPr marL="0" marR="0" lvl="0" indent="0" algn="just" defTabSz="914400" rtl="0" eaLnBrk="1" fontAlgn="auto" latinLnBrk="0" hangingPunct="1">
              <a:lnSpc>
                <a:spcPct val="90000"/>
              </a:lnSpc>
              <a:spcBef>
                <a:spcPts val="0"/>
              </a:spcBef>
              <a:spcAft>
                <a:spcPts val="600"/>
              </a:spcAft>
              <a:buClrTx/>
              <a:buSzTx/>
              <a:buFontTx/>
              <a:buNone/>
              <a:tabLst/>
              <a:defRPr/>
            </a:pPr>
            <a:r>
              <a:rPr kumimoji="0" lang="en-US" sz="2800" b="0" i="0" u="none" strike="noStrike" kern="1200" cap="none" spc="0" normalizeH="0" baseline="0" noProof="0" dirty="0">
                <a:ln>
                  <a:noFill/>
                </a:ln>
                <a:solidFill>
                  <a:srgbClr val="1F497D"/>
                </a:solidFill>
                <a:effectLst/>
                <a:uLnTx/>
                <a:uFillTx/>
                <a:latin typeface="Calibri"/>
                <a:ea typeface="+mn-ea"/>
                <a:cs typeface="+mn-cs"/>
              </a:rPr>
              <a:t>Central de </a:t>
            </a:r>
            <a:r>
              <a:rPr kumimoji="0" lang="en-US" sz="2800" b="0" i="0" u="none" strike="noStrike" kern="1200" cap="none" spc="0" normalizeH="0" baseline="0" noProof="0" dirty="0" err="1">
                <a:ln>
                  <a:noFill/>
                </a:ln>
                <a:solidFill>
                  <a:srgbClr val="1F497D"/>
                </a:solidFill>
                <a:effectLst/>
                <a:uLnTx/>
                <a:uFillTx/>
                <a:latin typeface="Calibri"/>
                <a:ea typeface="+mn-ea"/>
                <a:cs typeface="+mn-cs"/>
              </a:rPr>
              <a:t>generación</a:t>
            </a:r>
            <a:r>
              <a:rPr kumimoji="0" lang="en-US" sz="2800" b="0" i="0" u="none" strike="noStrike" kern="1200" cap="none" spc="0" normalizeH="0" baseline="0" noProof="0" dirty="0">
                <a:ln>
                  <a:noFill/>
                </a:ln>
                <a:solidFill>
                  <a:srgbClr val="1F497D"/>
                </a:solidFill>
                <a:effectLst/>
                <a:uLnTx/>
                <a:uFillTx/>
                <a:latin typeface="Calibri"/>
                <a:ea typeface="+mn-ea"/>
                <a:cs typeface="+mn-cs"/>
              </a:rPr>
              <a:t> con </a:t>
            </a:r>
            <a:r>
              <a:rPr kumimoji="0" lang="en-US" sz="2800" b="0" i="0" u="none" strike="noStrike" kern="1200" cap="none" spc="0" normalizeH="0" baseline="0" noProof="0" dirty="0" err="1">
                <a:ln>
                  <a:noFill/>
                </a:ln>
                <a:solidFill>
                  <a:srgbClr val="1F497D"/>
                </a:solidFill>
                <a:effectLst/>
                <a:uLnTx/>
                <a:uFillTx/>
                <a:latin typeface="Calibri"/>
                <a:ea typeface="+mn-ea"/>
                <a:cs typeface="+mn-cs"/>
              </a:rPr>
              <a:t>una</a:t>
            </a:r>
            <a:r>
              <a:rPr kumimoji="0" lang="en-US" sz="2800" b="0" i="0" u="none" strike="noStrike" kern="1200" cap="none" spc="0" normalizeH="0" baseline="0" noProof="0" dirty="0">
                <a:ln>
                  <a:noFill/>
                </a:ln>
                <a:solidFill>
                  <a:srgbClr val="1F497D"/>
                </a:solidFill>
                <a:effectLst/>
                <a:uLnTx/>
                <a:uFillTx/>
                <a:latin typeface="Calibri"/>
                <a:ea typeface="+mn-ea"/>
                <a:cs typeface="+mn-cs"/>
              </a:rPr>
              <a:t> </a:t>
            </a:r>
            <a:r>
              <a:rPr kumimoji="0" lang="en-US" sz="2800" b="0" i="0" u="none" strike="noStrike" kern="1200" cap="none" spc="0" normalizeH="0" baseline="0" noProof="0" dirty="0" err="1">
                <a:ln>
                  <a:noFill/>
                </a:ln>
                <a:solidFill>
                  <a:srgbClr val="1F497D"/>
                </a:solidFill>
                <a:effectLst/>
                <a:uLnTx/>
                <a:uFillTx/>
                <a:latin typeface="Calibri"/>
                <a:ea typeface="+mn-ea"/>
                <a:cs typeface="+mn-cs"/>
              </a:rPr>
              <a:t>potencia</a:t>
            </a:r>
            <a:r>
              <a:rPr kumimoji="0" lang="en-US" sz="2800" b="0" i="0" u="none" strike="noStrike" kern="1200" cap="none" spc="0" normalizeH="0" baseline="0" noProof="0" dirty="0">
                <a:ln>
                  <a:noFill/>
                </a:ln>
                <a:solidFill>
                  <a:srgbClr val="1F497D"/>
                </a:solidFill>
                <a:effectLst/>
                <a:uLnTx/>
                <a:uFillTx/>
                <a:latin typeface="Calibri"/>
                <a:ea typeface="+mn-ea"/>
                <a:cs typeface="+mn-cs"/>
              </a:rPr>
              <a:t> </a:t>
            </a:r>
            <a:r>
              <a:rPr kumimoji="0" lang="en-US" sz="2800" b="0" i="0" u="none" strike="noStrike" kern="1200" cap="none" spc="0" normalizeH="0" baseline="0" noProof="0" dirty="0" err="1">
                <a:ln>
                  <a:noFill/>
                </a:ln>
                <a:solidFill>
                  <a:srgbClr val="1F497D"/>
                </a:solidFill>
                <a:effectLst/>
                <a:uLnTx/>
                <a:uFillTx/>
                <a:latin typeface="Calibri"/>
                <a:ea typeface="+mn-ea"/>
                <a:cs typeface="+mn-cs"/>
              </a:rPr>
              <a:t>efectiva</a:t>
            </a:r>
            <a:r>
              <a:rPr kumimoji="0" lang="en-US" sz="2800" b="0" i="0" u="none" strike="noStrike" kern="1200" cap="none" spc="0" normalizeH="0" baseline="0" noProof="0" dirty="0">
                <a:ln>
                  <a:noFill/>
                </a:ln>
                <a:solidFill>
                  <a:srgbClr val="1F497D"/>
                </a:solidFill>
                <a:effectLst/>
                <a:uLnTx/>
                <a:uFillTx/>
                <a:latin typeface="Calibri"/>
                <a:ea typeface="+mn-ea"/>
                <a:cs typeface="+mn-cs"/>
              </a:rPr>
              <a:t> de 50.0 MW, se </a:t>
            </a:r>
            <a:r>
              <a:rPr kumimoji="0" lang="en-US" sz="2800" b="0" i="0" u="none" strike="noStrike" kern="1200" cap="none" spc="0" normalizeH="0" baseline="0" noProof="0" dirty="0" err="1">
                <a:ln>
                  <a:noFill/>
                </a:ln>
                <a:solidFill>
                  <a:srgbClr val="1F497D"/>
                </a:solidFill>
                <a:effectLst/>
                <a:uLnTx/>
                <a:uFillTx/>
                <a:latin typeface="Calibri"/>
                <a:ea typeface="+mn-ea"/>
                <a:cs typeface="+mn-cs"/>
              </a:rPr>
              <a:t>localiza</a:t>
            </a:r>
            <a:r>
              <a:rPr kumimoji="0" lang="en-US" sz="2800" b="0" i="0" u="none" strike="noStrike" kern="1200" cap="none" spc="0" normalizeH="0" baseline="0" noProof="0" dirty="0">
                <a:ln>
                  <a:noFill/>
                </a:ln>
                <a:solidFill>
                  <a:srgbClr val="1F497D"/>
                </a:solidFill>
                <a:effectLst/>
                <a:uLnTx/>
                <a:uFillTx/>
                <a:latin typeface="Calibri"/>
                <a:ea typeface="+mn-ea"/>
                <a:cs typeface="+mn-cs"/>
              </a:rPr>
              <a:t> en el municipio de </a:t>
            </a:r>
            <a:r>
              <a:rPr kumimoji="0" lang="en-US" sz="2800" b="0" i="0" u="none" strike="noStrike" kern="1200" cap="none" spc="0" normalizeH="0" baseline="0" noProof="0" dirty="0" err="1">
                <a:ln>
                  <a:noFill/>
                </a:ln>
                <a:solidFill>
                  <a:srgbClr val="1F497D"/>
                </a:solidFill>
                <a:effectLst/>
                <a:uLnTx/>
                <a:uFillTx/>
                <a:latin typeface="Calibri"/>
                <a:ea typeface="+mn-ea"/>
                <a:cs typeface="+mn-cs"/>
              </a:rPr>
              <a:t>Chiquimulilla</a:t>
            </a:r>
            <a:r>
              <a:rPr kumimoji="0" lang="en-US" sz="2800" b="0" i="0" u="none" strike="noStrike" kern="1200" cap="none" spc="0" normalizeH="0" baseline="0" noProof="0" dirty="0">
                <a:ln>
                  <a:noFill/>
                </a:ln>
                <a:solidFill>
                  <a:srgbClr val="1F497D"/>
                </a:solidFill>
                <a:effectLst/>
                <a:uLnTx/>
                <a:uFillTx/>
                <a:latin typeface="Calibri"/>
                <a:ea typeface="+mn-ea"/>
                <a:cs typeface="+mn-cs"/>
              </a:rPr>
              <a:t>, </a:t>
            </a:r>
            <a:r>
              <a:rPr kumimoji="0" lang="en-US" sz="2800" b="0" i="0" u="none" strike="noStrike" kern="1200" cap="none" spc="0" normalizeH="0" baseline="0" noProof="0" dirty="0" err="1">
                <a:ln>
                  <a:noFill/>
                </a:ln>
                <a:solidFill>
                  <a:srgbClr val="1F497D"/>
                </a:solidFill>
                <a:effectLst/>
                <a:uLnTx/>
                <a:uFillTx/>
                <a:latin typeface="Calibri"/>
                <a:ea typeface="+mn-ea"/>
                <a:cs typeface="+mn-cs"/>
              </a:rPr>
              <a:t>departamento</a:t>
            </a:r>
            <a:r>
              <a:rPr kumimoji="0" lang="en-US" sz="2800" b="0" i="0" u="none" strike="noStrike" kern="1200" cap="none" spc="0" normalizeH="0" baseline="0" noProof="0" dirty="0">
                <a:ln>
                  <a:noFill/>
                </a:ln>
                <a:solidFill>
                  <a:srgbClr val="1F497D"/>
                </a:solidFill>
                <a:effectLst/>
                <a:uLnTx/>
                <a:uFillTx/>
                <a:latin typeface="Calibri"/>
                <a:ea typeface="+mn-ea"/>
                <a:cs typeface="+mn-cs"/>
              </a:rPr>
              <a:t> de Santa Rosa. </a:t>
            </a:r>
          </a:p>
        </p:txBody>
      </p:sp>
      <p:pic>
        <p:nvPicPr>
          <p:cNvPr id="8" name="Imagen 7">
            <a:extLst>
              <a:ext uri="{FF2B5EF4-FFF2-40B4-BE49-F238E27FC236}">
                <a16:creationId xmlns:a16="http://schemas.microsoft.com/office/drawing/2014/main" id="{B9442B31-4C0E-3187-AA3A-E5D89785264B}"/>
              </a:ext>
            </a:extLst>
          </p:cNvPr>
          <p:cNvPicPr>
            <a:picLocks noChangeAspect="1"/>
          </p:cNvPicPr>
          <p:nvPr/>
        </p:nvPicPr>
        <p:blipFill>
          <a:blip r:embed="rId2"/>
          <a:stretch>
            <a:fillRect/>
          </a:stretch>
        </p:blipFill>
        <p:spPr>
          <a:xfrm>
            <a:off x="3850044" y="350778"/>
            <a:ext cx="13106400" cy="4456175"/>
          </a:xfrm>
          <a:prstGeom prst="rect">
            <a:avLst/>
          </a:prstGeom>
        </p:spPr>
      </p:pic>
      <p:grpSp>
        <p:nvGrpSpPr>
          <p:cNvPr id="2" name="Group 2">
            <a:extLst>
              <a:ext uri="{FF2B5EF4-FFF2-40B4-BE49-F238E27FC236}">
                <a16:creationId xmlns:a16="http://schemas.microsoft.com/office/drawing/2014/main" id="{2BA6B331-1C46-D258-2636-11E3A49F77C0}"/>
              </a:ext>
            </a:extLst>
          </p:cNvPr>
          <p:cNvGrpSpPr/>
          <p:nvPr/>
        </p:nvGrpSpPr>
        <p:grpSpPr>
          <a:xfrm>
            <a:off x="9533461" y="6645563"/>
            <a:ext cx="7749540" cy="844681"/>
            <a:chOff x="0" y="-47625"/>
            <a:chExt cx="1773872" cy="193348"/>
          </a:xfrm>
        </p:grpSpPr>
        <p:sp>
          <p:nvSpPr>
            <p:cNvPr id="3" name="Freeform 3">
              <a:extLst>
                <a:ext uri="{FF2B5EF4-FFF2-40B4-BE49-F238E27FC236}">
                  <a16:creationId xmlns:a16="http://schemas.microsoft.com/office/drawing/2014/main" id="{E963CE8E-9398-3BD2-B60B-5DCC040263BA}"/>
                </a:ext>
              </a:extLst>
            </p:cNvPr>
            <p:cNvSpPr/>
            <p:nvPr/>
          </p:nvSpPr>
          <p:spPr>
            <a:xfrm>
              <a:off x="0" y="0"/>
              <a:ext cx="1773872" cy="145723"/>
            </a:xfrm>
            <a:custGeom>
              <a:avLst/>
              <a:gdLst/>
              <a:ahLst/>
              <a:cxnLst/>
              <a:rect l="l" t="t" r="r" b="b"/>
              <a:pathLst>
                <a:path w="1773872" h="145723">
                  <a:moveTo>
                    <a:pt x="0" y="0"/>
                  </a:moveTo>
                  <a:lnTo>
                    <a:pt x="1773872" y="0"/>
                  </a:lnTo>
                  <a:lnTo>
                    <a:pt x="1773872" y="145723"/>
                  </a:lnTo>
                  <a:lnTo>
                    <a:pt x="0" y="145723"/>
                  </a:lnTo>
                  <a:close/>
                </a:path>
              </a:pathLst>
            </a:custGeom>
            <a:solidFill>
              <a:srgbClr val="F23436"/>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GT"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TextBox 4">
              <a:extLst>
                <a:ext uri="{FF2B5EF4-FFF2-40B4-BE49-F238E27FC236}">
                  <a16:creationId xmlns:a16="http://schemas.microsoft.com/office/drawing/2014/main" id="{DA903190-D0B0-738B-3B90-E3CEBA050EF2}"/>
                </a:ext>
              </a:extLst>
            </p:cNvPr>
            <p:cNvSpPr txBox="1"/>
            <p:nvPr/>
          </p:nvSpPr>
          <p:spPr>
            <a:xfrm>
              <a:off x="0" y="-47625"/>
              <a:ext cx="1773872" cy="193348"/>
            </a:xfrm>
            <a:prstGeom prst="rect">
              <a:avLst/>
            </a:prstGeom>
          </p:spPr>
          <p:txBody>
            <a:bodyPr lIns="50800" tIns="50800" rIns="50800" bIns="50800" rtlCol="0" anchor="ctr"/>
            <a:lstStyle/>
            <a:p>
              <a:pPr marL="0" marR="0" lvl="0" indent="0" algn="ctr" defTabSz="914400" rtl="0" eaLnBrk="1" fontAlgn="auto" latinLnBrk="0" hangingPunct="1">
                <a:lnSpc>
                  <a:spcPts val="307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10" name="CuadroTexto 9">
            <a:extLst>
              <a:ext uri="{FF2B5EF4-FFF2-40B4-BE49-F238E27FC236}">
                <a16:creationId xmlns:a16="http://schemas.microsoft.com/office/drawing/2014/main" id="{516F9115-DAC6-D78D-F59D-ADF8A190C831}"/>
              </a:ext>
            </a:extLst>
          </p:cNvPr>
          <p:cNvSpPr txBox="1"/>
          <p:nvPr/>
        </p:nvSpPr>
        <p:spPr>
          <a:xfrm>
            <a:off x="1143000" y="8884230"/>
            <a:ext cx="1447800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GT" sz="1800" b="0" i="0" u="none" strike="noStrike" kern="1200" cap="none" spc="0" normalizeH="0" baseline="0" noProof="0" dirty="0">
                <a:ln>
                  <a:noFill/>
                </a:ln>
                <a:solidFill>
                  <a:prstClr val="black"/>
                </a:solidFill>
                <a:effectLst/>
                <a:uLnTx/>
                <a:uFillTx/>
                <a:latin typeface="Calibri"/>
                <a:ea typeface="+mn-ea"/>
                <a:cs typeface="+mn-cs"/>
              </a:rPr>
              <a:t>https://www.grupoortiz.com/que-hacemos/proyectos/planta-solar-fotovoltaica-horus-ii-guatemala/</a:t>
            </a:r>
          </a:p>
        </p:txBody>
      </p:sp>
    </p:spTree>
    <p:extLst>
      <p:ext uri="{BB962C8B-B14F-4D97-AF65-F5344CB8AC3E}">
        <p14:creationId xmlns:p14="http://schemas.microsoft.com/office/powerpoint/2010/main" val="256517820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2BA6B331-1C46-D258-2636-11E3A49F77C0}"/>
              </a:ext>
            </a:extLst>
          </p:cNvPr>
          <p:cNvGrpSpPr/>
          <p:nvPr/>
        </p:nvGrpSpPr>
        <p:grpSpPr>
          <a:xfrm>
            <a:off x="11759425" y="9733708"/>
            <a:ext cx="6735168" cy="553292"/>
            <a:chOff x="0" y="0"/>
            <a:chExt cx="1773872" cy="145723"/>
          </a:xfrm>
        </p:grpSpPr>
        <p:sp>
          <p:nvSpPr>
            <p:cNvPr id="3" name="Freeform 3">
              <a:extLst>
                <a:ext uri="{FF2B5EF4-FFF2-40B4-BE49-F238E27FC236}">
                  <a16:creationId xmlns:a16="http://schemas.microsoft.com/office/drawing/2014/main" id="{E963CE8E-9398-3BD2-B60B-5DCC040263BA}"/>
                </a:ext>
              </a:extLst>
            </p:cNvPr>
            <p:cNvSpPr/>
            <p:nvPr/>
          </p:nvSpPr>
          <p:spPr>
            <a:xfrm>
              <a:off x="0" y="0"/>
              <a:ext cx="1773872" cy="145723"/>
            </a:xfrm>
            <a:custGeom>
              <a:avLst/>
              <a:gdLst/>
              <a:ahLst/>
              <a:cxnLst/>
              <a:rect l="l" t="t" r="r" b="b"/>
              <a:pathLst>
                <a:path w="1773872" h="145723">
                  <a:moveTo>
                    <a:pt x="0" y="0"/>
                  </a:moveTo>
                  <a:lnTo>
                    <a:pt x="1773872" y="0"/>
                  </a:lnTo>
                  <a:lnTo>
                    <a:pt x="1773872" y="145723"/>
                  </a:lnTo>
                  <a:lnTo>
                    <a:pt x="0" y="145723"/>
                  </a:lnTo>
                  <a:close/>
                </a:path>
              </a:pathLst>
            </a:custGeom>
            <a:solidFill>
              <a:srgbClr val="F23436"/>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GT"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TextBox 4">
              <a:extLst>
                <a:ext uri="{FF2B5EF4-FFF2-40B4-BE49-F238E27FC236}">
                  <a16:creationId xmlns:a16="http://schemas.microsoft.com/office/drawing/2014/main" id="{DA903190-D0B0-738B-3B90-E3CEBA050EF2}"/>
                </a:ext>
              </a:extLst>
            </p:cNvPr>
            <p:cNvSpPr txBox="1"/>
            <p:nvPr/>
          </p:nvSpPr>
          <p:spPr>
            <a:xfrm>
              <a:off x="0" y="-47625"/>
              <a:ext cx="1773872" cy="193348"/>
            </a:xfrm>
            <a:prstGeom prst="rect">
              <a:avLst/>
            </a:prstGeom>
          </p:spPr>
          <p:txBody>
            <a:bodyPr lIns="50800" tIns="50800" rIns="50800" bIns="50800" rtlCol="0" anchor="ctr"/>
            <a:lstStyle/>
            <a:p>
              <a:pPr marL="0" marR="0" lvl="0" indent="0" algn="ctr" defTabSz="914400" rtl="0" eaLnBrk="1" fontAlgn="auto" latinLnBrk="0" hangingPunct="1">
                <a:lnSpc>
                  <a:spcPts val="307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6" name="CuadroTexto 5">
            <a:extLst>
              <a:ext uri="{FF2B5EF4-FFF2-40B4-BE49-F238E27FC236}">
                <a16:creationId xmlns:a16="http://schemas.microsoft.com/office/drawing/2014/main" id="{879F50FE-3D4F-549A-63CB-AEAAA5DD7E48}"/>
              </a:ext>
            </a:extLst>
          </p:cNvPr>
          <p:cNvSpPr txBox="1"/>
          <p:nvPr/>
        </p:nvSpPr>
        <p:spPr>
          <a:xfrm>
            <a:off x="685800" y="1104900"/>
            <a:ext cx="16535400" cy="6740307"/>
          </a:xfrm>
          <a:prstGeom prst="rect">
            <a:avLst/>
          </a:prstGeom>
          <a:noFill/>
        </p:spPr>
        <p:txBody>
          <a:bodyPr wrap="square">
            <a:spAutoFit/>
          </a:bodyPr>
          <a:lstStyle/>
          <a:p>
            <a:pPr marL="0" marR="0" lvl="0" indent="0" algn="just" defTabSz="914400" rtl="0" eaLnBrk="1" fontAlgn="base" latinLnBrk="0" hangingPunct="1">
              <a:lnSpc>
                <a:spcPct val="100000"/>
              </a:lnSpc>
              <a:spcBef>
                <a:spcPts val="0"/>
              </a:spcBef>
              <a:spcAft>
                <a:spcPts val="0"/>
              </a:spcAft>
              <a:buClrTx/>
              <a:buSzTx/>
              <a:buFontTx/>
              <a:buNone/>
              <a:tabLst/>
              <a:defRPr/>
            </a:pPr>
            <a:r>
              <a:rPr kumimoji="0" lang="es-ES" sz="3600" b="1" i="0" u="none" strike="noStrike" kern="1200" cap="none" spc="0" normalizeH="0" baseline="0" noProof="0" dirty="0">
                <a:ln>
                  <a:noFill/>
                </a:ln>
                <a:solidFill>
                  <a:prstClr val="black"/>
                </a:solidFill>
                <a:effectLst/>
                <a:uLnTx/>
                <a:uFillTx/>
                <a:latin typeface="Calibri"/>
                <a:ea typeface="+mn-ea"/>
                <a:cs typeface="+mn-cs"/>
              </a:rPr>
              <a:t>Granja Solar Avellana, de 1 MW.</a:t>
            </a:r>
          </a:p>
          <a:p>
            <a:pPr marL="0" marR="0" lvl="0" indent="0" algn="just" defTabSz="914400" rtl="0" eaLnBrk="1" fontAlgn="base" latinLnBrk="0" hangingPunct="1">
              <a:lnSpc>
                <a:spcPct val="100000"/>
              </a:lnSpc>
              <a:spcBef>
                <a:spcPts val="0"/>
              </a:spcBef>
              <a:spcAft>
                <a:spcPts val="0"/>
              </a:spcAft>
              <a:buClrTx/>
              <a:buSzTx/>
              <a:buFontTx/>
              <a:buNone/>
              <a:tabLst/>
              <a:defRPr/>
            </a:pPr>
            <a:endParaRPr kumimoji="0" lang="es-ES" sz="3600" b="1" i="0" u="none" strike="noStrike" kern="1200" cap="none" spc="0" normalizeH="0" baseline="0" noProof="0" dirty="0">
              <a:ln>
                <a:noFill/>
              </a:ln>
              <a:solidFill>
                <a:prstClr val="black"/>
              </a:solidFill>
              <a:effectLst/>
              <a:uLnTx/>
              <a:uFillTx/>
              <a:latin typeface="Calibri"/>
              <a:ea typeface="+mn-ea"/>
              <a:cs typeface="+mn-cs"/>
            </a:endParaRPr>
          </a:p>
          <a:p>
            <a:pPr marL="0" marR="0" lvl="0" indent="0" algn="just" defTabSz="914400" rtl="0" eaLnBrk="1" fontAlgn="base" latinLnBrk="0" hangingPunct="1">
              <a:lnSpc>
                <a:spcPct val="100000"/>
              </a:lnSpc>
              <a:spcBef>
                <a:spcPts val="0"/>
              </a:spcBef>
              <a:spcAft>
                <a:spcPts val="0"/>
              </a:spcAft>
              <a:buClrTx/>
              <a:buSzTx/>
              <a:buFontTx/>
              <a:buNone/>
              <a:tabLst/>
              <a:defRPr/>
            </a:pPr>
            <a:r>
              <a:rPr kumimoji="0" lang="es-ES" sz="3600" b="0" i="0" u="none" strike="noStrike" kern="1200" cap="none" spc="0" normalizeH="0" baseline="0" noProof="0" dirty="0">
                <a:ln>
                  <a:noFill/>
                </a:ln>
                <a:solidFill>
                  <a:prstClr val="black"/>
                </a:solidFill>
                <a:effectLst/>
                <a:uLnTx/>
                <a:uFillTx/>
                <a:latin typeface="Calibri"/>
                <a:ea typeface="+mn-ea"/>
                <a:cs typeface="+mn-cs"/>
              </a:rPr>
              <a:t>Ubicada en la Carretera que une Taxisco con la aldea La Avellana, la granja se encuentra conectada al circuito de la Subestación de Chiquimulilla que alimenta las playas de Monterrico.  Con 1 Megavatio de Potencia (en Corriente Alterna), la granja mejora la calidad del servicio de los usuarios.</a:t>
            </a:r>
          </a:p>
          <a:p>
            <a:pPr marL="0" marR="0" lvl="0" indent="0" algn="just" defTabSz="914400" rtl="0" eaLnBrk="1" fontAlgn="base" latinLnBrk="0" hangingPunct="1">
              <a:lnSpc>
                <a:spcPct val="100000"/>
              </a:lnSpc>
              <a:spcBef>
                <a:spcPts val="0"/>
              </a:spcBef>
              <a:spcAft>
                <a:spcPts val="0"/>
              </a:spcAft>
              <a:buClrTx/>
              <a:buSzTx/>
              <a:buFontTx/>
              <a:buNone/>
              <a:tabLst/>
              <a:defRPr/>
            </a:pPr>
            <a:endParaRPr kumimoji="0" lang="es-ES" sz="36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just" defTabSz="914400" rtl="0" eaLnBrk="1" fontAlgn="base" latinLnBrk="0" hangingPunct="1">
              <a:lnSpc>
                <a:spcPct val="100000"/>
              </a:lnSpc>
              <a:spcBef>
                <a:spcPts val="0"/>
              </a:spcBef>
              <a:spcAft>
                <a:spcPts val="0"/>
              </a:spcAft>
              <a:buClrTx/>
              <a:buSzTx/>
              <a:buFontTx/>
              <a:buNone/>
              <a:tabLst/>
              <a:defRPr/>
            </a:pPr>
            <a:r>
              <a:rPr kumimoji="0" lang="es-ES" sz="3600" b="1" i="0" u="none" strike="noStrike" kern="1200" cap="none" spc="0" normalizeH="0" baseline="0" noProof="0" dirty="0">
                <a:ln>
                  <a:noFill/>
                </a:ln>
                <a:solidFill>
                  <a:prstClr val="black"/>
                </a:solidFill>
                <a:effectLst/>
                <a:uLnTx/>
                <a:uFillTx/>
                <a:latin typeface="Calibri"/>
                <a:ea typeface="+mn-ea"/>
                <a:cs typeface="+mn-cs"/>
              </a:rPr>
              <a:t>Granja Solar Taxisco y El Jobo, de 2.5 MW.</a:t>
            </a:r>
          </a:p>
          <a:p>
            <a:pPr marL="0" marR="0" lvl="0" indent="0" algn="just" defTabSz="914400" rtl="0" eaLnBrk="1" fontAlgn="base" latinLnBrk="0" hangingPunct="1">
              <a:lnSpc>
                <a:spcPct val="100000"/>
              </a:lnSpc>
              <a:spcBef>
                <a:spcPts val="0"/>
              </a:spcBef>
              <a:spcAft>
                <a:spcPts val="0"/>
              </a:spcAft>
              <a:buClrTx/>
              <a:buSzTx/>
              <a:buFontTx/>
              <a:buNone/>
              <a:tabLst/>
              <a:defRPr/>
            </a:pPr>
            <a:endParaRPr kumimoji="0" lang="es-ES" sz="3600" b="1" i="0" u="none" strike="noStrike" kern="1200" cap="none" spc="0" normalizeH="0" baseline="0" noProof="0" dirty="0">
              <a:ln>
                <a:noFill/>
              </a:ln>
              <a:solidFill>
                <a:prstClr val="black"/>
              </a:solidFill>
              <a:effectLst/>
              <a:uLnTx/>
              <a:uFillTx/>
              <a:latin typeface="Calibri"/>
              <a:ea typeface="+mn-ea"/>
              <a:cs typeface="+mn-cs"/>
            </a:endParaRPr>
          </a:p>
          <a:p>
            <a:pPr marL="0" marR="0" lvl="0" indent="0" algn="just" defTabSz="914400" rtl="0" eaLnBrk="1" fontAlgn="base" latinLnBrk="0" hangingPunct="1">
              <a:lnSpc>
                <a:spcPct val="100000"/>
              </a:lnSpc>
              <a:spcBef>
                <a:spcPts val="0"/>
              </a:spcBef>
              <a:spcAft>
                <a:spcPts val="0"/>
              </a:spcAft>
              <a:buClrTx/>
              <a:buSzTx/>
              <a:buFontTx/>
              <a:buNone/>
              <a:tabLst/>
              <a:defRPr/>
            </a:pPr>
            <a:r>
              <a:rPr kumimoji="0" lang="es-ES" sz="3600" b="0" i="0" u="none" strike="noStrike" kern="1200" cap="none" spc="0" normalizeH="0" baseline="0" noProof="0" dirty="0">
                <a:ln>
                  <a:noFill/>
                </a:ln>
                <a:solidFill>
                  <a:prstClr val="black"/>
                </a:solidFill>
                <a:effectLst/>
                <a:uLnTx/>
                <a:uFillTx/>
                <a:latin typeface="Calibri"/>
                <a:ea typeface="+mn-ea"/>
                <a:cs typeface="+mn-cs"/>
              </a:rPr>
              <a:t>Ubicada en el municipio de Taxisco, las dos granjas alimentan el final del circuito de la subestación de Chiquimulilla, en el circuito de Taxisco, en este caso se considera que la mejoría de la calidad beneficia a sus habitantes.</a:t>
            </a:r>
          </a:p>
        </p:txBody>
      </p:sp>
    </p:spTree>
    <p:extLst>
      <p:ext uri="{BB962C8B-B14F-4D97-AF65-F5344CB8AC3E}">
        <p14:creationId xmlns:p14="http://schemas.microsoft.com/office/powerpoint/2010/main" val="5772639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2BA6B331-1C46-D258-2636-11E3A49F77C0}"/>
              </a:ext>
            </a:extLst>
          </p:cNvPr>
          <p:cNvGrpSpPr/>
          <p:nvPr/>
        </p:nvGrpSpPr>
        <p:grpSpPr>
          <a:xfrm>
            <a:off x="11759425" y="9733708"/>
            <a:ext cx="6735168" cy="553292"/>
            <a:chOff x="0" y="0"/>
            <a:chExt cx="1773872" cy="145723"/>
          </a:xfrm>
        </p:grpSpPr>
        <p:sp>
          <p:nvSpPr>
            <p:cNvPr id="3" name="Freeform 3">
              <a:extLst>
                <a:ext uri="{FF2B5EF4-FFF2-40B4-BE49-F238E27FC236}">
                  <a16:creationId xmlns:a16="http://schemas.microsoft.com/office/drawing/2014/main" id="{E963CE8E-9398-3BD2-B60B-5DCC040263BA}"/>
                </a:ext>
              </a:extLst>
            </p:cNvPr>
            <p:cNvSpPr/>
            <p:nvPr/>
          </p:nvSpPr>
          <p:spPr>
            <a:xfrm>
              <a:off x="0" y="0"/>
              <a:ext cx="1773872" cy="145723"/>
            </a:xfrm>
            <a:custGeom>
              <a:avLst/>
              <a:gdLst/>
              <a:ahLst/>
              <a:cxnLst/>
              <a:rect l="l" t="t" r="r" b="b"/>
              <a:pathLst>
                <a:path w="1773872" h="145723">
                  <a:moveTo>
                    <a:pt x="0" y="0"/>
                  </a:moveTo>
                  <a:lnTo>
                    <a:pt x="1773872" y="0"/>
                  </a:lnTo>
                  <a:lnTo>
                    <a:pt x="1773872" y="145723"/>
                  </a:lnTo>
                  <a:lnTo>
                    <a:pt x="0" y="145723"/>
                  </a:lnTo>
                  <a:close/>
                </a:path>
              </a:pathLst>
            </a:custGeom>
            <a:solidFill>
              <a:srgbClr val="F23436"/>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GT"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TextBox 4">
              <a:extLst>
                <a:ext uri="{FF2B5EF4-FFF2-40B4-BE49-F238E27FC236}">
                  <a16:creationId xmlns:a16="http://schemas.microsoft.com/office/drawing/2014/main" id="{DA903190-D0B0-738B-3B90-E3CEBA050EF2}"/>
                </a:ext>
              </a:extLst>
            </p:cNvPr>
            <p:cNvSpPr txBox="1"/>
            <p:nvPr/>
          </p:nvSpPr>
          <p:spPr>
            <a:xfrm>
              <a:off x="0" y="-47625"/>
              <a:ext cx="1773872" cy="193348"/>
            </a:xfrm>
            <a:prstGeom prst="rect">
              <a:avLst/>
            </a:prstGeom>
          </p:spPr>
          <p:txBody>
            <a:bodyPr lIns="50800" tIns="50800" rIns="50800" bIns="50800" rtlCol="0" anchor="ctr"/>
            <a:lstStyle/>
            <a:p>
              <a:pPr marL="0" marR="0" lvl="0" indent="0" algn="ctr" defTabSz="914400" rtl="0" eaLnBrk="1" fontAlgn="auto" latinLnBrk="0" hangingPunct="1">
                <a:lnSpc>
                  <a:spcPts val="307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6" name="CuadroTexto 5">
            <a:extLst>
              <a:ext uri="{FF2B5EF4-FFF2-40B4-BE49-F238E27FC236}">
                <a16:creationId xmlns:a16="http://schemas.microsoft.com/office/drawing/2014/main" id="{53D7F357-95C6-B88D-5E67-0E5EDE65D1FD}"/>
              </a:ext>
            </a:extLst>
          </p:cNvPr>
          <p:cNvSpPr txBox="1"/>
          <p:nvPr/>
        </p:nvSpPr>
        <p:spPr>
          <a:xfrm>
            <a:off x="762000" y="1104900"/>
            <a:ext cx="16306800" cy="7848302"/>
          </a:xfrm>
          <a:prstGeom prst="rect">
            <a:avLst/>
          </a:prstGeom>
          <a:noFill/>
        </p:spPr>
        <p:txBody>
          <a:bodyPr wrap="square">
            <a:spAutoFit/>
          </a:bodyPr>
          <a:lstStyle/>
          <a:p>
            <a:pPr marL="0" marR="0" lvl="0" indent="0" algn="just" defTabSz="914400" rtl="0" eaLnBrk="1" fontAlgn="base" latinLnBrk="0" hangingPunct="1">
              <a:lnSpc>
                <a:spcPct val="100000"/>
              </a:lnSpc>
              <a:spcBef>
                <a:spcPts val="0"/>
              </a:spcBef>
              <a:spcAft>
                <a:spcPts val="0"/>
              </a:spcAft>
              <a:buClrTx/>
              <a:buSzTx/>
              <a:buFontTx/>
              <a:buNone/>
              <a:tabLst/>
              <a:defRPr/>
            </a:pPr>
            <a:r>
              <a:rPr kumimoji="0" lang="es-ES" sz="3600" b="1" i="0" u="none" strike="noStrike" kern="1200" cap="none" spc="0" normalizeH="0" baseline="0" noProof="0" dirty="0">
                <a:ln>
                  <a:noFill/>
                </a:ln>
                <a:solidFill>
                  <a:prstClr val="black"/>
                </a:solidFill>
                <a:effectLst/>
                <a:uLnTx/>
                <a:uFillTx/>
                <a:latin typeface="Calibri"/>
                <a:ea typeface="+mn-ea"/>
                <a:cs typeface="+mn-cs"/>
              </a:rPr>
              <a:t>Granja Solar Pedro de Alvarado, de 1 MW.</a:t>
            </a:r>
          </a:p>
          <a:p>
            <a:pPr marL="0" marR="0" lvl="0" indent="0" algn="just" defTabSz="914400" rtl="0" eaLnBrk="1" fontAlgn="base" latinLnBrk="0" hangingPunct="1">
              <a:lnSpc>
                <a:spcPct val="100000"/>
              </a:lnSpc>
              <a:spcBef>
                <a:spcPts val="0"/>
              </a:spcBef>
              <a:spcAft>
                <a:spcPts val="0"/>
              </a:spcAft>
              <a:buClrTx/>
              <a:buSzTx/>
              <a:buFontTx/>
              <a:buNone/>
              <a:tabLst/>
              <a:defRPr/>
            </a:pPr>
            <a:endParaRPr kumimoji="0" lang="es-ES" sz="36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just" defTabSz="914400" rtl="0" eaLnBrk="1" fontAlgn="base" latinLnBrk="0" hangingPunct="1">
              <a:lnSpc>
                <a:spcPct val="100000"/>
              </a:lnSpc>
              <a:spcBef>
                <a:spcPts val="0"/>
              </a:spcBef>
              <a:spcAft>
                <a:spcPts val="0"/>
              </a:spcAft>
              <a:buClrTx/>
              <a:buSzTx/>
              <a:buFontTx/>
              <a:buNone/>
              <a:tabLst/>
              <a:defRPr/>
            </a:pPr>
            <a:r>
              <a:rPr kumimoji="0" lang="es-ES" sz="3600" b="0" i="0" u="none" strike="noStrike" kern="1200" cap="none" spc="0" normalizeH="0" baseline="0" noProof="0" dirty="0">
                <a:ln>
                  <a:noFill/>
                </a:ln>
                <a:solidFill>
                  <a:prstClr val="black"/>
                </a:solidFill>
                <a:effectLst/>
                <a:uLnTx/>
                <a:uFillTx/>
                <a:latin typeface="Calibri"/>
                <a:ea typeface="+mn-ea"/>
                <a:cs typeface="+mn-cs"/>
              </a:rPr>
              <a:t>Ubicada en el Municipio de </a:t>
            </a:r>
            <a:r>
              <a:rPr kumimoji="0" lang="es-ES" sz="3600" b="0" i="0" u="none" strike="noStrike" kern="1200" cap="none" spc="0" normalizeH="0" baseline="0" noProof="0" dirty="0" err="1">
                <a:ln>
                  <a:noFill/>
                </a:ln>
                <a:solidFill>
                  <a:prstClr val="black"/>
                </a:solidFill>
                <a:effectLst/>
                <a:uLnTx/>
                <a:uFillTx/>
                <a:latin typeface="Calibri"/>
                <a:ea typeface="+mn-ea"/>
                <a:cs typeface="+mn-cs"/>
              </a:rPr>
              <a:t>Moyuta</a:t>
            </a:r>
            <a:r>
              <a:rPr kumimoji="0" lang="es-ES" sz="3600" b="0" i="0" u="none" strike="noStrike" kern="1200" cap="none" spc="0" normalizeH="0" baseline="0" noProof="0" dirty="0">
                <a:ln>
                  <a:noFill/>
                </a:ln>
                <a:solidFill>
                  <a:prstClr val="black"/>
                </a:solidFill>
                <a:effectLst/>
                <a:uLnTx/>
                <a:uFillTx/>
                <a:latin typeface="Calibri"/>
                <a:ea typeface="+mn-ea"/>
                <a:cs typeface="+mn-cs"/>
              </a:rPr>
              <a:t>, conectada a la subestación del mismo nombre, en el circuito que suministra electricidad a la ciudad fronteriza de Pedro de Alvarado y la aduana del mismo nombre, en esta granja solar se considera que beneficia tanto a usuarios residenciales como al comercio en general que predomina en esta localidad, así como a los cientos de miles de usuarios que transitan por la frontera con El Salvador.</a:t>
            </a:r>
          </a:p>
          <a:p>
            <a:pPr marL="0" marR="0" lvl="0" indent="0" algn="just" defTabSz="914400" rtl="0" eaLnBrk="1" fontAlgn="base" latinLnBrk="0" hangingPunct="1">
              <a:lnSpc>
                <a:spcPct val="100000"/>
              </a:lnSpc>
              <a:spcBef>
                <a:spcPts val="0"/>
              </a:spcBef>
              <a:spcAft>
                <a:spcPts val="0"/>
              </a:spcAft>
              <a:buClrTx/>
              <a:buSzTx/>
              <a:buFontTx/>
              <a:buNone/>
              <a:tabLst/>
              <a:defRPr/>
            </a:pPr>
            <a:endParaRPr kumimoji="0" lang="es-ES" sz="36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just" defTabSz="914400" rtl="0" eaLnBrk="1" fontAlgn="base" latinLnBrk="0" hangingPunct="1">
              <a:lnSpc>
                <a:spcPct val="100000"/>
              </a:lnSpc>
              <a:spcBef>
                <a:spcPts val="0"/>
              </a:spcBef>
              <a:spcAft>
                <a:spcPts val="0"/>
              </a:spcAft>
              <a:buClrTx/>
              <a:buSzTx/>
              <a:buFontTx/>
              <a:buNone/>
              <a:tabLst/>
              <a:defRPr/>
            </a:pPr>
            <a:r>
              <a:rPr kumimoji="0" lang="es-ES" sz="3600" b="1" i="0" u="none" strike="noStrike" kern="1200" cap="none" spc="0" normalizeH="0" baseline="0" noProof="0" dirty="0">
                <a:ln>
                  <a:noFill/>
                </a:ln>
                <a:solidFill>
                  <a:prstClr val="black"/>
                </a:solidFill>
                <a:effectLst/>
                <a:uLnTx/>
                <a:uFillTx/>
                <a:latin typeface="Calibri"/>
                <a:ea typeface="+mn-ea"/>
                <a:cs typeface="+mn-cs"/>
              </a:rPr>
              <a:t>Granja Solar Buena Vista, de 1.5 MW.</a:t>
            </a:r>
          </a:p>
          <a:p>
            <a:pPr marL="0" marR="0" lvl="0" indent="0" algn="just" defTabSz="914400" rtl="0" eaLnBrk="1" fontAlgn="base" latinLnBrk="0" hangingPunct="1">
              <a:lnSpc>
                <a:spcPct val="100000"/>
              </a:lnSpc>
              <a:spcBef>
                <a:spcPts val="0"/>
              </a:spcBef>
              <a:spcAft>
                <a:spcPts val="0"/>
              </a:spcAft>
              <a:buClrTx/>
              <a:buSzTx/>
              <a:buFontTx/>
              <a:buNone/>
              <a:tabLst/>
              <a:defRPr/>
            </a:pPr>
            <a:endParaRPr kumimoji="0" lang="es-ES" sz="3600" b="1" i="0" u="none" strike="noStrike" kern="1200" cap="none" spc="0" normalizeH="0" baseline="0" noProof="0" dirty="0">
              <a:ln>
                <a:noFill/>
              </a:ln>
              <a:solidFill>
                <a:prstClr val="black"/>
              </a:solidFill>
              <a:effectLst/>
              <a:uLnTx/>
              <a:uFillTx/>
              <a:latin typeface="Calibri"/>
              <a:ea typeface="+mn-ea"/>
              <a:cs typeface="+mn-cs"/>
            </a:endParaRPr>
          </a:p>
          <a:p>
            <a:pPr marL="0" marR="0" lvl="0" indent="0" algn="just" defTabSz="914400" rtl="0" eaLnBrk="1" fontAlgn="base" latinLnBrk="0" hangingPunct="1">
              <a:lnSpc>
                <a:spcPct val="100000"/>
              </a:lnSpc>
              <a:spcBef>
                <a:spcPts val="0"/>
              </a:spcBef>
              <a:spcAft>
                <a:spcPts val="0"/>
              </a:spcAft>
              <a:buClrTx/>
              <a:buSzTx/>
              <a:buFontTx/>
              <a:buNone/>
              <a:tabLst/>
              <a:defRPr/>
            </a:pPr>
            <a:r>
              <a:rPr kumimoji="0" lang="es-ES" sz="3600" b="0" i="0" u="none" strike="noStrike" kern="1200" cap="none" spc="0" normalizeH="0" baseline="0" noProof="0" dirty="0">
                <a:ln>
                  <a:noFill/>
                </a:ln>
                <a:solidFill>
                  <a:prstClr val="black"/>
                </a:solidFill>
                <a:effectLst/>
                <a:uLnTx/>
                <a:uFillTx/>
                <a:latin typeface="Calibri"/>
                <a:ea typeface="+mn-ea"/>
                <a:cs typeface="+mn-cs"/>
              </a:rPr>
              <a:t>Ubicada en el Municipio de Jutiapa, conectada a la subestación El Progreso, en el circuito que alimenta el Municipio de Quezada. Esta central beneficia a usuarios de varias comunidades que se conectan a la línea que les suministra energía. </a:t>
            </a:r>
          </a:p>
        </p:txBody>
      </p:sp>
    </p:spTree>
    <p:extLst>
      <p:ext uri="{BB962C8B-B14F-4D97-AF65-F5344CB8AC3E}">
        <p14:creationId xmlns:p14="http://schemas.microsoft.com/office/powerpoint/2010/main" val="33537146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2BA6B331-1C46-D258-2636-11E3A49F77C0}"/>
              </a:ext>
            </a:extLst>
          </p:cNvPr>
          <p:cNvGrpSpPr/>
          <p:nvPr/>
        </p:nvGrpSpPr>
        <p:grpSpPr>
          <a:xfrm>
            <a:off x="11759425" y="9733708"/>
            <a:ext cx="6735168" cy="553292"/>
            <a:chOff x="0" y="0"/>
            <a:chExt cx="1773872" cy="145723"/>
          </a:xfrm>
        </p:grpSpPr>
        <p:sp>
          <p:nvSpPr>
            <p:cNvPr id="3" name="Freeform 3">
              <a:extLst>
                <a:ext uri="{FF2B5EF4-FFF2-40B4-BE49-F238E27FC236}">
                  <a16:creationId xmlns:a16="http://schemas.microsoft.com/office/drawing/2014/main" id="{E963CE8E-9398-3BD2-B60B-5DCC040263BA}"/>
                </a:ext>
              </a:extLst>
            </p:cNvPr>
            <p:cNvSpPr/>
            <p:nvPr/>
          </p:nvSpPr>
          <p:spPr>
            <a:xfrm>
              <a:off x="0" y="0"/>
              <a:ext cx="1773872" cy="145723"/>
            </a:xfrm>
            <a:custGeom>
              <a:avLst/>
              <a:gdLst/>
              <a:ahLst/>
              <a:cxnLst/>
              <a:rect l="l" t="t" r="r" b="b"/>
              <a:pathLst>
                <a:path w="1773872" h="145723">
                  <a:moveTo>
                    <a:pt x="0" y="0"/>
                  </a:moveTo>
                  <a:lnTo>
                    <a:pt x="1773872" y="0"/>
                  </a:lnTo>
                  <a:lnTo>
                    <a:pt x="1773872" y="145723"/>
                  </a:lnTo>
                  <a:lnTo>
                    <a:pt x="0" y="145723"/>
                  </a:lnTo>
                  <a:close/>
                </a:path>
              </a:pathLst>
            </a:custGeom>
            <a:solidFill>
              <a:srgbClr val="F23436"/>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GT"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TextBox 4">
              <a:extLst>
                <a:ext uri="{FF2B5EF4-FFF2-40B4-BE49-F238E27FC236}">
                  <a16:creationId xmlns:a16="http://schemas.microsoft.com/office/drawing/2014/main" id="{DA903190-D0B0-738B-3B90-E3CEBA050EF2}"/>
                </a:ext>
              </a:extLst>
            </p:cNvPr>
            <p:cNvSpPr txBox="1"/>
            <p:nvPr/>
          </p:nvSpPr>
          <p:spPr>
            <a:xfrm>
              <a:off x="0" y="-47625"/>
              <a:ext cx="1773872" cy="193348"/>
            </a:xfrm>
            <a:prstGeom prst="rect">
              <a:avLst/>
            </a:prstGeom>
          </p:spPr>
          <p:txBody>
            <a:bodyPr lIns="50800" tIns="50800" rIns="50800" bIns="50800" rtlCol="0" anchor="ctr"/>
            <a:lstStyle/>
            <a:p>
              <a:pPr marL="0" marR="0" lvl="0" indent="0" algn="ctr" defTabSz="914400" rtl="0" eaLnBrk="1" fontAlgn="auto" latinLnBrk="0" hangingPunct="1">
                <a:lnSpc>
                  <a:spcPts val="307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pic>
        <p:nvPicPr>
          <p:cNvPr id="6" name="Imagen 5">
            <a:extLst>
              <a:ext uri="{FF2B5EF4-FFF2-40B4-BE49-F238E27FC236}">
                <a16:creationId xmlns:a16="http://schemas.microsoft.com/office/drawing/2014/main" id="{C5537C02-EAC9-8C97-8F90-F01B6C19259B}"/>
              </a:ext>
            </a:extLst>
          </p:cNvPr>
          <p:cNvPicPr>
            <a:picLocks noChangeAspect="1"/>
          </p:cNvPicPr>
          <p:nvPr/>
        </p:nvPicPr>
        <p:blipFill>
          <a:blip r:embed="rId2"/>
          <a:stretch>
            <a:fillRect/>
          </a:stretch>
        </p:blipFill>
        <p:spPr>
          <a:xfrm>
            <a:off x="1219200" y="1827796"/>
            <a:ext cx="15544799" cy="6631407"/>
          </a:xfrm>
          <a:prstGeom prst="rect">
            <a:avLst/>
          </a:prstGeom>
        </p:spPr>
      </p:pic>
    </p:spTree>
    <p:extLst>
      <p:ext uri="{BB962C8B-B14F-4D97-AF65-F5344CB8AC3E}">
        <p14:creationId xmlns:p14="http://schemas.microsoft.com/office/powerpoint/2010/main" val="386778356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1759425" y="9733708"/>
            <a:ext cx="6735168" cy="553292"/>
            <a:chOff x="0" y="0"/>
            <a:chExt cx="1773872" cy="145723"/>
          </a:xfrm>
        </p:grpSpPr>
        <p:sp>
          <p:nvSpPr>
            <p:cNvPr id="3" name="Freeform 3"/>
            <p:cNvSpPr/>
            <p:nvPr/>
          </p:nvSpPr>
          <p:spPr>
            <a:xfrm>
              <a:off x="0" y="0"/>
              <a:ext cx="1773872" cy="145723"/>
            </a:xfrm>
            <a:custGeom>
              <a:avLst/>
              <a:gdLst/>
              <a:ahLst/>
              <a:cxnLst/>
              <a:rect l="l" t="t" r="r" b="b"/>
              <a:pathLst>
                <a:path w="1773872" h="145723">
                  <a:moveTo>
                    <a:pt x="0" y="0"/>
                  </a:moveTo>
                  <a:lnTo>
                    <a:pt x="1773872" y="0"/>
                  </a:lnTo>
                  <a:lnTo>
                    <a:pt x="1773872" y="145723"/>
                  </a:lnTo>
                  <a:lnTo>
                    <a:pt x="0" y="145723"/>
                  </a:lnTo>
                  <a:close/>
                </a:path>
              </a:pathLst>
            </a:custGeom>
            <a:solidFill>
              <a:srgbClr val="F23436"/>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GT"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TextBox 4"/>
            <p:cNvSpPr txBox="1"/>
            <p:nvPr/>
          </p:nvSpPr>
          <p:spPr>
            <a:xfrm>
              <a:off x="0" y="-47625"/>
              <a:ext cx="1773872" cy="193348"/>
            </a:xfrm>
            <a:prstGeom prst="rect">
              <a:avLst/>
            </a:prstGeom>
          </p:spPr>
          <p:txBody>
            <a:bodyPr lIns="50800" tIns="50800" rIns="50800" bIns="50800" rtlCol="0" anchor="ctr"/>
            <a:lstStyle/>
            <a:p>
              <a:pPr marL="0" marR="0" lvl="0" indent="0" algn="ctr" defTabSz="914400" rtl="0" eaLnBrk="1" fontAlgn="auto" latinLnBrk="0" hangingPunct="1">
                <a:lnSpc>
                  <a:spcPts val="307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10" name="CuadroTexto 9">
            <a:extLst>
              <a:ext uri="{FF2B5EF4-FFF2-40B4-BE49-F238E27FC236}">
                <a16:creationId xmlns:a16="http://schemas.microsoft.com/office/drawing/2014/main" id="{CFB777F4-D8C4-78F4-09F7-584D44B3A9B2}"/>
              </a:ext>
            </a:extLst>
          </p:cNvPr>
          <p:cNvSpPr txBox="1"/>
          <p:nvPr/>
        </p:nvSpPr>
        <p:spPr>
          <a:xfrm>
            <a:off x="1143000" y="952500"/>
            <a:ext cx="15468600" cy="372409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4400" b="1" i="0" u="none" strike="noStrike" kern="1200" cap="none" spc="0" normalizeH="0" baseline="0" noProof="0" dirty="0">
                <a:ln>
                  <a:noFill/>
                </a:ln>
                <a:solidFill>
                  <a:prstClr val="black"/>
                </a:solidFill>
                <a:effectLst/>
                <a:highlight>
                  <a:srgbClr val="FFFFFF"/>
                </a:highlight>
                <a:uLnTx/>
                <a:uFillTx/>
                <a:latin typeface="Arial" panose="020B0604020202020204" pitchFamily="34" charset="0"/>
                <a:ea typeface="+mn-ea"/>
                <a:cs typeface="Arial" panose="020B0604020202020204" pitchFamily="34" charset="0"/>
              </a:rPr>
              <a:t>CENTRAL EOLICA</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3200" b="0" i="0" u="none" strike="noStrike" kern="1200" cap="none" spc="0" normalizeH="0" baseline="0" noProof="0" dirty="0">
              <a:ln>
                <a:noFill/>
              </a:ln>
              <a:solidFill>
                <a:prstClr val="black"/>
              </a:solidFill>
              <a:effectLst/>
              <a:highlight>
                <a:srgbClr val="FFFFFF"/>
              </a:highlight>
              <a:uLnTx/>
              <a:uFillTx/>
              <a:latin typeface="Arial" panose="020B0604020202020204" pitchFamily="34" charset="0"/>
              <a:ea typeface="+mn-ea"/>
              <a:cs typeface="Arial" panose="020B0604020202020204" pitchFamily="34"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s-ES" sz="3200" b="0" i="0" u="none" strike="noStrike" kern="1200" cap="none" spc="0" normalizeH="0" baseline="0" noProof="0" dirty="0">
                <a:ln>
                  <a:noFill/>
                </a:ln>
                <a:solidFill>
                  <a:prstClr val="black"/>
                </a:solidFill>
                <a:effectLst/>
                <a:highlight>
                  <a:srgbClr val="FFFFFF"/>
                </a:highlight>
                <a:uLnTx/>
                <a:uFillTx/>
                <a:latin typeface="Arial" panose="020B0604020202020204" pitchFamily="34" charset="0"/>
                <a:ea typeface="+mn-ea"/>
                <a:cs typeface="Arial" panose="020B0604020202020204" pitchFamily="34" charset="0"/>
              </a:rPr>
              <a:t>Es una instalación en donde la energía cinética del aire al moverse se puede transformar en energía mecánica de rotación. Para ello se instala una torre en cuya parte superior existe un rotor con múltiples palas, orientadas en la dirección del viento. Las palas o hélices giran alrededor de un eje horizontal que actúa sobre un generador de electricidad.</a:t>
            </a:r>
            <a:endParaRPr kumimoji="0" lang="es-GT" sz="3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2" name="CuadroTexto 11">
            <a:extLst>
              <a:ext uri="{FF2B5EF4-FFF2-40B4-BE49-F238E27FC236}">
                <a16:creationId xmlns:a16="http://schemas.microsoft.com/office/drawing/2014/main" id="{099A3872-3175-9F9B-3EED-5476F290ECFD}"/>
              </a:ext>
            </a:extLst>
          </p:cNvPr>
          <p:cNvSpPr txBox="1"/>
          <p:nvPr/>
        </p:nvSpPr>
        <p:spPr>
          <a:xfrm>
            <a:off x="1123334" y="5143500"/>
            <a:ext cx="15335865" cy="4524315"/>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s-ES" sz="3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La </a:t>
            </a:r>
            <a:r>
              <a:rPr kumimoji="0" lang="es-ES" sz="32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función de un parque eólico</a:t>
            </a:r>
            <a:r>
              <a:rPr kumimoji="0" lang="es-ES" sz="3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consta de lo siguiente:</a:t>
            </a:r>
          </a:p>
          <a:p>
            <a:pPr marL="0" marR="0" lvl="0" indent="0" algn="just" defTabSz="914400" rtl="0" eaLnBrk="1" fontAlgn="auto" latinLnBrk="0" hangingPunct="1">
              <a:lnSpc>
                <a:spcPct val="100000"/>
              </a:lnSpc>
              <a:spcBef>
                <a:spcPts val="0"/>
              </a:spcBef>
              <a:spcAft>
                <a:spcPts val="0"/>
              </a:spcAft>
              <a:buClrTx/>
              <a:buSzTx/>
              <a:buFont typeface="+mj-lt"/>
              <a:buAutoNum type="arabicPeriod"/>
              <a:tabLst/>
              <a:defRPr/>
            </a:pPr>
            <a:r>
              <a:rPr kumimoji="0" lang="es-ES" sz="3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Los aerogeneradores se sitúan de cara al viento para aprovechar las corrientes de aire.</a:t>
            </a:r>
          </a:p>
          <a:p>
            <a:pPr marL="0" marR="0" lvl="0" indent="0" algn="just" defTabSz="914400" rtl="0" eaLnBrk="1" fontAlgn="auto" latinLnBrk="0" hangingPunct="1">
              <a:lnSpc>
                <a:spcPct val="100000"/>
              </a:lnSpc>
              <a:spcBef>
                <a:spcPts val="0"/>
              </a:spcBef>
              <a:spcAft>
                <a:spcPts val="0"/>
              </a:spcAft>
              <a:buClrTx/>
              <a:buSzTx/>
              <a:buFont typeface="+mj-lt"/>
              <a:buAutoNum type="arabicPeriod"/>
              <a:tabLst/>
              <a:defRPr/>
            </a:pPr>
            <a:r>
              <a:rPr kumimoji="0" lang="es-ES" sz="3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Debido a la fuerza que recibe del viento, las aspas giran constantemente por acción de la energía cinética.</a:t>
            </a:r>
          </a:p>
          <a:p>
            <a:pPr marL="0" marR="0" lvl="0" indent="0" algn="just" defTabSz="914400" rtl="0" eaLnBrk="1" fontAlgn="auto" latinLnBrk="0" hangingPunct="1">
              <a:lnSpc>
                <a:spcPct val="100000"/>
              </a:lnSpc>
              <a:spcBef>
                <a:spcPts val="0"/>
              </a:spcBef>
              <a:spcAft>
                <a:spcPts val="0"/>
              </a:spcAft>
              <a:buClrTx/>
              <a:buSzTx/>
              <a:buFont typeface="+mj-lt"/>
              <a:buAutoNum type="arabicPeriod"/>
              <a:tabLst/>
              <a:defRPr/>
            </a:pPr>
            <a:r>
              <a:rPr kumimoji="0" lang="es-ES" sz="3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Luego, mediante diversos procesos internos propios de los aerogeneradores, se convierte la energía cinética en energía eléctrica.</a:t>
            </a:r>
          </a:p>
          <a:p>
            <a:pPr marL="0" marR="0" lvl="0" indent="0" algn="just" defTabSz="914400" rtl="0" eaLnBrk="1" fontAlgn="auto" latinLnBrk="0" hangingPunct="1">
              <a:lnSpc>
                <a:spcPct val="100000"/>
              </a:lnSpc>
              <a:spcBef>
                <a:spcPts val="0"/>
              </a:spcBef>
              <a:spcAft>
                <a:spcPts val="0"/>
              </a:spcAft>
              <a:buClrTx/>
              <a:buSzTx/>
              <a:buFont typeface="+mj-lt"/>
              <a:buAutoNum type="arabicPeriod"/>
              <a:tabLst/>
              <a:defRPr/>
            </a:pPr>
            <a:r>
              <a:rPr kumimoji="0" lang="es-ES" sz="3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Esta energía eléctrica es transportada a una subestación, donde posteriormente se distribuye hacia los distintos puntos de consumo (hogares, empresas, etc.).</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1759425" y="9733708"/>
            <a:ext cx="6735168" cy="553292"/>
            <a:chOff x="0" y="0"/>
            <a:chExt cx="1773872" cy="145723"/>
          </a:xfrm>
        </p:grpSpPr>
        <p:sp>
          <p:nvSpPr>
            <p:cNvPr id="3" name="Freeform 3"/>
            <p:cNvSpPr/>
            <p:nvPr/>
          </p:nvSpPr>
          <p:spPr>
            <a:xfrm>
              <a:off x="0" y="0"/>
              <a:ext cx="1773872" cy="145723"/>
            </a:xfrm>
            <a:custGeom>
              <a:avLst/>
              <a:gdLst/>
              <a:ahLst/>
              <a:cxnLst/>
              <a:rect l="l" t="t" r="r" b="b"/>
              <a:pathLst>
                <a:path w="1773872" h="145723">
                  <a:moveTo>
                    <a:pt x="0" y="0"/>
                  </a:moveTo>
                  <a:lnTo>
                    <a:pt x="1773872" y="0"/>
                  </a:lnTo>
                  <a:lnTo>
                    <a:pt x="1773872" y="145723"/>
                  </a:lnTo>
                  <a:lnTo>
                    <a:pt x="0" y="145723"/>
                  </a:lnTo>
                  <a:close/>
                </a:path>
              </a:pathLst>
            </a:custGeom>
            <a:solidFill>
              <a:srgbClr val="F23436"/>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GT"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TextBox 4"/>
            <p:cNvSpPr txBox="1"/>
            <p:nvPr/>
          </p:nvSpPr>
          <p:spPr>
            <a:xfrm>
              <a:off x="0" y="-47625"/>
              <a:ext cx="1773872" cy="193348"/>
            </a:xfrm>
            <a:prstGeom prst="rect">
              <a:avLst/>
            </a:prstGeom>
          </p:spPr>
          <p:txBody>
            <a:bodyPr lIns="50800" tIns="50800" rIns="50800" bIns="50800" rtlCol="0" anchor="ctr"/>
            <a:lstStyle/>
            <a:p>
              <a:pPr marL="0" marR="0" lvl="0" indent="0" algn="ctr" defTabSz="914400" rtl="0" eaLnBrk="1" fontAlgn="auto" latinLnBrk="0" hangingPunct="1">
                <a:lnSpc>
                  <a:spcPts val="307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6" name="CuadroTexto 5">
            <a:extLst>
              <a:ext uri="{FF2B5EF4-FFF2-40B4-BE49-F238E27FC236}">
                <a16:creationId xmlns:a16="http://schemas.microsoft.com/office/drawing/2014/main" id="{DF91CC7E-B667-6C55-6D05-9B0F9B571AED}"/>
              </a:ext>
            </a:extLst>
          </p:cNvPr>
          <p:cNvSpPr txBox="1"/>
          <p:nvPr/>
        </p:nvSpPr>
        <p:spPr>
          <a:xfrm>
            <a:off x="762000" y="1562100"/>
            <a:ext cx="16535400" cy="5632311"/>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s-ES" sz="36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Ventajas de un parque eólico</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s-ES" sz="36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 sz="3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Una central eólica funciona a partir de un recurso renovable (viento).</a:t>
            </a:r>
          </a:p>
          <a:p>
            <a:pPr marL="0" marR="0" lvl="0" indent="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 sz="3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Su </a:t>
            </a:r>
            <a:r>
              <a:rPr kumimoji="0" lang="es-ES" sz="36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contaminación es muy baja</a:t>
            </a:r>
            <a:r>
              <a:rPr kumimoji="0" lang="es-ES" sz="3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lo que contribuye a la disminución del calentamiento global y el cambio climático.</a:t>
            </a:r>
          </a:p>
          <a:p>
            <a:pPr marL="0" marR="0" lvl="0" indent="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 sz="3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Debido a la energía que produce, permite mejorar y/o desarrollar comunidades a nivel local.</a:t>
            </a:r>
          </a:p>
          <a:p>
            <a:pPr marL="0" marR="0" lvl="0" indent="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 sz="3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El mantenimiento de una central eólica es relativamente bajo.</a:t>
            </a:r>
          </a:p>
          <a:p>
            <a:pPr marL="0" marR="0" lvl="0" indent="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 sz="3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Un parque eólico tiene una vida útil de 20 a 30 años.</a:t>
            </a:r>
          </a:p>
          <a:p>
            <a:pPr marL="0" marR="0" lvl="0" indent="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 sz="3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Un parque eólico es un generador de empleos.</a:t>
            </a:r>
          </a:p>
        </p:txBody>
      </p:sp>
    </p:spTree>
    <p:extLst>
      <p:ext uri="{BB962C8B-B14F-4D97-AF65-F5344CB8AC3E}">
        <p14:creationId xmlns:p14="http://schemas.microsoft.com/office/powerpoint/2010/main" val="68735121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1759425" y="9733708"/>
            <a:ext cx="6735168" cy="553292"/>
            <a:chOff x="0" y="0"/>
            <a:chExt cx="1773872" cy="145723"/>
          </a:xfrm>
        </p:grpSpPr>
        <p:sp>
          <p:nvSpPr>
            <p:cNvPr id="3" name="Freeform 3"/>
            <p:cNvSpPr/>
            <p:nvPr/>
          </p:nvSpPr>
          <p:spPr>
            <a:xfrm>
              <a:off x="0" y="0"/>
              <a:ext cx="1773872" cy="145723"/>
            </a:xfrm>
            <a:custGeom>
              <a:avLst/>
              <a:gdLst/>
              <a:ahLst/>
              <a:cxnLst/>
              <a:rect l="l" t="t" r="r" b="b"/>
              <a:pathLst>
                <a:path w="1773872" h="145723">
                  <a:moveTo>
                    <a:pt x="0" y="0"/>
                  </a:moveTo>
                  <a:lnTo>
                    <a:pt x="1773872" y="0"/>
                  </a:lnTo>
                  <a:lnTo>
                    <a:pt x="1773872" y="145723"/>
                  </a:lnTo>
                  <a:lnTo>
                    <a:pt x="0" y="145723"/>
                  </a:lnTo>
                  <a:close/>
                </a:path>
              </a:pathLst>
            </a:custGeom>
            <a:solidFill>
              <a:srgbClr val="F23436"/>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GT"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TextBox 4"/>
            <p:cNvSpPr txBox="1"/>
            <p:nvPr/>
          </p:nvSpPr>
          <p:spPr>
            <a:xfrm>
              <a:off x="0" y="-47625"/>
              <a:ext cx="1773872" cy="193348"/>
            </a:xfrm>
            <a:prstGeom prst="rect">
              <a:avLst/>
            </a:prstGeom>
          </p:spPr>
          <p:txBody>
            <a:bodyPr lIns="50800" tIns="50800" rIns="50800" bIns="50800" rtlCol="0" anchor="ctr"/>
            <a:lstStyle/>
            <a:p>
              <a:pPr marL="0" marR="0" lvl="0" indent="0" algn="ctr" defTabSz="914400" rtl="0" eaLnBrk="1" fontAlgn="auto" latinLnBrk="0" hangingPunct="1">
                <a:lnSpc>
                  <a:spcPts val="307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6" name="CuadroTexto 5">
            <a:extLst>
              <a:ext uri="{FF2B5EF4-FFF2-40B4-BE49-F238E27FC236}">
                <a16:creationId xmlns:a16="http://schemas.microsoft.com/office/drawing/2014/main" id="{CE1263CE-6686-73FB-9CD8-5CB1FF840678}"/>
              </a:ext>
            </a:extLst>
          </p:cNvPr>
          <p:cNvSpPr txBox="1"/>
          <p:nvPr/>
        </p:nvSpPr>
        <p:spPr>
          <a:xfrm>
            <a:off x="762000" y="1257300"/>
            <a:ext cx="16764000" cy="674030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36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Desventajas de un parque eólico</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36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 sz="3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Las centrales eólicas abarcan grandes áreas, lo que hace difícil identificar una ubicación precisa para el parque.</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 sz="3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 requiere una zona con una velocidad de viento determinada y constante.</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 sz="3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En un parque eólico es necesario la construcción e instalación de otros elementos, como cables subterráneos, subestaciones, salas de control y líneas de alta tensión.</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 sz="3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El precio inicial para establecer un parque es alto.</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 sz="3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Planificar una central eólica es difícil y en ocasiones, no es posible llevarla a cabo debido a las variables que integran la ecuación como: ubicación, vientos, viabilidad y presupuesto.</a:t>
            </a:r>
          </a:p>
        </p:txBody>
      </p:sp>
    </p:spTree>
    <p:extLst>
      <p:ext uri="{BB962C8B-B14F-4D97-AF65-F5344CB8AC3E}">
        <p14:creationId xmlns:p14="http://schemas.microsoft.com/office/powerpoint/2010/main" val="67381611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1759425" y="9733708"/>
            <a:ext cx="6735168" cy="553292"/>
            <a:chOff x="0" y="0"/>
            <a:chExt cx="1773872" cy="145723"/>
          </a:xfrm>
        </p:grpSpPr>
        <p:sp>
          <p:nvSpPr>
            <p:cNvPr id="3" name="Freeform 3"/>
            <p:cNvSpPr/>
            <p:nvPr/>
          </p:nvSpPr>
          <p:spPr>
            <a:xfrm>
              <a:off x="0" y="0"/>
              <a:ext cx="1773872" cy="145723"/>
            </a:xfrm>
            <a:custGeom>
              <a:avLst/>
              <a:gdLst/>
              <a:ahLst/>
              <a:cxnLst/>
              <a:rect l="l" t="t" r="r" b="b"/>
              <a:pathLst>
                <a:path w="1773872" h="145723">
                  <a:moveTo>
                    <a:pt x="0" y="0"/>
                  </a:moveTo>
                  <a:lnTo>
                    <a:pt x="1773872" y="0"/>
                  </a:lnTo>
                  <a:lnTo>
                    <a:pt x="1773872" y="145723"/>
                  </a:lnTo>
                  <a:lnTo>
                    <a:pt x="0" y="145723"/>
                  </a:lnTo>
                  <a:close/>
                </a:path>
              </a:pathLst>
            </a:custGeom>
            <a:solidFill>
              <a:srgbClr val="F23436"/>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GT"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TextBox 4"/>
            <p:cNvSpPr txBox="1"/>
            <p:nvPr/>
          </p:nvSpPr>
          <p:spPr>
            <a:xfrm>
              <a:off x="0" y="-47625"/>
              <a:ext cx="1773872" cy="193348"/>
            </a:xfrm>
            <a:prstGeom prst="rect">
              <a:avLst/>
            </a:prstGeom>
          </p:spPr>
          <p:txBody>
            <a:bodyPr lIns="50800" tIns="50800" rIns="50800" bIns="50800" rtlCol="0" anchor="ctr"/>
            <a:lstStyle/>
            <a:p>
              <a:pPr marL="0" marR="0" lvl="0" indent="0" algn="ctr" defTabSz="914400" rtl="0" eaLnBrk="1" fontAlgn="auto" latinLnBrk="0" hangingPunct="1">
                <a:lnSpc>
                  <a:spcPts val="307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6" name="CuadroTexto 5">
            <a:extLst>
              <a:ext uri="{FF2B5EF4-FFF2-40B4-BE49-F238E27FC236}">
                <a16:creationId xmlns:a16="http://schemas.microsoft.com/office/drawing/2014/main" id="{2812B206-0FF2-6E57-3241-3E78F9437F31}"/>
              </a:ext>
            </a:extLst>
          </p:cNvPr>
          <p:cNvSpPr txBox="1"/>
          <p:nvPr/>
        </p:nvSpPr>
        <p:spPr>
          <a:xfrm>
            <a:off x="1066800" y="876300"/>
            <a:ext cx="16154400" cy="729430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36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Características de una central eólica</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 sz="3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La cantidad de aerogeneradores de un parque eólico varía dependiendo de la extensión de la zona, las características del viento, y el presupuesto destinado.</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 sz="3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Para establecer un parque eólico, es necesario el estudio del viento, cuya duración es superior a 1 año.</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 sz="3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Los aerogeneradores más utilizados son aquellos de 3 aspas.</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 sz="3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Las centrales eólicas son instaladas en áreas rurales que no posean población, o en sitios estratégicos del mar.</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 sz="3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En la actualidad existen diversos modelos de aerogeneradores para adaptarse a las condiciones de cada zona.</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 sz="3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Los parques eólicos, a pesar de ser grandes, no interrumpen las actividades de ganadería y agrícolas del lugar</a:t>
            </a:r>
          </a:p>
        </p:txBody>
      </p:sp>
    </p:spTree>
    <p:extLst>
      <p:ext uri="{BB962C8B-B14F-4D97-AF65-F5344CB8AC3E}">
        <p14:creationId xmlns:p14="http://schemas.microsoft.com/office/powerpoint/2010/main" val="226111187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1759425" y="9733708"/>
            <a:ext cx="6735168" cy="553292"/>
            <a:chOff x="0" y="0"/>
            <a:chExt cx="1773872" cy="145723"/>
          </a:xfrm>
        </p:grpSpPr>
        <p:sp>
          <p:nvSpPr>
            <p:cNvPr id="3" name="Freeform 3"/>
            <p:cNvSpPr/>
            <p:nvPr/>
          </p:nvSpPr>
          <p:spPr>
            <a:xfrm>
              <a:off x="0" y="0"/>
              <a:ext cx="1773872" cy="145723"/>
            </a:xfrm>
            <a:custGeom>
              <a:avLst/>
              <a:gdLst/>
              <a:ahLst/>
              <a:cxnLst/>
              <a:rect l="l" t="t" r="r" b="b"/>
              <a:pathLst>
                <a:path w="1773872" h="145723">
                  <a:moveTo>
                    <a:pt x="0" y="0"/>
                  </a:moveTo>
                  <a:lnTo>
                    <a:pt x="1773872" y="0"/>
                  </a:lnTo>
                  <a:lnTo>
                    <a:pt x="1773872" y="145723"/>
                  </a:lnTo>
                  <a:lnTo>
                    <a:pt x="0" y="145723"/>
                  </a:lnTo>
                  <a:close/>
                </a:path>
              </a:pathLst>
            </a:custGeom>
            <a:solidFill>
              <a:srgbClr val="F23436"/>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GT"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TextBox 4"/>
            <p:cNvSpPr txBox="1"/>
            <p:nvPr/>
          </p:nvSpPr>
          <p:spPr>
            <a:xfrm>
              <a:off x="0" y="-47625"/>
              <a:ext cx="1773872" cy="193348"/>
            </a:xfrm>
            <a:prstGeom prst="rect">
              <a:avLst/>
            </a:prstGeom>
          </p:spPr>
          <p:txBody>
            <a:bodyPr lIns="50800" tIns="50800" rIns="50800" bIns="50800" rtlCol="0" anchor="ctr"/>
            <a:lstStyle/>
            <a:p>
              <a:pPr marL="0" marR="0" lvl="0" indent="0" algn="ctr" defTabSz="914400" rtl="0" eaLnBrk="1" fontAlgn="auto" latinLnBrk="0" hangingPunct="1">
                <a:lnSpc>
                  <a:spcPts val="307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6" name="CuadroTexto 5">
            <a:extLst>
              <a:ext uri="{FF2B5EF4-FFF2-40B4-BE49-F238E27FC236}">
                <a16:creationId xmlns:a16="http://schemas.microsoft.com/office/drawing/2014/main" id="{9334DA32-D636-7E5B-C002-09DD97EA5A34}"/>
              </a:ext>
            </a:extLst>
          </p:cNvPr>
          <p:cNvSpPr txBox="1"/>
          <p:nvPr/>
        </p:nvSpPr>
        <p:spPr>
          <a:xfrm>
            <a:off x="914400" y="1790700"/>
            <a:ext cx="16459200" cy="5632311"/>
          </a:xfrm>
          <a:prstGeom prst="rect">
            <a:avLst/>
          </a:prstGeom>
          <a:noFill/>
        </p:spPr>
        <p:txBody>
          <a:bodyPr wrap="square">
            <a:spAutoFit/>
          </a:bodyPr>
          <a:lstStyle/>
          <a:p>
            <a:pPr marL="0" marR="0" lvl="0" indent="0" algn="just" defTabSz="914400" rtl="0" eaLnBrk="1" fontAlgn="base" latinLnBrk="0" hangingPunct="1">
              <a:lnSpc>
                <a:spcPct val="100000"/>
              </a:lnSpc>
              <a:spcBef>
                <a:spcPts val="0"/>
              </a:spcBef>
              <a:spcAft>
                <a:spcPts val="0"/>
              </a:spcAft>
              <a:buClrTx/>
              <a:buSzTx/>
              <a:buFontTx/>
              <a:buNone/>
              <a:tabLst/>
              <a:defRPr/>
            </a:pPr>
            <a:r>
              <a:rPr kumimoji="0" lang="es-ES" sz="3600" b="0" i="0" u="none" strike="noStrike" kern="1200" cap="none" spc="0" normalizeH="0" baseline="0" noProof="0" dirty="0">
                <a:ln>
                  <a:noFill/>
                </a:ln>
                <a:solidFill>
                  <a:prstClr val="black"/>
                </a:solidFill>
                <a:effectLst/>
                <a:highlight>
                  <a:srgbClr val="FFFFFF"/>
                </a:highlight>
                <a:uLnTx/>
                <a:uFillTx/>
                <a:latin typeface="Arial" panose="020B0604020202020204" pitchFamily="34" charset="0"/>
                <a:ea typeface="+mn-ea"/>
                <a:cs typeface="Arial" panose="020B0604020202020204" pitchFamily="34" charset="0"/>
              </a:rPr>
              <a:t>Actualmente en el país existen tres parques eólicos:</a:t>
            </a:r>
          </a:p>
          <a:p>
            <a:pPr marL="0" marR="0" lvl="0" indent="0" algn="just" defTabSz="914400" rtl="0" eaLnBrk="1" fontAlgn="base" latinLnBrk="0" hangingPunct="1">
              <a:lnSpc>
                <a:spcPct val="100000"/>
              </a:lnSpc>
              <a:spcBef>
                <a:spcPts val="0"/>
              </a:spcBef>
              <a:spcAft>
                <a:spcPts val="0"/>
              </a:spcAft>
              <a:buClrTx/>
              <a:buSzTx/>
              <a:buFontTx/>
              <a:buNone/>
              <a:tabLst/>
              <a:defRPr/>
            </a:pPr>
            <a:endParaRPr kumimoji="0" lang="es-ES" sz="3600" b="0" i="0" u="none" strike="noStrike" kern="1200" cap="none" spc="0" normalizeH="0" baseline="0" noProof="0" dirty="0">
              <a:ln>
                <a:noFill/>
              </a:ln>
              <a:solidFill>
                <a:prstClr val="black"/>
              </a:solidFill>
              <a:effectLst/>
              <a:highlight>
                <a:srgbClr val="FFFFFF"/>
              </a:highlight>
              <a:uLnTx/>
              <a:uFillTx/>
              <a:latin typeface="Arial" panose="020B0604020202020204" pitchFamily="34" charset="0"/>
              <a:ea typeface="+mn-ea"/>
              <a:cs typeface="Arial" panose="020B0604020202020204" pitchFamily="34" charset="0"/>
            </a:endParaRPr>
          </a:p>
          <a:p>
            <a:pPr marL="571500" marR="0" lvl="0" indent="-571500" algn="just"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s-ES" sz="3600" b="0" i="0" u="none" strike="noStrike" kern="1200" cap="none" spc="0" normalizeH="0" baseline="0" noProof="0" dirty="0">
                <a:ln>
                  <a:noFill/>
                </a:ln>
                <a:solidFill>
                  <a:srgbClr val="333333"/>
                </a:solidFill>
                <a:effectLst/>
                <a:highlight>
                  <a:srgbClr val="FFFFFF"/>
                </a:highlight>
                <a:uLnTx/>
                <a:uFillTx/>
                <a:latin typeface="Arial" panose="020B0604020202020204" pitchFamily="34" charset="0"/>
                <a:ea typeface="+mn-ea"/>
                <a:cs typeface="Arial" panose="020B0604020202020204" pitchFamily="34" charset="0"/>
              </a:rPr>
              <a:t>San Antonio, Aldea Los Llanos Kilómetro cuarenta y tres, Carretera de Santa Elena Barillas a Dolores, jurisdicción del Municipio de Villa Canales del Departamento de Guatemala. 52 megavatios</a:t>
            </a:r>
          </a:p>
          <a:p>
            <a:pPr marL="571500" marR="0" lvl="0" indent="-571500" algn="just"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s-ES" sz="3600" b="0" i="0" u="none" strike="noStrike" kern="1200" cap="none" spc="0" normalizeH="0" baseline="0" noProof="0" dirty="0">
                <a:ln>
                  <a:noFill/>
                </a:ln>
                <a:solidFill>
                  <a:prstClr val="black"/>
                </a:solidFill>
                <a:effectLst/>
                <a:highlight>
                  <a:srgbClr val="FFFFFF"/>
                </a:highlight>
                <a:uLnTx/>
                <a:uFillTx/>
                <a:latin typeface="Arial" panose="020B0604020202020204" pitchFamily="34" charset="0"/>
                <a:ea typeface="+mn-ea"/>
                <a:cs typeface="Arial" panose="020B0604020202020204" pitchFamily="34" charset="0"/>
              </a:rPr>
              <a:t>Parque Eólico Viento Blanco, ubicado en el área del volcán de Pacaya y produce 22 megavatios.</a:t>
            </a:r>
          </a:p>
          <a:p>
            <a:pPr marL="571500" marR="0" lvl="0" indent="-571500" algn="just"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s-ES" sz="3600" b="0" i="0" u="none" strike="noStrike" kern="1200" cap="none" spc="0" normalizeH="0" baseline="0" noProof="0" dirty="0">
                <a:ln>
                  <a:noFill/>
                </a:ln>
                <a:solidFill>
                  <a:prstClr val="black"/>
                </a:solidFill>
                <a:effectLst/>
                <a:highlight>
                  <a:srgbClr val="FFFFFF"/>
                </a:highlight>
                <a:uLnTx/>
                <a:uFillTx/>
                <a:latin typeface="Arial" panose="020B0604020202020204" pitchFamily="34" charset="0"/>
                <a:ea typeface="+mn-ea"/>
                <a:cs typeface="Arial" panose="020B0604020202020204" pitchFamily="34" charset="0"/>
              </a:rPr>
              <a:t>Las Cumbres en Agua Blanca, Jutiapa, con capacidad de producir 30 megavatios.</a:t>
            </a:r>
          </a:p>
          <a:p>
            <a:pPr marL="0" marR="0" lvl="0" indent="0" algn="just" defTabSz="914400" rtl="0" eaLnBrk="1" fontAlgn="base" latinLnBrk="0" hangingPunct="1">
              <a:lnSpc>
                <a:spcPct val="100000"/>
              </a:lnSpc>
              <a:spcBef>
                <a:spcPts val="0"/>
              </a:spcBef>
              <a:spcAft>
                <a:spcPts val="0"/>
              </a:spcAft>
              <a:buClrTx/>
              <a:buSzTx/>
              <a:buFontTx/>
              <a:buNone/>
              <a:tabLst/>
              <a:defRPr/>
            </a:pPr>
            <a:r>
              <a:rPr kumimoji="0" lang="es-ES" sz="3600" b="0" i="0" u="none" strike="noStrike" kern="1200" cap="none" spc="0" normalizeH="0" baseline="0" noProof="0" dirty="0">
                <a:ln>
                  <a:noFill/>
                </a:ln>
                <a:solidFill>
                  <a:prstClr val="black"/>
                </a:solidFill>
                <a:effectLst/>
                <a:highlight>
                  <a:srgbClr val="FFFFFF"/>
                </a:highlight>
                <a:uLnTx/>
                <a:uFillTx/>
                <a:latin typeface="Arial" panose="020B0604020202020204" pitchFamily="34" charset="0"/>
                <a:ea typeface="+mn-ea"/>
                <a:cs typeface="Arial" panose="020B0604020202020204" pitchFamily="34" charset="0"/>
              </a:rPr>
              <a:t>En conjunto se generan 100 megavatios para la matriz energética del país.</a:t>
            </a:r>
          </a:p>
        </p:txBody>
      </p:sp>
    </p:spTree>
    <p:extLst>
      <p:ext uri="{BB962C8B-B14F-4D97-AF65-F5344CB8AC3E}">
        <p14:creationId xmlns:p14="http://schemas.microsoft.com/office/powerpoint/2010/main" val="425126931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1759425" y="9733708"/>
            <a:ext cx="6735168" cy="553292"/>
            <a:chOff x="0" y="0"/>
            <a:chExt cx="1773872" cy="145723"/>
          </a:xfrm>
        </p:grpSpPr>
        <p:sp>
          <p:nvSpPr>
            <p:cNvPr id="3" name="Freeform 3"/>
            <p:cNvSpPr/>
            <p:nvPr/>
          </p:nvSpPr>
          <p:spPr>
            <a:xfrm>
              <a:off x="0" y="0"/>
              <a:ext cx="1773872" cy="145723"/>
            </a:xfrm>
            <a:custGeom>
              <a:avLst/>
              <a:gdLst/>
              <a:ahLst/>
              <a:cxnLst/>
              <a:rect l="l" t="t" r="r" b="b"/>
              <a:pathLst>
                <a:path w="1773872" h="145723">
                  <a:moveTo>
                    <a:pt x="0" y="0"/>
                  </a:moveTo>
                  <a:lnTo>
                    <a:pt x="1773872" y="0"/>
                  </a:lnTo>
                  <a:lnTo>
                    <a:pt x="1773872" y="145723"/>
                  </a:lnTo>
                  <a:lnTo>
                    <a:pt x="0" y="145723"/>
                  </a:lnTo>
                  <a:close/>
                </a:path>
              </a:pathLst>
            </a:custGeom>
            <a:solidFill>
              <a:srgbClr val="F23436"/>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GT"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TextBox 4"/>
            <p:cNvSpPr txBox="1"/>
            <p:nvPr/>
          </p:nvSpPr>
          <p:spPr>
            <a:xfrm>
              <a:off x="0" y="-47625"/>
              <a:ext cx="1773872" cy="193348"/>
            </a:xfrm>
            <a:prstGeom prst="rect">
              <a:avLst/>
            </a:prstGeom>
          </p:spPr>
          <p:txBody>
            <a:bodyPr lIns="50800" tIns="50800" rIns="50800" bIns="50800" rtlCol="0" anchor="ctr"/>
            <a:lstStyle/>
            <a:p>
              <a:pPr marL="0" marR="0" lvl="0" indent="0" algn="ctr" defTabSz="914400" rtl="0" eaLnBrk="1" fontAlgn="auto" latinLnBrk="0" hangingPunct="1">
                <a:lnSpc>
                  <a:spcPts val="307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pic>
        <p:nvPicPr>
          <p:cNvPr id="6" name="Imagen 5">
            <a:extLst>
              <a:ext uri="{FF2B5EF4-FFF2-40B4-BE49-F238E27FC236}">
                <a16:creationId xmlns:a16="http://schemas.microsoft.com/office/drawing/2014/main" id="{C360E21B-040F-A90D-5C4F-FE35A8C71001}"/>
              </a:ext>
            </a:extLst>
          </p:cNvPr>
          <p:cNvPicPr>
            <a:picLocks noChangeAspect="1"/>
          </p:cNvPicPr>
          <p:nvPr/>
        </p:nvPicPr>
        <p:blipFill>
          <a:blip r:embed="rId2"/>
          <a:stretch>
            <a:fillRect/>
          </a:stretch>
        </p:blipFill>
        <p:spPr>
          <a:xfrm>
            <a:off x="2590800" y="5372100"/>
            <a:ext cx="8888523" cy="4726161"/>
          </a:xfrm>
          <a:prstGeom prst="rect">
            <a:avLst/>
          </a:prstGeom>
        </p:spPr>
      </p:pic>
      <p:pic>
        <p:nvPicPr>
          <p:cNvPr id="8" name="Imagen 7">
            <a:extLst>
              <a:ext uri="{FF2B5EF4-FFF2-40B4-BE49-F238E27FC236}">
                <a16:creationId xmlns:a16="http://schemas.microsoft.com/office/drawing/2014/main" id="{9CBE2CAB-1970-4C66-7506-1E5D0DE18B22}"/>
              </a:ext>
            </a:extLst>
          </p:cNvPr>
          <p:cNvPicPr>
            <a:picLocks noChangeAspect="1"/>
          </p:cNvPicPr>
          <p:nvPr/>
        </p:nvPicPr>
        <p:blipFill>
          <a:blip r:embed="rId3"/>
          <a:stretch>
            <a:fillRect/>
          </a:stretch>
        </p:blipFill>
        <p:spPr>
          <a:xfrm>
            <a:off x="584764" y="315630"/>
            <a:ext cx="17425408" cy="4827870"/>
          </a:xfrm>
          <a:prstGeom prst="rect">
            <a:avLst/>
          </a:prstGeom>
        </p:spPr>
      </p:pic>
    </p:spTree>
    <p:extLst>
      <p:ext uri="{BB962C8B-B14F-4D97-AF65-F5344CB8AC3E}">
        <p14:creationId xmlns:p14="http://schemas.microsoft.com/office/powerpoint/2010/main" val="26308847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1759425" y="9733708"/>
            <a:ext cx="6735168" cy="553292"/>
            <a:chOff x="0" y="0"/>
            <a:chExt cx="1773872" cy="145723"/>
          </a:xfrm>
        </p:grpSpPr>
        <p:sp>
          <p:nvSpPr>
            <p:cNvPr id="3" name="Freeform 3"/>
            <p:cNvSpPr/>
            <p:nvPr/>
          </p:nvSpPr>
          <p:spPr>
            <a:xfrm>
              <a:off x="0" y="0"/>
              <a:ext cx="1773872" cy="145723"/>
            </a:xfrm>
            <a:custGeom>
              <a:avLst/>
              <a:gdLst/>
              <a:ahLst/>
              <a:cxnLst/>
              <a:rect l="l" t="t" r="r" b="b"/>
              <a:pathLst>
                <a:path w="1773872" h="145723">
                  <a:moveTo>
                    <a:pt x="0" y="0"/>
                  </a:moveTo>
                  <a:lnTo>
                    <a:pt x="1773872" y="0"/>
                  </a:lnTo>
                  <a:lnTo>
                    <a:pt x="1773872" y="145723"/>
                  </a:lnTo>
                  <a:lnTo>
                    <a:pt x="0" y="145723"/>
                  </a:lnTo>
                  <a:close/>
                </a:path>
              </a:pathLst>
            </a:custGeom>
            <a:solidFill>
              <a:srgbClr val="F23436"/>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GT"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TextBox 4"/>
            <p:cNvSpPr txBox="1"/>
            <p:nvPr/>
          </p:nvSpPr>
          <p:spPr>
            <a:xfrm>
              <a:off x="0" y="-47625"/>
              <a:ext cx="1773872" cy="193348"/>
            </a:xfrm>
            <a:prstGeom prst="rect">
              <a:avLst/>
            </a:prstGeom>
          </p:spPr>
          <p:txBody>
            <a:bodyPr lIns="50800" tIns="50800" rIns="50800" bIns="50800" rtlCol="0" anchor="ctr"/>
            <a:lstStyle/>
            <a:p>
              <a:pPr marL="0" marR="0" lvl="0" indent="0" algn="ctr" defTabSz="914400" rtl="0" eaLnBrk="1" fontAlgn="auto" latinLnBrk="0" hangingPunct="1">
                <a:lnSpc>
                  <a:spcPts val="307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6" name="CuadroTexto 5">
            <a:extLst>
              <a:ext uri="{FF2B5EF4-FFF2-40B4-BE49-F238E27FC236}">
                <a16:creationId xmlns:a16="http://schemas.microsoft.com/office/drawing/2014/main" id="{3FD63A88-F63C-3DBC-4C1C-4176ED15379B}"/>
              </a:ext>
            </a:extLst>
          </p:cNvPr>
          <p:cNvSpPr txBox="1"/>
          <p:nvPr/>
        </p:nvSpPr>
        <p:spPr>
          <a:xfrm>
            <a:off x="533400" y="495300"/>
            <a:ext cx="15240000" cy="584775"/>
          </a:xfrm>
          <a:prstGeom prst="rect">
            <a:avLst/>
          </a:prstGeom>
          <a:noFill/>
        </p:spPr>
        <p:txBody>
          <a:bodyPr wrap="square">
            <a:sp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es-GT" sz="32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Planta de Energía Eólica Viento Blanco</a:t>
            </a:r>
          </a:p>
        </p:txBody>
      </p:sp>
      <p:sp>
        <p:nvSpPr>
          <p:cNvPr id="10" name="CuadroTexto 9">
            <a:extLst>
              <a:ext uri="{FF2B5EF4-FFF2-40B4-BE49-F238E27FC236}">
                <a16:creationId xmlns:a16="http://schemas.microsoft.com/office/drawing/2014/main" id="{F1B388F2-C8B1-CAB3-D867-BDCE3E433D5A}"/>
              </a:ext>
            </a:extLst>
          </p:cNvPr>
          <p:cNvSpPr txBox="1"/>
          <p:nvPr/>
        </p:nvSpPr>
        <p:spPr>
          <a:xfrm>
            <a:off x="533400" y="1714500"/>
            <a:ext cx="17297400" cy="3539430"/>
          </a:xfrm>
          <a:prstGeom prst="rect">
            <a:avLst/>
          </a:prstGeom>
          <a:noFill/>
        </p:spPr>
        <p:txBody>
          <a:bodyPr wrap="square">
            <a:spAutoFit/>
          </a:bodyPr>
          <a:lstStyle/>
          <a:p>
            <a:pPr marL="0" marR="0" lvl="0" indent="0" algn="just" defTabSz="914400" rtl="0" eaLnBrk="1" fontAlgn="base" latinLnBrk="0" hangingPunct="1">
              <a:lnSpc>
                <a:spcPct val="100000"/>
              </a:lnSpc>
              <a:spcBef>
                <a:spcPts val="0"/>
              </a:spcBef>
              <a:spcAft>
                <a:spcPts val="0"/>
              </a:spcAft>
              <a:buClrTx/>
              <a:buSzTx/>
              <a:buFontTx/>
              <a:buNone/>
              <a:tabLst/>
              <a:defRPr/>
            </a:pPr>
            <a:r>
              <a:rPr kumimoji="0" lang="es-ES" sz="2800" b="1" i="0" u="none" strike="noStrike" kern="1200" cap="none" spc="0" normalizeH="0" baseline="0" noProof="0" dirty="0">
                <a:ln>
                  <a:noFill/>
                </a:ln>
                <a:solidFill>
                  <a:prstClr val="black"/>
                </a:solidFill>
                <a:effectLst/>
                <a:highlight>
                  <a:srgbClr val="FFFFFF"/>
                </a:highlight>
                <a:uLnTx/>
                <a:uFillTx/>
                <a:latin typeface="Arial" panose="020B0604020202020204" pitchFamily="34" charset="0"/>
                <a:ea typeface="+mn-ea"/>
                <a:cs typeface="Arial" panose="020B0604020202020204" pitchFamily="34" charset="0"/>
              </a:rPr>
              <a:t>Viento Blanco, S.A.</a:t>
            </a:r>
            <a:r>
              <a:rPr kumimoji="0" lang="es-ES" sz="2800" b="0" i="0" u="none" strike="noStrike" kern="1200" cap="none" spc="0" normalizeH="0" baseline="0" noProof="0" dirty="0">
                <a:ln>
                  <a:noFill/>
                </a:ln>
                <a:solidFill>
                  <a:prstClr val="black"/>
                </a:solidFill>
                <a:effectLst/>
                <a:highlight>
                  <a:srgbClr val="FFFFFF"/>
                </a:highlight>
                <a:uLnTx/>
                <a:uFillTx/>
                <a:latin typeface="Arial" panose="020B0604020202020204" pitchFamily="34" charset="0"/>
                <a:ea typeface="+mn-ea"/>
                <a:cs typeface="Arial" panose="020B0604020202020204" pitchFamily="34" charset="0"/>
              </a:rPr>
              <a:t> es una empresa ubicada en Guatemala, pionera en el sector eólico del país desarrollando el proyecto Planta de Energía Eólica Viento Blanco de 23.1 Megavatio de capacidad. </a:t>
            </a:r>
          </a:p>
          <a:p>
            <a:pPr marL="0" marR="0" lvl="0" indent="0" algn="just" defTabSz="914400" rtl="0" eaLnBrk="1" fontAlgn="base" latinLnBrk="0" hangingPunct="1">
              <a:lnSpc>
                <a:spcPct val="100000"/>
              </a:lnSpc>
              <a:spcBef>
                <a:spcPts val="0"/>
              </a:spcBef>
              <a:spcAft>
                <a:spcPts val="0"/>
              </a:spcAft>
              <a:buClrTx/>
              <a:buSzTx/>
              <a:buFontTx/>
              <a:buNone/>
              <a:tabLst/>
              <a:defRPr/>
            </a:pPr>
            <a:r>
              <a:rPr kumimoji="0" lang="es-ES" sz="2800" b="0" i="0" u="none" strike="noStrike" kern="1200" cap="none" spc="0" normalizeH="0" baseline="0" noProof="0" dirty="0">
                <a:ln>
                  <a:noFill/>
                </a:ln>
                <a:solidFill>
                  <a:prstClr val="black"/>
                </a:solidFill>
                <a:effectLst/>
                <a:highlight>
                  <a:srgbClr val="FFFFFF"/>
                </a:highlight>
                <a:uLnTx/>
                <a:uFillTx/>
                <a:latin typeface="Arial" panose="020B0604020202020204" pitchFamily="34" charset="0"/>
                <a:ea typeface="+mn-ea"/>
                <a:cs typeface="Arial" panose="020B0604020202020204" pitchFamily="34" charset="0"/>
              </a:rPr>
              <a:t>Hoy en día, durante la etapa de Operación, </a:t>
            </a:r>
            <a:r>
              <a:rPr kumimoji="0" lang="es-ES" sz="2800" b="1" i="0" u="none" strike="noStrike" kern="1200" cap="none" spc="0" normalizeH="0" baseline="0" noProof="0" dirty="0">
                <a:ln>
                  <a:noFill/>
                </a:ln>
                <a:solidFill>
                  <a:prstClr val="black"/>
                </a:solidFill>
                <a:effectLst/>
                <a:highlight>
                  <a:srgbClr val="FFFFFF"/>
                </a:highlight>
                <a:uLnTx/>
                <a:uFillTx/>
                <a:latin typeface="Arial" panose="020B0604020202020204" pitchFamily="34" charset="0"/>
                <a:ea typeface="+mn-ea"/>
                <a:cs typeface="Arial" panose="020B0604020202020204" pitchFamily="34" charset="0"/>
              </a:rPr>
              <a:t>Viento Blanco, S.A.</a:t>
            </a:r>
            <a:r>
              <a:rPr kumimoji="0" lang="es-ES" sz="2800" b="0" i="0" u="none" strike="noStrike" kern="1200" cap="none" spc="0" normalizeH="0" baseline="0" noProof="0" dirty="0">
                <a:ln>
                  <a:noFill/>
                </a:ln>
                <a:solidFill>
                  <a:prstClr val="black"/>
                </a:solidFill>
                <a:effectLst/>
                <a:highlight>
                  <a:srgbClr val="FFFFFF"/>
                </a:highlight>
                <a:uLnTx/>
                <a:uFillTx/>
                <a:latin typeface="Arial" panose="020B0604020202020204" pitchFamily="34" charset="0"/>
                <a:ea typeface="+mn-ea"/>
                <a:cs typeface="Arial" panose="020B0604020202020204" pitchFamily="34" charset="0"/>
              </a:rPr>
              <a:t> se encarga de abastecer de energía Limpia el Sector Energético Guatemalteco, diversificando la matriz de generación del país y de la región.</a:t>
            </a:r>
          </a:p>
          <a:p>
            <a:pPr marL="0" marR="0" lvl="0" indent="0" algn="just" defTabSz="914400" rtl="0" eaLnBrk="1" fontAlgn="base" latinLnBrk="0" hangingPunct="1">
              <a:lnSpc>
                <a:spcPct val="100000"/>
              </a:lnSpc>
              <a:spcBef>
                <a:spcPts val="0"/>
              </a:spcBef>
              <a:spcAft>
                <a:spcPts val="0"/>
              </a:spcAft>
              <a:buClrTx/>
              <a:buSzTx/>
              <a:buFontTx/>
              <a:buNone/>
              <a:tabLst/>
              <a:defRPr/>
            </a:pPr>
            <a:endParaRPr kumimoji="0" lang="es-ES" sz="2800" b="0" i="0" u="none" strike="noStrike" kern="1200" cap="none" spc="0" normalizeH="0" baseline="0" noProof="0" dirty="0">
              <a:ln>
                <a:noFill/>
              </a:ln>
              <a:solidFill>
                <a:prstClr val="black"/>
              </a:solidFill>
              <a:effectLst/>
              <a:highlight>
                <a:srgbClr val="FFFFFF"/>
              </a:highlight>
              <a:uLnTx/>
              <a:uFillTx/>
              <a:latin typeface="Arial" panose="020B0604020202020204" pitchFamily="34" charset="0"/>
              <a:ea typeface="+mn-ea"/>
              <a:cs typeface="Arial" panose="020B0604020202020204" pitchFamily="34" charset="0"/>
            </a:endParaRPr>
          </a:p>
          <a:p>
            <a:pPr marL="0" marR="0" lvl="0" indent="0" algn="just" defTabSz="914400" rtl="0" eaLnBrk="1" fontAlgn="base" latinLnBrk="0" hangingPunct="1">
              <a:lnSpc>
                <a:spcPct val="100000"/>
              </a:lnSpc>
              <a:spcBef>
                <a:spcPts val="0"/>
              </a:spcBef>
              <a:spcAft>
                <a:spcPts val="0"/>
              </a:spcAft>
              <a:buClrTx/>
              <a:buSzTx/>
              <a:buFontTx/>
              <a:buNone/>
              <a:tabLst/>
              <a:defRPr/>
            </a:pPr>
            <a:r>
              <a:rPr kumimoji="0" lang="es-ES" sz="2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Esta compuesto por 7 aerogeneradores, cada uno con una potencia de 3.3 MW, que en total suman 23.1 MW. Este parque eólico se encuentra ubicado en la finca La Colina, del municipio de San Vicente Pacaya, departamento de Escuintla. Su operación comercial empezó el 6 de diciembre de 2015.</a:t>
            </a:r>
            <a:endParaRPr kumimoji="0" lang="es-ES" sz="2800" b="0" i="0" u="none" strike="noStrike" kern="1200" cap="none" spc="0" normalizeH="0" baseline="0" noProof="0" dirty="0">
              <a:ln>
                <a:noFill/>
              </a:ln>
              <a:solidFill>
                <a:prstClr val="black"/>
              </a:solidFill>
              <a:effectLst/>
              <a:highlight>
                <a:srgbClr val="FFFFFF"/>
              </a:highlight>
              <a:uLnTx/>
              <a:uFillTx/>
              <a:latin typeface="Arial" panose="020B0604020202020204" pitchFamily="34" charset="0"/>
              <a:ea typeface="+mn-ea"/>
              <a:cs typeface="Arial" panose="020B0604020202020204" pitchFamily="34" charset="0"/>
            </a:endParaRPr>
          </a:p>
        </p:txBody>
      </p:sp>
      <p:pic>
        <p:nvPicPr>
          <p:cNvPr id="12" name="Imagen 11">
            <a:extLst>
              <a:ext uri="{FF2B5EF4-FFF2-40B4-BE49-F238E27FC236}">
                <a16:creationId xmlns:a16="http://schemas.microsoft.com/office/drawing/2014/main" id="{BAF80489-B844-4963-722F-B6D35E43B101}"/>
              </a:ext>
            </a:extLst>
          </p:cNvPr>
          <p:cNvPicPr>
            <a:picLocks noChangeAspect="1"/>
          </p:cNvPicPr>
          <p:nvPr/>
        </p:nvPicPr>
        <p:blipFill>
          <a:blip r:embed="rId2"/>
          <a:stretch>
            <a:fillRect/>
          </a:stretch>
        </p:blipFill>
        <p:spPr>
          <a:xfrm>
            <a:off x="3581400" y="5388499"/>
            <a:ext cx="7391400" cy="4588482"/>
          </a:xfrm>
          <a:prstGeom prst="rect">
            <a:avLst/>
          </a:prstGeom>
        </p:spPr>
      </p:pic>
    </p:spTree>
    <p:extLst>
      <p:ext uri="{BB962C8B-B14F-4D97-AF65-F5344CB8AC3E}">
        <p14:creationId xmlns:p14="http://schemas.microsoft.com/office/powerpoint/2010/main" val="377440326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1759425" y="9733708"/>
            <a:ext cx="6735168" cy="553292"/>
            <a:chOff x="0" y="0"/>
            <a:chExt cx="1773872" cy="145723"/>
          </a:xfrm>
        </p:grpSpPr>
        <p:sp>
          <p:nvSpPr>
            <p:cNvPr id="3" name="Freeform 3"/>
            <p:cNvSpPr/>
            <p:nvPr/>
          </p:nvSpPr>
          <p:spPr>
            <a:xfrm>
              <a:off x="0" y="0"/>
              <a:ext cx="1773872" cy="145723"/>
            </a:xfrm>
            <a:custGeom>
              <a:avLst/>
              <a:gdLst/>
              <a:ahLst/>
              <a:cxnLst/>
              <a:rect l="l" t="t" r="r" b="b"/>
              <a:pathLst>
                <a:path w="1773872" h="145723">
                  <a:moveTo>
                    <a:pt x="0" y="0"/>
                  </a:moveTo>
                  <a:lnTo>
                    <a:pt x="1773872" y="0"/>
                  </a:lnTo>
                  <a:lnTo>
                    <a:pt x="1773872" y="145723"/>
                  </a:lnTo>
                  <a:lnTo>
                    <a:pt x="0" y="145723"/>
                  </a:lnTo>
                  <a:close/>
                </a:path>
              </a:pathLst>
            </a:custGeom>
            <a:solidFill>
              <a:srgbClr val="F23436"/>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GT"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TextBox 4"/>
            <p:cNvSpPr txBox="1"/>
            <p:nvPr/>
          </p:nvSpPr>
          <p:spPr>
            <a:xfrm>
              <a:off x="0" y="-47625"/>
              <a:ext cx="1773872" cy="193348"/>
            </a:xfrm>
            <a:prstGeom prst="rect">
              <a:avLst/>
            </a:prstGeom>
          </p:spPr>
          <p:txBody>
            <a:bodyPr lIns="50800" tIns="50800" rIns="50800" bIns="50800" rtlCol="0" anchor="ctr"/>
            <a:lstStyle/>
            <a:p>
              <a:pPr marL="0" marR="0" lvl="0" indent="0" algn="ctr" defTabSz="914400" rtl="0" eaLnBrk="1" fontAlgn="auto" latinLnBrk="0" hangingPunct="1">
                <a:lnSpc>
                  <a:spcPts val="307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pic>
        <p:nvPicPr>
          <p:cNvPr id="10" name="Imagen 9">
            <a:extLst>
              <a:ext uri="{FF2B5EF4-FFF2-40B4-BE49-F238E27FC236}">
                <a16:creationId xmlns:a16="http://schemas.microsoft.com/office/drawing/2014/main" id="{8A03A70E-685C-9295-B69B-8F9F24066DBB}"/>
              </a:ext>
            </a:extLst>
          </p:cNvPr>
          <p:cNvPicPr>
            <a:picLocks noChangeAspect="1"/>
          </p:cNvPicPr>
          <p:nvPr/>
        </p:nvPicPr>
        <p:blipFill>
          <a:blip r:embed="rId2">
            <a:clrChange>
              <a:clrFrom>
                <a:srgbClr val="EEEEEE"/>
              </a:clrFrom>
              <a:clrTo>
                <a:srgbClr val="EEEEEE">
                  <a:alpha val="0"/>
                </a:srgbClr>
              </a:clrTo>
            </a:clrChange>
          </a:blip>
          <a:stretch>
            <a:fillRect/>
          </a:stretch>
        </p:blipFill>
        <p:spPr>
          <a:xfrm>
            <a:off x="685800" y="1485900"/>
            <a:ext cx="17278218" cy="1905000"/>
          </a:xfrm>
          <a:prstGeom prst="rect">
            <a:avLst/>
          </a:prstGeom>
        </p:spPr>
      </p:pic>
      <p:sp>
        <p:nvSpPr>
          <p:cNvPr id="11" name="CuadroTexto 10">
            <a:extLst>
              <a:ext uri="{FF2B5EF4-FFF2-40B4-BE49-F238E27FC236}">
                <a16:creationId xmlns:a16="http://schemas.microsoft.com/office/drawing/2014/main" id="{847769CF-0DBC-3F5A-21D7-BACA681F90D6}"/>
              </a:ext>
            </a:extLst>
          </p:cNvPr>
          <p:cNvSpPr txBox="1"/>
          <p:nvPr/>
        </p:nvSpPr>
        <p:spPr>
          <a:xfrm>
            <a:off x="533400" y="495300"/>
            <a:ext cx="15240000" cy="584775"/>
          </a:xfrm>
          <a:prstGeom prst="rect">
            <a:avLst/>
          </a:prstGeom>
          <a:noFill/>
        </p:spPr>
        <p:txBody>
          <a:bodyPr wrap="square">
            <a:sp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es-GT" sz="32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Planta de Energía </a:t>
            </a:r>
            <a:r>
              <a:rPr kumimoji="0" lang="es-GT" sz="3200" b="1"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Eolica</a:t>
            </a:r>
            <a:r>
              <a:rPr kumimoji="0" lang="es-GT" sz="32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Las Cumbres</a:t>
            </a:r>
          </a:p>
        </p:txBody>
      </p:sp>
      <p:pic>
        <p:nvPicPr>
          <p:cNvPr id="13" name="Imagen 12">
            <a:extLst>
              <a:ext uri="{FF2B5EF4-FFF2-40B4-BE49-F238E27FC236}">
                <a16:creationId xmlns:a16="http://schemas.microsoft.com/office/drawing/2014/main" id="{21D3F5F2-E91A-C4E0-2BC7-B192700FA96D}"/>
              </a:ext>
            </a:extLst>
          </p:cNvPr>
          <p:cNvPicPr>
            <a:picLocks noChangeAspect="1"/>
          </p:cNvPicPr>
          <p:nvPr/>
        </p:nvPicPr>
        <p:blipFill>
          <a:blip r:embed="rId3"/>
          <a:stretch>
            <a:fillRect/>
          </a:stretch>
        </p:blipFill>
        <p:spPr>
          <a:xfrm>
            <a:off x="3962400" y="5437495"/>
            <a:ext cx="7162800" cy="4572859"/>
          </a:xfrm>
          <a:prstGeom prst="rect">
            <a:avLst/>
          </a:prstGeom>
        </p:spPr>
      </p:pic>
    </p:spTree>
    <p:extLst>
      <p:ext uri="{BB962C8B-B14F-4D97-AF65-F5344CB8AC3E}">
        <p14:creationId xmlns:p14="http://schemas.microsoft.com/office/powerpoint/2010/main" val="162424277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1759425" y="9733708"/>
            <a:ext cx="6735168" cy="553292"/>
            <a:chOff x="0" y="0"/>
            <a:chExt cx="1773872" cy="145723"/>
          </a:xfrm>
        </p:grpSpPr>
        <p:sp>
          <p:nvSpPr>
            <p:cNvPr id="3" name="Freeform 3"/>
            <p:cNvSpPr/>
            <p:nvPr/>
          </p:nvSpPr>
          <p:spPr>
            <a:xfrm>
              <a:off x="0" y="0"/>
              <a:ext cx="1773872" cy="145723"/>
            </a:xfrm>
            <a:custGeom>
              <a:avLst/>
              <a:gdLst/>
              <a:ahLst/>
              <a:cxnLst/>
              <a:rect l="l" t="t" r="r" b="b"/>
              <a:pathLst>
                <a:path w="1773872" h="145723">
                  <a:moveTo>
                    <a:pt x="0" y="0"/>
                  </a:moveTo>
                  <a:lnTo>
                    <a:pt x="1773872" y="0"/>
                  </a:lnTo>
                  <a:lnTo>
                    <a:pt x="1773872" y="145723"/>
                  </a:lnTo>
                  <a:lnTo>
                    <a:pt x="0" y="145723"/>
                  </a:lnTo>
                  <a:close/>
                </a:path>
              </a:pathLst>
            </a:custGeom>
            <a:solidFill>
              <a:srgbClr val="F23436"/>
            </a:solidFill>
          </p:spPr>
          <p:txBody>
            <a:bodyPr/>
            <a:lstStyle/>
            <a:p>
              <a:endParaRPr lang="es-GT"/>
            </a:p>
          </p:txBody>
        </p:sp>
        <p:sp>
          <p:nvSpPr>
            <p:cNvPr id="4" name="TextBox 4"/>
            <p:cNvSpPr txBox="1"/>
            <p:nvPr/>
          </p:nvSpPr>
          <p:spPr>
            <a:xfrm>
              <a:off x="0" y="-47625"/>
              <a:ext cx="1773872" cy="193348"/>
            </a:xfrm>
            <a:prstGeom prst="rect">
              <a:avLst/>
            </a:prstGeom>
          </p:spPr>
          <p:txBody>
            <a:bodyPr lIns="50800" tIns="50800" rIns="50800" bIns="50800" rtlCol="0" anchor="ctr"/>
            <a:lstStyle/>
            <a:p>
              <a:pPr algn="ctr">
                <a:lnSpc>
                  <a:spcPts val="3079"/>
                </a:lnSpc>
              </a:pPr>
              <a:endParaRPr/>
            </a:p>
          </p:txBody>
        </p:sp>
      </p:grpSp>
      <p:sp>
        <p:nvSpPr>
          <p:cNvPr id="6" name="CuadroTexto 5">
            <a:extLst>
              <a:ext uri="{FF2B5EF4-FFF2-40B4-BE49-F238E27FC236}">
                <a16:creationId xmlns:a16="http://schemas.microsoft.com/office/drawing/2014/main" id="{02644AB5-0D04-4B61-E45A-EBE4E5F51B66}"/>
              </a:ext>
            </a:extLst>
          </p:cNvPr>
          <p:cNvSpPr txBox="1"/>
          <p:nvPr/>
        </p:nvSpPr>
        <p:spPr>
          <a:xfrm>
            <a:off x="1371600" y="2476500"/>
            <a:ext cx="15011400" cy="3170099"/>
          </a:xfrm>
          <a:prstGeom prst="rect">
            <a:avLst/>
          </a:prstGeom>
          <a:noFill/>
        </p:spPr>
        <p:txBody>
          <a:bodyPr wrap="square">
            <a:spAutoFit/>
          </a:bodyPr>
          <a:lstStyle/>
          <a:p>
            <a:r>
              <a:rPr lang="es-GT" sz="4000" dirty="0"/>
              <a:t>Los estudiantes deberán diseñar y construir una maqueta de una vivienda en miniatura que utilice tres fuentes de energía renovable: hidroeléctrica, eólica y solar. Cada equipo desarrollará tres prototipos de generación eléctrica a pequeña escala, los cuales deberán integrarse a la maqueta para suministrar energía a la vivienda.</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2858620E-6F11-8ACD-CF7A-9363DC2E7BDF}"/>
              </a:ext>
            </a:extLst>
          </p:cNvPr>
          <p:cNvSpPr txBox="1"/>
          <p:nvPr/>
        </p:nvSpPr>
        <p:spPr>
          <a:xfrm>
            <a:off x="1447800" y="3390900"/>
            <a:ext cx="15087600" cy="2308324"/>
          </a:xfrm>
          <a:prstGeom prst="rect">
            <a:avLst/>
          </a:prstGeom>
          <a:noFill/>
        </p:spPr>
        <p:txBody>
          <a:bodyPr wrap="square">
            <a:spAutoFit/>
          </a:bodyPr>
          <a:lstStyle/>
          <a:p>
            <a:r>
              <a:rPr lang="es-GT" sz="3600" dirty="0"/>
              <a:t>La energía producida por cada sistema deberá utilizarse para encender uno o varios LED que representen la iluminación de la casa. Los prototipos deberán demostrar el funcionamiento básico de una central hidroeléctrica, un generador eólico y un sistema solar fotovoltaico.</a:t>
            </a:r>
          </a:p>
        </p:txBody>
      </p:sp>
    </p:spTree>
    <p:extLst>
      <p:ext uri="{BB962C8B-B14F-4D97-AF65-F5344CB8AC3E}">
        <p14:creationId xmlns:p14="http://schemas.microsoft.com/office/powerpoint/2010/main" val="181255200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C540F860-17CA-4A86-A073-BA7FB3099541}"/>
              </a:ext>
            </a:extLst>
          </p:cNvPr>
          <p:cNvSpPr txBox="1"/>
          <p:nvPr/>
        </p:nvSpPr>
        <p:spPr>
          <a:xfrm>
            <a:off x="1295400" y="2247900"/>
            <a:ext cx="15316200" cy="2554545"/>
          </a:xfrm>
          <a:prstGeom prst="rect">
            <a:avLst/>
          </a:prstGeom>
          <a:noFill/>
        </p:spPr>
        <p:txBody>
          <a:bodyPr wrap="square">
            <a:spAutoFit/>
          </a:bodyPr>
          <a:lstStyle/>
          <a:p>
            <a:r>
              <a:rPr lang="es-GT" sz="3200" dirty="0"/>
              <a:t>Además de la construcción de la maqueta, los estudiantes deberán explicar el principio de funcionamiento de cada fuente de energía, identificar los componentes utilizados, describir el proceso de generación eléctrica y comparar las ventajas y limitaciones de cada tecnología. Finalmente, cada equipo realizará una demostración práctica del funcionamiento de la vivienda y de los sistemas de generación de energía renovable.</a:t>
            </a:r>
          </a:p>
        </p:txBody>
      </p:sp>
      <p:sp>
        <p:nvSpPr>
          <p:cNvPr id="4" name="CuadroTexto 3">
            <a:extLst>
              <a:ext uri="{FF2B5EF4-FFF2-40B4-BE49-F238E27FC236}">
                <a16:creationId xmlns:a16="http://schemas.microsoft.com/office/drawing/2014/main" id="{F6FCA9F5-93DE-4AA2-0302-F2AE3241EF10}"/>
              </a:ext>
            </a:extLst>
          </p:cNvPr>
          <p:cNvSpPr txBox="1"/>
          <p:nvPr/>
        </p:nvSpPr>
        <p:spPr>
          <a:xfrm>
            <a:off x="3124200" y="6210300"/>
            <a:ext cx="12192000" cy="1477328"/>
          </a:xfrm>
          <a:prstGeom prst="rect">
            <a:avLst/>
          </a:prstGeom>
          <a:noFill/>
        </p:spPr>
        <p:txBody>
          <a:bodyPr wrap="square" rtlCol="0">
            <a:spAutoFit/>
          </a:bodyPr>
          <a:lstStyle/>
          <a:p>
            <a:r>
              <a:rPr lang="es-GT" dirty="0"/>
              <a:t>GRUPO 1 SOFIA DE PAZ EOLICA</a:t>
            </a:r>
          </a:p>
          <a:p>
            <a:r>
              <a:rPr lang="es-GT" dirty="0"/>
              <a:t>GRUPO 2 CRISTIAN SOBERANIZ SOLAR</a:t>
            </a:r>
          </a:p>
          <a:p>
            <a:r>
              <a:rPr lang="es-GT" dirty="0"/>
              <a:t>GRUPO 3 EFRAIN PEREZ SOLAR</a:t>
            </a:r>
          </a:p>
          <a:p>
            <a:r>
              <a:rPr lang="es-GT"/>
              <a:t>GRUPO 4 JOAN SANTOS HIDROELECTRICA </a:t>
            </a:r>
          </a:p>
          <a:p>
            <a:endParaRPr lang="es-GT"/>
          </a:p>
        </p:txBody>
      </p:sp>
    </p:spTree>
    <p:extLst>
      <p:ext uri="{BB962C8B-B14F-4D97-AF65-F5344CB8AC3E}">
        <p14:creationId xmlns:p14="http://schemas.microsoft.com/office/powerpoint/2010/main" val="302089612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154</TotalTime>
  <Words>3042</Words>
  <Application>Microsoft Office PowerPoint</Application>
  <PresentationFormat>Personalizado</PresentationFormat>
  <Paragraphs>139</Paragraphs>
  <Slides>41</Slides>
  <Notes>0</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41</vt:i4>
      </vt:variant>
    </vt:vector>
  </HeadingPairs>
  <TitlesOfParts>
    <vt:vector size="49" baseType="lpstr">
      <vt:lpstr>Calibri</vt:lpstr>
      <vt:lpstr>Open Sans Bold</vt:lpstr>
      <vt:lpstr>Roboto-Regular</vt:lpstr>
      <vt:lpstr>Arial</vt:lpstr>
      <vt:lpstr>Roboto</vt:lpstr>
      <vt:lpstr>BentonBook</vt:lpstr>
      <vt:lpstr>Roboto Bold</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CLASE 1 INSTALACIONES </dc:title>
  <cp:lastModifiedBy>Office</cp:lastModifiedBy>
  <cp:revision>5</cp:revision>
  <dcterms:created xsi:type="dcterms:W3CDTF">2006-08-16T00:00:00Z</dcterms:created>
  <dcterms:modified xsi:type="dcterms:W3CDTF">2026-06-26T16:39:59Z</dcterms:modified>
  <dc:identifier>DAGJJzafysU</dc:identifier>
</cp:coreProperties>
</file>