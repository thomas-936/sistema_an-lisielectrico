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95" r:id="rId3"/>
    <p:sldId id="296"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Lst>
  <p:sldSz cx="18288000" cy="10287000"/>
  <p:notesSz cx="6858000" cy="9144000"/>
  <p:embeddedFontLst>
    <p:embeddedFont>
      <p:font typeface="Cambria Math" panose="02040503050406030204" pitchFamily="18" charset="0"/>
      <p:regular r:id="rId32"/>
    </p:embeddedFont>
    <p:embeddedFont>
      <p:font typeface="Roboto" panose="02000000000000000000" pitchFamily="2" charset="0"/>
      <p:regular r:id="rId33"/>
    </p:embeddedFont>
    <p:embeddedFont>
      <p:font typeface="Roboto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67F3C-96B7-45E0-8EBD-B0F72870CC56}" type="datetimeFigureOut">
              <a:rPr lang="es-GT" smtClean="0"/>
              <a:t>10/07/2024</a:t>
            </a:fld>
            <a:endParaRPr lang="es-GT"/>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GT"/>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52BBE3-7A16-4051-B65B-2D4B35C107D0}" type="slidenum">
              <a:rPr lang="es-GT" smtClean="0"/>
              <a:t>‹Nº›</a:t>
            </a:fld>
            <a:endParaRPr lang="es-GT"/>
          </a:p>
        </p:txBody>
      </p:sp>
    </p:spTree>
    <p:extLst>
      <p:ext uri="{BB962C8B-B14F-4D97-AF65-F5344CB8AC3E}">
        <p14:creationId xmlns:p14="http://schemas.microsoft.com/office/powerpoint/2010/main" val="617154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GT" dirty="0"/>
          </a:p>
        </p:txBody>
      </p:sp>
      <p:sp>
        <p:nvSpPr>
          <p:cNvPr id="4" name="Marcador de número de diapositiva 3"/>
          <p:cNvSpPr>
            <a:spLocks noGrp="1"/>
          </p:cNvSpPr>
          <p:nvPr>
            <p:ph type="sldNum" sz="quarter" idx="5"/>
          </p:nvPr>
        </p:nvSpPr>
        <p:spPr/>
        <p:txBody>
          <a:bodyPr/>
          <a:lstStyle/>
          <a:p>
            <a:fld id="{1352BBE3-7A16-4051-B65B-2D4B35C107D0}" type="slidenum">
              <a:rPr lang="es-GT" smtClean="0"/>
              <a:t>11</a:t>
            </a:fld>
            <a:endParaRPr lang="es-GT"/>
          </a:p>
        </p:txBody>
      </p:sp>
    </p:spTree>
    <p:extLst>
      <p:ext uri="{BB962C8B-B14F-4D97-AF65-F5344CB8AC3E}">
        <p14:creationId xmlns:p14="http://schemas.microsoft.com/office/powerpoint/2010/main" val="1363915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dirty="0"/>
              <a:t>I=V/R   I=120V/30 OH  =4</a:t>
            </a:r>
          </a:p>
        </p:txBody>
      </p:sp>
      <p:sp>
        <p:nvSpPr>
          <p:cNvPr id="4" name="Marcador de número de diapositiva 3"/>
          <p:cNvSpPr>
            <a:spLocks noGrp="1"/>
          </p:cNvSpPr>
          <p:nvPr>
            <p:ph type="sldNum" sz="quarter" idx="5"/>
          </p:nvPr>
        </p:nvSpPr>
        <p:spPr/>
        <p:txBody>
          <a:bodyPr/>
          <a:lstStyle/>
          <a:p>
            <a:fld id="{1352BBE3-7A16-4051-B65B-2D4B35C107D0}" type="slidenum">
              <a:rPr lang="es-GT" smtClean="0"/>
              <a:t>13</a:t>
            </a:fld>
            <a:endParaRPr lang="es-GT"/>
          </a:p>
        </p:txBody>
      </p:sp>
    </p:spTree>
    <p:extLst>
      <p:ext uri="{BB962C8B-B14F-4D97-AF65-F5344CB8AC3E}">
        <p14:creationId xmlns:p14="http://schemas.microsoft.com/office/powerpoint/2010/main" val="2514188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dirty="0"/>
              <a:t>V=I*R  V=6ª*20 OH = 120 V</a:t>
            </a:r>
          </a:p>
        </p:txBody>
      </p:sp>
      <p:sp>
        <p:nvSpPr>
          <p:cNvPr id="4" name="Marcador de número de diapositiva 3"/>
          <p:cNvSpPr>
            <a:spLocks noGrp="1"/>
          </p:cNvSpPr>
          <p:nvPr>
            <p:ph type="sldNum" sz="quarter" idx="5"/>
          </p:nvPr>
        </p:nvSpPr>
        <p:spPr/>
        <p:txBody>
          <a:bodyPr/>
          <a:lstStyle/>
          <a:p>
            <a:fld id="{1352BBE3-7A16-4051-B65B-2D4B35C107D0}" type="slidenum">
              <a:rPr lang="es-GT" smtClean="0"/>
              <a:t>14</a:t>
            </a:fld>
            <a:endParaRPr lang="es-GT"/>
          </a:p>
        </p:txBody>
      </p:sp>
    </p:spTree>
    <p:extLst>
      <p:ext uri="{BB962C8B-B14F-4D97-AF65-F5344CB8AC3E}">
        <p14:creationId xmlns:p14="http://schemas.microsoft.com/office/powerpoint/2010/main" val="1127805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dirty="0"/>
              <a:t>P=I^2*R   P=4^2 * 70 = 1120 W</a:t>
            </a:r>
          </a:p>
        </p:txBody>
      </p:sp>
      <p:sp>
        <p:nvSpPr>
          <p:cNvPr id="4" name="Marcador de número de diapositiva 3"/>
          <p:cNvSpPr>
            <a:spLocks noGrp="1"/>
          </p:cNvSpPr>
          <p:nvPr>
            <p:ph type="sldNum" sz="quarter" idx="5"/>
          </p:nvPr>
        </p:nvSpPr>
        <p:spPr/>
        <p:txBody>
          <a:bodyPr/>
          <a:lstStyle/>
          <a:p>
            <a:fld id="{1352BBE3-7A16-4051-B65B-2D4B35C107D0}" type="slidenum">
              <a:rPr lang="es-GT" smtClean="0"/>
              <a:t>15</a:t>
            </a:fld>
            <a:endParaRPr lang="es-GT"/>
          </a:p>
        </p:txBody>
      </p:sp>
    </p:spTree>
    <p:extLst>
      <p:ext uri="{BB962C8B-B14F-4D97-AF65-F5344CB8AC3E}">
        <p14:creationId xmlns:p14="http://schemas.microsoft.com/office/powerpoint/2010/main" val="844258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GT" dirty="0"/>
              <a:t>R=V^2/P    R=120^2/100W   = 144 OH</a:t>
            </a:r>
          </a:p>
        </p:txBody>
      </p:sp>
      <p:sp>
        <p:nvSpPr>
          <p:cNvPr id="4" name="Marcador de número de diapositiva 3"/>
          <p:cNvSpPr>
            <a:spLocks noGrp="1"/>
          </p:cNvSpPr>
          <p:nvPr>
            <p:ph type="sldNum" sz="quarter" idx="5"/>
          </p:nvPr>
        </p:nvSpPr>
        <p:spPr/>
        <p:txBody>
          <a:bodyPr/>
          <a:lstStyle/>
          <a:p>
            <a:fld id="{1352BBE3-7A16-4051-B65B-2D4B35C107D0}" type="slidenum">
              <a:rPr lang="es-GT" smtClean="0"/>
              <a:t>16</a:t>
            </a:fld>
            <a:endParaRPr lang="es-GT"/>
          </a:p>
        </p:txBody>
      </p:sp>
    </p:spTree>
    <p:extLst>
      <p:ext uri="{BB962C8B-B14F-4D97-AF65-F5344CB8AC3E}">
        <p14:creationId xmlns:p14="http://schemas.microsoft.com/office/powerpoint/2010/main" val="4157098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GT"/>
          </a:p>
        </p:txBody>
      </p:sp>
      <p:sp>
        <p:nvSpPr>
          <p:cNvPr id="3" name="AutoShape 3"/>
          <p:cNvSpPr/>
          <p:nvPr/>
        </p:nvSpPr>
        <p:spPr>
          <a:xfrm>
            <a:off x="9374966" y="6624635"/>
            <a:ext cx="1227699" cy="0"/>
          </a:xfrm>
          <a:prstGeom prst="line">
            <a:avLst/>
          </a:prstGeom>
          <a:ln w="95250" cap="flat">
            <a:solidFill>
              <a:srgbClr val="F23436"/>
            </a:solidFill>
            <a:prstDash val="solid"/>
            <a:headEnd type="none" w="sm" len="sm"/>
            <a:tailEnd type="none" w="sm" len="sm"/>
          </a:ln>
        </p:spPr>
        <p:txBody>
          <a:bodyPr/>
          <a:lstStyle/>
          <a:p>
            <a:endParaRPr lang="es-GT"/>
          </a:p>
        </p:txBody>
      </p:sp>
      <p:sp>
        <p:nvSpPr>
          <p:cNvPr id="4" name="AutoShape 4"/>
          <p:cNvSpPr/>
          <p:nvPr/>
        </p:nvSpPr>
        <p:spPr>
          <a:xfrm>
            <a:off x="8147267" y="6624635"/>
            <a:ext cx="1227699" cy="0"/>
          </a:xfrm>
          <a:prstGeom prst="line">
            <a:avLst/>
          </a:prstGeom>
          <a:ln w="95250" cap="flat">
            <a:solidFill>
              <a:srgbClr val="FFFFFF"/>
            </a:solidFill>
            <a:prstDash val="solid"/>
            <a:headEnd type="none" w="sm" len="sm"/>
            <a:tailEnd type="none" w="sm" len="sm"/>
          </a:ln>
        </p:spPr>
        <p:txBody>
          <a:bodyPr/>
          <a:lstStyle/>
          <a:p>
            <a:endParaRPr lang="es-GT"/>
          </a:p>
        </p:txBody>
      </p:sp>
      <p:sp>
        <p:nvSpPr>
          <p:cNvPr id="5" name="Freeform 5"/>
          <p:cNvSpPr/>
          <p:nvPr/>
        </p:nvSpPr>
        <p:spPr>
          <a:xfrm>
            <a:off x="0" y="9912096"/>
            <a:ext cx="7315200" cy="374904"/>
          </a:xfrm>
          <a:custGeom>
            <a:avLst/>
            <a:gdLst/>
            <a:ahLst/>
            <a:cxnLst/>
            <a:rect l="l" t="t" r="r" b="b"/>
            <a:pathLst>
              <a:path w="7315200" h="374904">
                <a:moveTo>
                  <a:pt x="0" y="0"/>
                </a:moveTo>
                <a:lnTo>
                  <a:pt x="7315200" y="0"/>
                </a:lnTo>
                <a:lnTo>
                  <a:pt x="7315200" y="374904"/>
                </a:lnTo>
                <a:lnTo>
                  <a:pt x="0" y="3749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GT"/>
          </a:p>
        </p:txBody>
      </p:sp>
      <p:sp>
        <p:nvSpPr>
          <p:cNvPr id="6" name="TextBox 6"/>
          <p:cNvSpPr txBox="1"/>
          <p:nvPr/>
        </p:nvSpPr>
        <p:spPr>
          <a:xfrm>
            <a:off x="1241537" y="4003662"/>
            <a:ext cx="11708039" cy="1368428"/>
          </a:xfrm>
          <a:prstGeom prst="rect">
            <a:avLst/>
          </a:prstGeom>
        </p:spPr>
        <p:txBody>
          <a:bodyPr lIns="0" tIns="0" rIns="0" bIns="0" rtlCol="0" anchor="t">
            <a:spAutoFit/>
          </a:bodyPr>
          <a:lstStyle/>
          <a:p>
            <a:pPr algn="l">
              <a:lnSpc>
                <a:spcPts val="11199"/>
              </a:lnSpc>
            </a:pPr>
            <a:r>
              <a:rPr lang="en-US" sz="7999">
                <a:solidFill>
                  <a:srgbClr val="FFFFFF"/>
                </a:solidFill>
                <a:latin typeface="Roboto Bold"/>
              </a:rPr>
              <a:t>INSTALACIONES</a:t>
            </a:r>
          </a:p>
        </p:txBody>
      </p:sp>
      <p:sp>
        <p:nvSpPr>
          <p:cNvPr id="7" name="TextBox 7"/>
          <p:cNvSpPr txBox="1"/>
          <p:nvPr/>
        </p:nvSpPr>
        <p:spPr>
          <a:xfrm>
            <a:off x="9635100" y="3994137"/>
            <a:ext cx="8472491" cy="1377949"/>
          </a:xfrm>
          <a:prstGeom prst="rect">
            <a:avLst/>
          </a:prstGeom>
        </p:spPr>
        <p:txBody>
          <a:bodyPr lIns="0" tIns="0" rIns="0" bIns="0" rtlCol="0" anchor="t">
            <a:spAutoFit/>
          </a:bodyPr>
          <a:lstStyle/>
          <a:p>
            <a:pPr algn="l">
              <a:lnSpc>
                <a:spcPts val="11200"/>
              </a:lnSpc>
            </a:pPr>
            <a:r>
              <a:rPr lang="en-US" sz="8000">
                <a:solidFill>
                  <a:srgbClr val="F23436"/>
                </a:solidFill>
                <a:latin typeface="Roboto Bold"/>
              </a:rPr>
              <a:t>ELECTRICAS</a:t>
            </a:r>
          </a:p>
        </p:txBody>
      </p:sp>
      <p:sp>
        <p:nvSpPr>
          <p:cNvPr id="8" name="TextBox 8"/>
          <p:cNvSpPr txBox="1"/>
          <p:nvPr/>
        </p:nvSpPr>
        <p:spPr>
          <a:xfrm>
            <a:off x="4698121" y="3599167"/>
            <a:ext cx="8891758" cy="556896"/>
          </a:xfrm>
          <a:prstGeom prst="rect">
            <a:avLst/>
          </a:prstGeom>
        </p:spPr>
        <p:txBody>
          <a:bodyPr lIns="0" tIns="0" rIns="0" bIns="0" rtlCol="0" anchor="t">
            <a:spAutoFit/>
          </a:bodyPr>
          <a:lstStyle/>
          <a:p>
            <a:pPr algn="ctr">
              <a:lnSpc>
                <a:spcPts val="4479"/>
              </a:lnSpc>
            </a:pPr>
            <a:r>
              <a:rPr lang="en-US" sz="3199" spc="163">
                <a:solidFill>
                  <a:srgbClr val="FFFFFF"/>
                </a:solidFill>
                <a:latin typeface="Roboto"/>
              </a:rPr>
              <a:t>UNIVERSIDAD DE OCCIENTE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7" name="CuadroTexto 6">
            <a:extLst>
              <a:ext uri="{FF2B5EF4-FFF2-40B4-BE49-F238E27FC236}">
                <a16:creationId xmlns:a16="http://schemas.microsoft.com/office/drawing/2014/main" id="{30847862-C72F-FB2B-5399-2B0AF2FA3E76}"/>
              </a:ext>
            </a:extLst>
          </p:cNvPr>
          <p:cNvSpPr txBox="1"/>
          <p:nvPr/>
        </p:nvSpPr>
        <p:spPr>
          <a:xfrm>
            <a:off x="533400" y="571500"/>
            <a:ext cx="14325600" cy="830997"/>
          </a:xfrm>
          <a:prstGeom prst="rect">
            <a:avLst/>
          </a:prstGeom>
          <a:noFill/>
        </p:spPr>
        <p:txBody>
          <a:bodyPr wrap="square">
            <a:spAutoFit/>
          </a:bodyPr>
          <a:lstStyle/>
          <a:p>
            <a:r>
              <a:rPr lang="es-ES" sz="4800" b="1" i="0" u="none" strike="noStrike" baseline="0" dirty="0">
                <a:solidFill>
                  <a:srgbClr val="000000"/>
                </a:solidFill>
                <a:latin typeface="Arial" panose="020B0604020202020204" pitchFamily="34" charset="0"/>
              </a:rPr>
              <a:t>Unidades Fundamentales de la electricidad </a:t>
            </a:r>
            <a:endParaRPr lang="es-GT" sz="4800" b="1"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17118EA4-71CB-EBB2-F38A-5676BA3A2C6F}"/>
                  </a:ext>
                </a:extLst>
              </p:cNvPr>
              <p:cNvSpPr txBox="1"/>
              <p:nvPr/>
            </p:nvSpPr>
            <p:spPr>
              <a:xfrm>
                <a:off x="838200" y="2628900"/>
                <a:ext cx="16916400" cy="3838358"/>
              </a:xfrm>
              <a:prstGeom prst="rect">
                <a:avLst/>
              </a:prstGeom>
              <a:noFill/>
            </p:spPr>
            <p:txBody>
              <a:bodyPr wrap="square">
                <a:spAutoFit/>
              </a:bodyPr>
              <a:lstStyle/>
              <a:p>
                <a:pPr algn="just"/>
                <a:r>
                  <a:rPr lang="es-GT" sz="4000" b="1" dirty="0">
                    <a:solidFill>
                      <a:srgbClr val="0070C0"/>
                    </a:solidFill>
                  </a:rPr>
                  <a:t>Corriente o Intensidad ( I ) </a:t>
                </a:r>
              </a:p>
              <a:p>
                <a:pPr algn="just"/>
                <a:endParaRPr lang="es-GT" sz="4000" b="1" dirty="0">
                  <a:solidFill>
                    <a:srgbClr val="0070C0"/>
                  </a:solidFill>
                </a:endParaRPr>
              </a:p>
              <a:p>
                <a:pPr algn="just"/>
                <a:r>
                  <a:rPr lang="es-ES" sz="4000" dirty="0"/>
                  <a:t>La corriente es una medida de la cantidad de electrones que pasan por un punto dado de un circuito, durante un tiempo determinado. La unidad es el amperio. </a:t>
                </a:r>
              </a:p>
              <a:p>
                <a:pPr algn="just"/>
                <a:r>
                  <a:rPr lang="es-ES" sz="4000" dirty="0"/>
                  <a:t>Un amperio equivale al paso de 6.28 x </a:t>
                </a:r>
                <a14:m>
                  <m:oMath xmlns:m="http://schemas.openxmlformats.org/officeDocument/2006/math">
                    <m:sSup>
                      <m:sSupPr>
                        <m:ctrlPr>
                          <a:rPr lang="es-ES" sz="4000" i="1" smtClean="0">
                            <a:latin typeface="Cambria Math" panose="02040503050406030204" pitchFamily="18" charset="0"/>
                          </a:rPr>
                        </m:ctrlPr>
                      </m:sSupPr>
                      <m:e>
                        <m:r>
                          <a:rPr lang="es-GT" sz="4000" b="0" i="1" smtClean="0">
                            <a:latin typeface="Cambria Math" panose="02040503050406030204" pitchFamily="18" charset="0"/>
                          </a:rPr>
                          <m:t>10</m:t>
                        </m:r>
                      </m:e>
                      <m:sup>
                        <m:r>
                          <a:rPr lang="es-GT" sz="4000" b="0" i="1" smtClean="0">
                            <a:latin typeface="Cambria Math" panose="02040503050406030204" pitchFamily="18" charset="0"/>
                          </a:rPr>
                          <m:t>18</m:t>
                        </m:r>
                      </m:sup>
                    </m:sSup>
                  </m:oMath>
                </a14:m>
                <a:r>
                  <a:rPr lang="es-ES" sz="4000" dirty="0"/>
                  <a:t> electrones en un segundo, por un punto dado. </a:t>
                </a:r>
                <a:endParaRPr lang="es-GT" sz="4000" dirty="0"/>
              </a:p>
            </p:txBody>
          </p:sp>
        </mc:Choice>
        <mc:Fallback xmlns="">
          <p:sp>
            <p:nvSpPr>
              <p:cNvPr id="9" name="CuadroTexto 8">
                <a:extLst>
                  <a:ext uri="{FF2B5EF4-FFF2-40B4-BE49-F238E27FC236}">
                    <a16:creationId xmlns:a16="http://schemas.microsoft.com/office/drawing/2014/main" id="{17118EA4-71CB-EBB2-F38A-5676BA3A2C6F}"/>
                  </a:ext>
                </a:extLst>
              </p:cNvPr>
              <p:cNvSpPr txBox="1">
                <a:spLocks noRot="1" noChangeAspect="1" noMove="1" noResize="1" noEditPoints="1" noAdjustHandles="1" noChangeArrowheads="1" noChangeShapeType="1" noTextEdit="1"/>
              </p:cNvSpPr>
              <p:nvPr/>
            </p:nvSpPr>
            <p:spPr>
              <a:xfrm>
                <a:off x="838200" y="2628900"/>
                <a:ext cx="16916400" cy="3838358"/>
              </a:xfrm>
              <a:prstGeom prst="rect">
                <a:avLst/>
              </a:prstGeom>
              <a:blipFill>
                <a:blip r:embed="rId2"/>
                <a:stretch>
                  <a:fillRect l="-1297" t="-2857" r="-1261" b="-4444"/>
                </a:stretch>
              </a:blipFill>
            </p:spPr>
            <p:txBody>
              <a:bodyPr/>
              <a:lstStyle/>
              <a:p>
                <a:r>
                  <a:rPr lang="es-GT">
                    <a:noFill/>
                  </a:rPr>
                  <a:t> </a:t>
                </a:r>
              </a:p>
            </p:txBody>
          </p:sp>
        </mc:Fallback>
      </mc:AlternateContent>
    </p:spTree>
    <p:extLst>
      <p:ext uri="{BB962C8B-B14F-4D97-AF65-F5344CB8AC3E}">
        <p14:creationId xmlns:p14="http://schemas.microsoft.com/office/powerpoint/2010/main" val="3867783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552882"/>
            <a:ext cx="6735168" cy="734118"/>
            <a:chOff x="0" y="-47625"/>
            <a:chExt cx="1773872" cy="193348"/>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DE19AA81-CD36-1519-5E1F-8CB8E53E3968}"/>
              </a:ext>
            </a:extLst>
          </p:cNvPr>
          <p:cNvSpPr txBox="1"/>
          <p:nvPr/>
        </p:nvSpPr>
        <p:spPr>
          <a:xfrm>
            <a:off x="685800" y="419100"/>
            <a:ext cx="16306800" cy="5509200"/>
          </a:xfrm>
          <a:prstGeom prst="rect">
            <a:avLst/>
          </a:prstGeom>
          <a:noFill/>
        </p:spPr>
        <p:txBody>
          <a:bodyPr wrap="square">
            <a:spAutoFit/>
          </a:bodyPr>
          <a:lstStyle/>
          <a:p>
            <a:pPr algn="just"/>
            <a:r>
              <a:rPr lang="es-ES" sz="3200" b="1">
                <a:solidFill>
                  <a:srgbClr val="0070C0"/>
                </a:solidFill>
              </a:rPr>
              <a:t>Medición de la corriente eléctrica. </a:t>
            </a:r>
          </a:p>
          <a:p>
            <a:pPr algn="just"/>
            <a:endParaRPr lang="es-ES" sz="3200" b="1">
              <a:solidFill>
                <a:srgbClr val="0070C0"/>
              </a:solidFill>
            </a:endParaRPr>
          </a:p>
          <a:p>
            <a:pPr algn="just"/>
            <a:r>
              <a:rPr lang="es-ES" sz="3200"/>
              <a:t>La corriente eléctrica es un flujo de electrones a través de un conductor, debido a que los electrones son invisibles es muy difícil contar cuantos de estos pasan por un punto determinado, por lo que para medir la corriente se dispone de un aparato llamado amperímetro. </a:t>
            </a:r>
          </a:p>
          <a:p>
            <a:pPr algn="just"/>
            <a:endParaRPr lang="es-ES" sz="3200"/>
          </a:p>
          <a:p>
            <a:pPr algn="just"/>
            <a:r>
              <a:rPr lang="es-ES" sz="3200"/>
              <a:t>Generalmente un amperímetro tiene varias escalas graduadas en la misma carátula y por medio de un selector de escala se gradúa el rango apropiado para la medición. </a:t>
            </a:r>
          </a:p>
          <a:p>
            <a:pPr algn="just"/>
            <a:endParaRPr lang="es-ES" sz="3200"/>
          </a:p>
          <a:p>
            <a:pPr algn="just"/>
            <a:r>
              <a:rPr lang="es-ES" sz="3200"/>
              <a:t>Para medir el paso de los electrones, se conecta un amperímetro en serie en cualquier parte del circuito. </a:t>
            </a:r>
            <a:endParaRPr lang="es-GT" sz="3200" dirty="0"/>
          </a:p>
        </p:txBody>
      </p:sp>
      <p:pic>
        <p:nvPicPr>
          <p:cNvPr id="1026" name="Picture 2" descr="Guía completa para medir el amperaje en un circuito de 12V DC | Blog –  Amaterasu Iluminacion Led">
            <a:extLst>
              <a:ext uri="{FF2B5EF4-FFF2-40B4-BE49-F238E27FC236}">
                <a16:creationId xmlns:a16="http://schemas.microsoft.com/office/drawing/2014/main" id="{D6D71695-6F3C-1613-DC93-D59A3F14055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62200" y="5143500"/>
            <a:ext cx="9182000" cy="550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826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DBBF4A62-E59D-C7E7-3D52-CB0C3B9E9A62}"/>
              </a:ext>
            </a:extLst>
          </p:cNvPr>
          <p:cNvSpPr txBox="1"/>
          <p:nvPr/>
        </p:nvSpPr>
        <p:spPr>
          <a:xfrm>
            <a:off x="685800" y="495300"/>
            <a:ext cx="16840200" cy="5509200"/>
          </a:xfrm>
          <a:prstGeom prst="rect">
            <a:avLst/>
          </a:prstGeom>
          <a:noFill/>
        </p:spPr>
        <p:txBody>
          <a:bodyPr wrap="square">
            <a:spAutoFit/>
          </a:bodyPr>
          <a:lstStyle/>
          <a:p>
            <a:pPr algn="just"/>
            <a:r>
              <a:rPr lang="es-GT" sz="3200" b="1" dirty="0">
                <a:solidFill>
                  <a:srgbClr val="0070C0"/>
                </a:solidFill>
              </a:rPr>
              <a:t>Tensión ( V ) </a:t>
            </a:r>
          </a:p>
          <a:p>
            <a:pPr algn="just"/>
            <a:endParaRPr lang="es-GT" sz="3200" b="1" dirty="0">
              <a:solidFill>
                <a:srgbClr val="0070C0"/>
              </a:solidFill>
            </a:endParaRPr>
          </a:p>
          <a:p>
            <a:pPr algn="just"/>
            <a:r>
              <a:rPr lang="es-ES" sz="3200" dirty="0"/>
              <a:t>La tensión es una medida de la fuerza electromotriz necesaria para impulsar una corriente a través de un circuito. La unidad es el voltio. </a:t>
            </a:r>
          </a:p>
          <a:p>
            <a:pPr algn="just"/>
            <a:endParaRPr lang="es-ES" sz="3200" dirty="0"/>
          </a:p>
          <a:p>
            <a:pPr algn="just"/>
            <a:r>
              <a:rPr lang="es-ES" sz="3200" dirty="0"/>
              <a:t>La unidad básica de medición de la diferencia de potencial es el voltio y se mide con un aparato llamado voltímetro, el cual se conecta en paralelo con la fuente de voltaje. </a:t>
            </a:r>
          </a:p>
          <a:p>
            <a:pPr algn="just"/>
            <a:endParaRPr lang="es-ES" sz="3200" dirty="0"/>
          </a:p>
          <a:p>
            <a:pPr algn="just"/>
            <a:r>
              <a:rPr lang="es-ES" sz="3200" dirty="0"/>
              <a:t>La tensión es conocida popularmente como el voltaje, pero según la norma se recomienda decir tensión y no voltaje. </a:t>
            </a:r>
          </a:p>
          <a:p>
            <a:pPr algn="just"/>
            <a:endParaRPr lang="es-ES" sz="3200" dirty="0"/>
          </a:p>
        </p:txBody>
      </p:sp>
      <p:pic>
        <p:nvPicPr>
          <p:cNvPr id="2050" name="Picture 2" descr="Medición Del Voltaje Alterno: Conoce Cómo Hacerlo Correctamente. -  Electropreguntas">
            <a:extLst>
              <a:ext uri="{FF2B5EF4-FFF2-40B4-BE49-F238E27FC236}">
                <a16:creationId xmlns:a16="http://schemas.microsoft.com/office/drawing/2014/main" id="{1611124B-4EF8-9BFF-05B6-2ABBA2083A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923" b="9838"/>
          <a:stretch/>
        </p:blipFill>
        <p:spPr bwMode="auto">
          <a:xfrm>
            <a:off x="3124200" y="5408295"/>
            <a:ext cx="8991600" cy="4383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88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3F4E1793-412D-814F-AFE9-AF7E48A43FE0}"/>
              </a:ext>
            </a:extLst>
          </p:cNvPr>
          <p:cNvSpPr txBox="1"/>
          <p:nvPr/>
        </p:nvSpPr>
        <p:spPr>
          <a:xfrm>
            <a:off x="952500" y="2324100"/>
            <a:ext cx="16383000" cy="4031873"/>
          </a:xfrm>
          <a:prstGeom prst="rect">
            <a:avLst/>
          </a:prstGeom>
          <a:noFill/>
        </p:spPr>
        <p:txBody>
          <a:bodyPr wrap="square">
            <a:spAutoFit/>
          </a:bodyPr>
          <a:lstStyle/>
          <a:p>
            <a:pPr algn="just"/>
            <a:r>
              <a:rPr lang="es-GT" sz="3200" b="1" dirty="0">
                <a:solidFill>
                  <a:srgbClr val="0070C0"/>
                </a:solidFill>
              </a:rPr>
              <a:t>Resistencia ( R ) </a:t>
            </a:r>
          </a:p>
          <a:p>
            <a:pPr algn="just"/>
            <a:endParaRPr lang="es-GT" sz="3200" b="1" dirty="0">
              <a:solidFill>
                <a:srgbClr val="0070C0"/>
              </a:solidFill>
            </a:endParaRPr>
          </a:p>
          <a:p>
            <a:pPr algn="just"/>
            <a:r>
              <a:rPr lang="es-ES" sz="3200" dirty="0"/>
              <a:t>La resistencia es la capacidad para oponerse al paso de la corriente, para aumentar la resistencia en un circuito, se usan componentes eléctricos llamados resistores. Un resistor es un objeto cuya resistencia al paso de la corriente tiene un valor conocido. </a:t>
            </a:r>
          </a:p>
          <a:p>
            <a:pPr algn="just"/>
            <a:endParaRPr lang="es-ES" sz="3200" dirty="0"/>
          </a:p>
          <a:p>
            <a:pPr algn="just"/>
            <a:r>
              <a:rPr lang="es-ES" sz="3200" dirty="0"/>
              <a:t>La unidad de resistencia es el ohmio. Al pasar los electrones a través de un resistor, se produce una congestión de estos y se producen muchas colisiones, debido a esto se produce calor. </a:t>
            </a:r>
            <a:endParaRPr lang="es-GT" sz="3200" dirty="0"/>
          </a:p>
        </p:txBody>
      </p:sp>
    </p:spTree>
    <p:extLst>
      <p:ext uri="{BB962C8B-B14F-4D97-AF65-F5344CB8AC3E}">
        <p14:creationId xmlns:p14="http://schemas.microsoft.com/office/powerpoint/2010/main" val="180746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C8907664-B125-F8DF-263C-897CF4C13226}"/>
              </a:ext>
            </a:extLst>
          </p:cNvPr>
          <p:cNvSpPr txBox="1"/>
          <p:nvPr/>
        </p:nvSpPr>
        <p:spPr>
          <a:xfrm>
            <a:off x="1143000" y="952500"/>
            <a:ext cx="16306800" cy="3539430"/>
          </a:xfrm>
          <a:prstGeom prst="rect">
            <a:avLst/>
          </a:prstGeom>
          <a:noFill/>
        </p:spPr>
        <p:txBody>
          <a:bodyPr wrap="square">
            <a:spAutoFit/>
          </a:bodyPr>
          <a:lstStyle/>
          <a:p>
            <a:pPr algn="just"/>
            <a:r>
              <a:rPr lang="es-GT" sz="3200" b="1" dirty="0">
                <a:solidFill>
                  <a:srgbClr val="0070C0"/>
                </a:solidFill>
              </a:rPr>
              <a:t>Ley de Ohm </a:t>
            </a:r>
          </a:p>
          <a:p>
            <a:pPr algn="just"/>
            <a:endParaRPr lang="es-ES" sz="3200" dirty="0"/>
          </a:p>
          <a:p>
            <a:pPr algn="just"/>
            <a:r>
              <a:rPr lang="es-ES" sz="3200" dirty="0"/>
              <a:t>En 1825, el científico alemán, George Simón Ohm, realizó experimentos que condujeron al establecimiento de una de las más importantes leyes de los circuitos eléctricos. </a:t>
            </a:r>
          </a:p>
          <a:p>
            <a:pPr algn="just"/>
            <a:endParaRPr lang="es-ES" sz="3200" dirty="0"/>
          </a:p>
          <a:p>
            <a:pPr algn="just"/>
            <a:r>
              <a:rPr lang="es-ES" sz="3200" dirty="0"/>
              <a:t>La ley de Ohm establece la relación entre la tensión (V), la corriente (I) y la resistencia (R). El triángulo de la ley de Ohm indica la relación entre las tres unidades. </a:t>
            </a:r>
            <a:endParaRPr lang="es-GT" sz="3200" dirty="0"/>
          </a:p>
        </p:txBody>
      </p:sp>
      <p:pic>
        <p:nvPicPr>
          <p:cNvPr id="8" name="Imagen 7">
            <a:extLst>
              <a:ext uri="{FF2B5EF4-FFF2-40B4-BE49-F238E27FC236}">
                <a16:creationId xmlns:a16="http://schemas.microsoft.com/office/drawing/2014/main" id="{8DCC3DE3-239B-98EF-43F1-A17EEF9C3D29}"/>
              </a:ext>
            </a:extLst>
          </p:cNvPr>
          <p:cNvPicPr>
            <a:picLocks noChangeAspect="1"/>
          </p:cNvPicPr>
          <p:nvPr/>
        </p:nvPicPr>
        <p:blipFill>
          <a:blip r:embed="rId2"/>
          <a:stretch>
            <a:fillRect/>
          </a:stretch>
        </p:blipFill>
        <p:spPr>
          <a:xfrm>
            <a:off x="4876800" y="4838700"/>
            <a:ext cx="6163131" cy="5049096"/>
          </a:xfrm>
          <a:prstGeom prst="rect">
            <a:avLst/>
          </a:prstGeom>
        </p:spPr>
      </p:pic>
    </p:spTree>
    <p:extLst>
      <p:ext uri="{BB962C8B-B14F-4D97-AF65-F5344CB8AC3E}">
        <p14:creationId xmlns:p14="http://schemas.microsoft.com/office/powerpoint/2010/main" val="20618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2689F261-86DC-1630-C3B3-29BFD028995F}"/>
              </a:ext>
            </a:extLst>
          </p:cNvPr>
          <p:cNvSpPr txBox="1"/>
          <p:nvPr/>
        </p:nvSpPr>
        <p:spPr>
          <a:xfrm>
            <a:off x="685800" y="419100"/>
            <a:ext cx="7086600" cy="2554545"/>
          </a:xfrm>
          <a:prstGeom prst="rect">
            <a:avLst/>
          </a:prstGeom>
          <a:noFill/>
        </p:spPr>
        <p:txBody>
          <a:bodyPr wrap="square">
            <a:spAutoFit/>
          </a:bodyPr>
          <a:lstStyle/>
          <a:p>
            <a:pPr algn="just"/>
            <a:r>
              <a:rPr lang="es-ES" sz="3200" dirty="0"/>
              <a:t>El triángulo funciona de la siguiente manera: </a:t>
            </a:r>
          </a:p>
          <a:p>
            <a:pPr algn="just"/>
            <a:r>
              <a:rPr lang="es-ES" sz="3200" dirty="0"/>
              <a:t>Si se quiere encontrar la tensión (V), se tapa su inicial y el resultado que indica el triángulo es: </a:t>
            </a:r>
            <a:endParaRPr lang="es-GT" sz="3200" dirty="0"/>
          </a:p>
        </p:txBody>
      </p:sp>
      <p:pic>
        <p:nvPicPr>
          <p:cNvPr id="8" name="Imagen 7">
            <a:extLst>
              <a:ext uri="{FF2B5EF4-FFF2-40B4-BE49-F238E27FC236}">
                <a16:creationId xmlns:a16="http://schemas.microsoft.com/office/drawing/2014/main" id="{4CBA4BAB-05CE-C2C7-6E79-88ACE7AD6B1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229600" y="-102931"/>
            <a:ext cx="6296053" cy="3390183"/>
          </a:xfrm>
          <a:prstGeom prst="rect">
            <a:avLst/>
          </a:prstGeom>
        </p:spPr>
      </p:pic>
      <p:sp>
        <p:nvSpPr>
          <p:cNvPr id="10" name="CuadroTexto 9">
            <a:extLst>
              <a:ext uri="{FF2B5EF4-FFF2-40B4-BE49-F238E27FC236}">
                <a16:creationId xmlns:a16="http://schemas.microsoft.com/office/drawing/2014/main" id="{4A325C60-BF2D-8226-C786-70591C3CE2A0}"/>
              </a:ext>
            </a:extLst>
          </p:cNvPr>
          <p:cNvSpPr txBox="1"/>
          <p:nvPr/>
        </p:nvSpPr>
        <p:spPr>
          <a:xfrm>
            <a:off x="1600200" y="4647561"/>
            <a:ext cx="9247238" cy="584775"/>
          </a:xfrm>
          <a:prstGeom prst="rect">
            <a:avLst/>
          </a:prstGeom>
          <a:noFill/>
        </p:spPr>
        <p:txBody>
          <a:bodyPr wrap="square">
            <a:spAutoFit/>
          </a:bodyPr>
          <a:lstStyle/>
          <a:p>
            <a:pPr algn="just"/>
            <a:r>
              <a:rPr lang="es-ES" sz="3200" dirty="0"/>
              <a:t>Si se tapa la corriente (I), el resultado es: </a:t>
            </a:r>
            <a:endParaRPr lang="es-GT" sz="3200" dirty="0"/>
          </a:p>
        </p:txBody>
      </p:sp>
      <p:pic>
        <p:nvPicPr>
          <p:cNvPr id="12" name="Imagen 11">
            <a:extLst>
              <a:ext uri="{FF2B5EF4-FFF2-40B4-BE49-F238E27FC236}">
                <a16:creationId xmlns:a16="http://schemas.microsoft.com/office/drawing/2014/main" id="{6ABBB54B-9DC4-4898-1394-5A4E9CA4AB0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772400" y="3549402"/>
            <a:ext cx="5744497" cy="3129568"/>
          </a:xfrm>
          <a:prstGeom prst="rect">
            <a:avLst/>
          </a:prstGeom>
        </p:spPr>
      </p:pic>
      <p:sp>
        <p:nvSpPr>
          <p:cNvPr id="14" name="CuadroTexto 13">
            <a:extLst>
              <a:ext uri="{FF2B5EF4-FFF2-40B4-BE49-F238E27FC236}">
                <a16:creationId xmlns:a16="http://schemas.microsoft.com/office/drawing/2014/main" id="{6521E519-3D03-2900-15D1-9309F149186A}"/>
              </a:ext>
            </a:extLst>
          </p:cNvPr>
          <p:cNvSpPr txBox="1"/>
          <p:nvPr/>
        </p:nvSpPr>
        <p:spPr>
          <a:xfrm>
            <a:off x="1143000" y="7754539"/>
            <a:ext cx="9247238" cy="584775"/>
          </a:xfrm>
          <a:prstGeom prst="rect">
            <a:avLst/>
          </a:prstGeom>
          <a:noFill/>
        </p:spPr>
        <p:txBody>
          <a:bodyPr wrap="square">
            <a:spAutoFit/>
          </a:bodyPr>
          <a:lstStyle/>
          <a:p>
            <a:pPr algn="just"/>
            <a:r>
              <a:rPr lang="es-ES" sz="3200" dirty="0"/>
              <a:t>Si se tapa la resistencia (R), el resultado es </a:t>
            </a:r>
            <a:endParaRPr lang="es-GT" sz="3200" dirty="0"/>
          </a:p>
        </p:txBody>
      </p:sp>
      <p:pic>
        <p:nvPicPr>
          <p:cNvPr id="16" name="Imagen 15">
            <a:extLst>
              <a:ext uri="{FF2B5EF4-FFF2-40B4-BE49-F238E27FC236}">
                <a16:creationId xmlns:a16="http://schemas.microsoft.com/office/drawing/2014/main" id="{1D5F023C-83B9-AE63-48BC-7AFFFACFD60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78635" y="6598593"/>
            <a:ext cx="7132025" cy="3481442"/>
          </a:xfrm>
          <a:prstGeom prst="rect">
            <a:avLst/>
          </a:prstGeom>
        </p:spPr>
      </p:pic>
    </p:spTree>
    <p:extLst>
      <p:ext uri="{BB962C8B-B14F-4D97-AF65-F5344CB8AC3E}">
        <p14:creationId xmlns:p14="http://schemas.microsoft.com/office/powerpoint/2010/main" val="4150373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4100" name="Picture 4" descr="Lágrimas El respeto A nueve voltaje corriente y resistencia Diplomacia  silencio viernes">
            <a:extLst>
              <a:ext uri="{FF2B5EF4-FFF2-40B4-BE49-F238E27FC236}">
                <a16:creationId xmlns:a16="http://schemas.microsoft.com/office/drawing/2014/main" id="{6FA8DAEB-3EC9-AF27-1DFC-AA4A08A57E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67543"/>
            <a:ext cx="9296400" cy="9296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E35FF2E-81DB-C855-EEB7-E3F04B57A8AF}"/>
              </a:ext>
            </a:extLst>
          </p:cNvPr>
          <p:cNvSpPr/>
          <p:nvPr/>
        </p:nvSpPr>
        <p:spPr>
          <a:xfrm>
            <a:off x="2902974" y="0"/>
            <a:ext cx="4419600" cy="2476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6" name="Rectángulo 5">
            <a:extLst>
              <a:ext uri="{FF2B5EF4-FFF2-40B4-BE49-F238E27FC236}">
                <a16:creationId xmlns:a16="http://schemas.microsoft.com/office/drawing/2014/main" id="{D8B650D2-8129-86B8-020C-AC7EA4409618}"/>
              </a:ext>
            </a:extLst>
          </p:cNvPr>
          <p:cNvSpPr/>
          <p:nvPr/>
        </p:nvSpPr>
        <p:spPr>
          <a:xfrm>
            <a:off x="457200" y="1028700"/>
            <a:ext cx="4419600" cy="6705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7" name="Rectángulo 6">
            <a:extLst>
              <a:ext uri="{FF2B5EF4-FFF2-40B4-BE49-F238E27FC236}">
                <a16:creationId xmlns:a16="http://schemas.microsoft.com/office/drawing/2014/main" id="{9559F995-CCCF-FAD2-AD75-8AEC6C207373}"/>
              </a:ext>
            </a:extLst>
          </p:cNvPr>
          <p:cNvSpPr/>
          <p:nvPr/>
        </p:nvSpPr>
        <p:spPr>
          <a:xfrm>
            <a:off x="4466232" y="7561392"/>
            <a:ext cx="9554568" cy="1821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8" name="Rectángulo 7">
            <a:extLst>
              <a:ext uri="{FF2B5EF4-FFF2-40B4-BE49-F238E27FC236}">
                <a16:creationId xmlns:a16="http://schemas.microsoft.com/office/drawing/2014/main" id="{E23D2314-2F77-83CF-C503-FC6A3289512F}"/>
              </a:ext>
            </a:extLst>
          </p:cNvPr>
          <p:cNvSpPr/>
          <p:nvPr/>
        </p:nvSpPr>
        <p:spPr>
          <a:xfrm>
            <a:off x="7010400" y="7162800"/>
            <a:ext cx="1447800" cy="952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9" name="Rectángulo 8">
            <a:extLst>
              <a:ext uri="{FF2B5EF4-FFF2-40B4-BE49-F238E27FC236}">
                <a16:creationId xmlns:a16="http://schemas.microsoft.com/office/drawing/2014/main" id="{824F8E45-CB18-9AED-2DEA-0E6C01CF821F}"/>
              </a:ext>
            </a:extLst>
          </p:cNvPr>
          <p:cNvSpPr/>
          <p:nvPr/>
        </p:nvSpPr>
        <p:spPr>
          <a:xfrm>
            <a:off x="8267700" y="7162800"/>
            <a:ext cx="2734668" cy="952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
        <p:nvSpPr>
          <p:cNvPr id="10" name="Rectángulo 9">
            <a:extLst>
              <a:ext uri="{FF2B5EF4-FFF2-40B4-BE49-F238E27FC236}">
                <a16:creationId xmlns:a16="http://schemas.microsoft.com/office/drawing/2014/main" id="{037395BF-A87C-4C70-6929-8D26555B0F96}"/>
              </a:ext>
            </a:extLst>
          </p:cNvPr>
          <p:cNvSpPr/>
          <p:nvPr/>
        </p:nvSpPr>
        <p:spPr>
          <a:xfrm>
            <a:off x="10275996" y="7391627"/>
            <a:ext cx="1447800" cy="952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GT"/>
          </a:p>
        </p:txBody>
      </p:sp>
    </p:spTree>
    <p:extLst>
      <p:ext uri="{BB962C8B-B14F-4D97-AF65-F5344CB8AC3E}">
        <p14:creationId xmlns:p14="http://schemas.microsoft.com/office/powerpoint/2010/main" val="1541694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C6D12682-2792-906F-0586-1125B077C8FE}"/>
              </a:ext>
            </a:extLst>
          </p:cNvPr>
          <p:cNvSpPr txBox="1"/>
          <p:nvPr/>
        </p:nvSpPr>
        <p:spPr>
          <a:xfrm>
            <a:off x="1181100" y="723900"/>
            <a:ext cx="15925800" cy="2554545"/>
          </a:xfrm>
          <a:prstGeom prst="rect">
            <a:avLst/>
          </a:prstGeom>
          <a:noFill/>
        </p:spPr>
        <p:txBody>
          <a:bodyPr wrap="square">
            <a:spAutoFit/>
          </a:bodyPr>
          <a:lstStyle/>
          <a:p>
            <a:r>
              <a:rPr lang="es-GT" sz="3200" b="1" dirty="0">
                <a:solidFill>
                  <a:srgbClr val="0070C0"/>
                </a:solidFill>
              </a:rPr>
              <a:t>Potencia (P) </a:t>
            </a:r>
          </a:p>
          <a:p>
            <a:endParaRPr lang="es-GT" sz="3200" b="1" dirty="0">
              <a:solidFill>
                <a:srgbClr val="0070C0"/>
              </a:solidFill>
            </a:endParaRPr>
          </a:p>
          <a:p>
            <a:r>
              <a:rPr lang="es-ES" sz="3200" dirty="0"/>
              <a:t>La potencia (P) es la capacidad que tiene una corriente para realizar un trabajo, al circular a través de una carga. La unidad de potencia es el vatio (W), en honor a la memoria de James Watt, inventor de la máquina de vapor. </a:t>
            </a:r>
            <a:endParaRPr lang="es-GT" sz="3200" dirty="0"/>
          </a:p>
        </p:txBody>
      </p:sp>
      <p:sp>
        <p:nvSpPr>
          <p:cNvPr id="8" name="CuadroTexto 7">
            <a:extLst>
              <a:ext uri="{FF2B5EF4-FFF2-40B4-BE49-F238E27FC236}">
                <a16:creationId xmlns:a16="http://schemas.microsoft.com/office/drawing/2014/main" id="{5088C2B3-892C-629F-82D2-F2DA0FC09C62}"/>
              </a:ext>
            </a:extLst>
          </p:cNvPr>
          <p:cNvSpPr txBox="1"/>
          <p:nvPr/>
        </p:nvSpPr>
        <p:spPr>
          <a:xfrm>
            <a:off x="1151603" y="3619500"/>
            <a:ext cx="15430500" cy="1077218"/>
          </a:xfrm>
          <a:prstGeom prst="rect">
            <a:avLst/>
          </a:prstGeom>
          <a:noFill/>
        </p:spPr>
        <p:txBody>
          <a:bodyPr wrap="square">
            <a:spAutoFit/>
          </a:bodyPr>
          <a:lstStyle/>
          <a:p>
            <a:pPr algn="just"/>
            <a:r>
              <a:rPr lang="es-ES" sz="3200" dirty="0"/>
              <a:t>La potencia eléctrica es un parámetro que indica la cantidad de energía eléctrica transferida de una fuente generadora a un elemento consumidor por unidad de tiempo. </a:t>
            </a:r>
            <a:endParaRPr lang="es-GT" sz="3200" dirty="0"/>
          </a:p>
        </p:txBody>
      </p:sp>
      <p:sp>
        <p:nvSpPr>
          <p:cNvPr id="10" name="CuadroTexto 9">
            <a:extLst>
              <a:ext uri="{FF2B5EF4-FFF2-40B4-BE49-F238E27FC236}">
                <a16:creationId xmlns:a16="http://schemas.microsoft.com/office/drawing/2014/main" id="{47F6B76F-9430-0F02-CA89-C8A9C0E4DB16}"/>
              </a:ext>
            </a:extLst>
          </p:cNvPr>
          <p:cNvSpPr txBox="1"/>
          <p:nvPr/>
        </p:nvSpPr>
        <p:spPr>
          <a:xfrm>
            <a:off x="1122106" y="4974730"/>
            <a:ext cx="15430500" cy="2554545"/>
          </a:xfrm>
          <a:prstGeom prst="rect">
            <a:avLst/>
          </a:prstGeom>
          <a:noFill/>
        </p:spPr>
        <p:txBody>
          <a:bodyPr wrap="square">
            <a:spAutoFit/>
          </a:bodyPr>
          <a:lstStyle/>
          <a:p>
            <a:pPr algn="just"/>
            <a:r>
              <a:rPr lang="es-GT" sz="3200" b="1" dirty="0">
                <a:solidFill>
                  <a:srgbClr val="0070C0"/>
                </a:solidFill>
              </a:rPr>
              <a:t>Ley de Watt </a:t>
            </a:r>
          </a:p>
          <a:p>
            <a:pPr algn="just"/>
            <a:endParaRPr lang="es-GT" sz="3200" b="1" dirty="0">
              <a:solidFill>
                <a:srgbClr val="0070C0"/>
              </a:solidFill>
            </a:endParaRPr>
          </a:p>
          <a:p>
            <a:pPr algn="just"/>
            <a:r>
              <a:rPr lang="es-ES" sz="3200" dirty="0"/>
              <a:t>La ley de Watt establece la relación entre la potencia (P), la tensión (V) y la corriente (I) en un circuito. El triángulo que establece esta relación se conoce con el nombre de triángulo de potencia, el cual se indica en la siguiente figura. </a:t>
            </a:r>
            <a:endParaRPr lang="es-GT" sz="3200" dirty="0"/>
          </a:p>
        </p:txBody>
      </p:sp>
      <p:pic>
        <p:nvPicPr>
          <p:cNvPr id="12" name="Imagen 11">
            <a:extLst>
              <a:ext uri="{FF2B5EF4-FFF2-40B4-BE49-F238E27FC236}">
                <a16:creationId xmlns:a16="http://schemas.microsoft.com/office/drawing/2014/main" id="{99B33A82-F9A5-FD98-34D0-A045F8AB1F9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086600" y="7333838"/>
            <a:ext cx="3238952" cy="2953162"/>
          </a:xfrm>
          <a:prstGeom prst="rect">
            <a:avLst/>
          </a:prstGeom>
        </p:spPr>
      </p:pic>
    </p:spTree>
    <p:extLst>
      <p:ext uri="{BB962C8B-B14F-4D97-AF65-F5344CB8AC3E}">
        <p14:creationId xmlns:p14="http://schemas.microsoft.com/office/powerpoint/2010/main" val="3284818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075F6B50-D98C-4E62-43A3-D5858A13B794}"/>
              </a:ext>
            </a:extLst>
          </p:cNvPr>
          <p:cNvPicPr>
            <a:picLocks noChangeAspect="1"/>
          </p:cNvPicPr>
          <p:nvPr/>
        </p:nvPicPr>
        <p:blipFill rotWithShape="1">
          <a:blip r:embed="rId2"/>
          <a:srcRect b="10143"/>
          <a:stretch/>
        </p:blipFill>
        <p:spPr>
          <a:xfrm>
            <a:off x="838200" y="986940"/>
            <a:ext cx="15773400" cy="6806087"/>
          </a:xfrm>
          <a:prstGeom prst="rect">
            <a:avLst/>
          </a:prstGeom>
        </p:spPr>
      </p:pic>
    </p:spTree>
    <p:extLst>
      <p:ext uri="{BB962C8B-B14F-4D97-AF65-F5344CB8AC3E}">
        <p14:creationId xmlns:p14="http://schemas.microsoft.com/office/powerpoint/2010/main" val="1977195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10" name="Imagen 9">
            <a:extLst>
              <a:ext uri="{FF2B5EF4-FFF2-40B4-BE49-F238E27FC236}">
                <a16:creationId xmlns:a16="http://schemas.microsoft.com/office/drawing/2014/main" id="{8133F4C1-811D-7A73-4ABC-A1CC2E8E160F}"/>
              </a:ext>
            </a:extLst>
          </p:cNvPr>
          <p:cNvPicPr>
            <a:picLocks noChangeAspect="1"/>
          </p:cNvPicPr>
          <p:nvPr/>
        </p:nvPicPr>
        <p:blipFill>
          <a:blip r:embed="rId3"/>
          <a:stretch>
            <a:fillRect/>
          </a:stretch>
        </p:blipFill>
        <p:spPr>
          <a:xfrm>
            <a:off x="3429000" y="741736"/>
            <a:ext cx="10134600" cy="8803528"/>
          </a:xfrm>
          <a:prstGeom prst="rect">
            <a:avLst/>
          </a:prstGeom>
        </p:spPr>
      </p:pic>
    </p:spTree>
    <p:extLst>
      <p:ext uri="{BB962C8B-B14F-4D97-AF65-F5344CB8AC3E}">
        <p14:creationId xmlns:p14="http://schemas.microsoft.com/office/powerpoint/2010/main" val="798606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88497858-3C53-5511-31E5-6BB60808AC5C}"/>
              </a:ext>
            </a:extLst>
          </p:cNvPr>
          <p:cNvSpPr txBox="1"/>
          <p:nvPr/>
        </p:nvSpPr>
        <p:spPr>
          <a:xfrm>
            <a:off x="1219200" y="2095500"/>
            <a:ext cx="15849600" cy="6186309"/>
          </a:xfrm>
          <a:prstGeom prst="rect">
            <a:avLst/>
          </a:prstGeom>
          <a:noFill/>
        </p:spPr>
        <p:txBody>
          <a:bodyPr wrap="square">
            <a:spAutoFit/>
          </a:bodyPr>
          <a:lstStyle/>
          <a:p>
            <a:r>
              <a:rPr lang="es-GT" sz="3600" b="1" dirty="0">
                <a:solidFill>
                  <a:srgbClr val="0070C0"/>
                </a:solidFill>
              </a:rPr>
              <a:t>Energía Eléctrica (W) </a:t>
            </a:r>
          </a:p>
          <a:p>
            <a:endParaRPr lang="es-GT" sz="3600" dirty="0"/>
          </a:p>
          <a:p>
            <a:r>
              <a:rPr lang="es-ES" sz="3600" dirty="0"/>
              <a:t>La energía eléctrica es la potencia eléctrica consumida por un aparato durante un tiempo determinado. La unidad es el </a:t>
            </a:r>
            <a:r>
              <a:rPr lang="es-ES" sz="3600" dirty="0" err="1"/>
              <a:t>kilowatio</a:t>
            </a:r>
            <a:r>
              <a:rPr lang="es-ES" sz="3600" dirty="0"/>
              <a:t> por hora (kW-h). </a:t>
            </a:r>
          </a:p>
          <a:p>
            <a:endParaRPr lang="es-ES" sz="3600" dirty="0"/>
          </a:p>
          <a:p>
            <a:r>
              <a:rPr lang="es-ES" sz="3600" dirty="0"/>
              <a:t>La ecuación para la energía eléctrica es: </a:t>
            </a:r>
          </a:p>
          <a:p>
            <a:endParaRPr lang="es-ES" sz="3600" dirty="0"/>
          </a:p>
          <a:p>
            <a:r>
              <a:rPr lang="es-GT" sz="3600" dirty="0"/>
              <a:t>W= Potencia * tiempo </a:t>
            </a:r>
          </a:p>
          <a:p>
            <a:r>
              <a:rPr lang="es-GT" sz="3600" dirty="0"/>
              <a:t>W= P * t </a:t>
            </a:r>
          </a:p>
          <a:p>
            <a:endParaRPr lang="es-GT" sz="3600" dirty="0"/>
          </a:p>
          <a:p>
            <a:r>
              <a:rPr lang="es-ES" sz="3600" dirty="0"/>
              <a:t>El consumo de energía eléctrica se mide en los contadores. </a:t>
            </a:r>
            <a:endParaRPr lang="es-GT" sz="3600" dirty="0"/>
          </a:p>
        </p:txBody>
      </p:sp>
    </p:spTree>
    <p:extLst>
      <p:ext uri="{BB962C8B-B14F-4D97-AF65-F5344CB8AC3E}">
        <p14:creationId xmlns:p14="http://schemas.microsoft.com/office/powerpoint/2010/main" val="3212110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BC7B9875-816C-43E7-49B8-D5F310E77511}"/>
              </a:ext>
            </a:extLst>
          </p:cNvPr>
          <p:cNvSpPr txBox="1"/>
          <p:nvPr/>
        </p:nvSpPr>
        <p:spPr>
          <a:xfrm>
            <a:off x="990600" y="952500"/>
            <a:ext cx="16306800" cy="2308324"/>
          </a:xfrm>
          <a:prstGeom prst="rect">
            <a:avLst/>
          </a:prstGeom>
          <a:noFill/>
        </p:spPr>
        <p:txBody>
          <a:bodyPr wrap="square">
            <a:spAutoFit/>
          </a:bodyPr>
          <a:lstStyle/>
          <a:p>
            <a:r>
              <a:rPr lang="es-ES" sz="3600" dirty="0"/>
              <a:t>EJEMPLO </a:t>
            </a:r>
          </a:p>
          <a:p>
            <a:endParaRPr lang="es-ES" sz="3600" dirty="0"/>
          </a:p>
          <a:p>
            <a:r>
              <a:rPr lang="es-ES" sz="3600" dirty="0"/>
              <a:t>Calcular la corriente que circula por una resistencia de 30 Ohm, si la tensión aplicada es de 120 Voltios. </a:t>
            </a:r>
            <a:endParaRPr lang="es-GT" sz="3600" dirty="0"/>
          </a:p>
        </p:txBody>
      </p:sp>
      <p:pic>
        <p:nvPicPr>
          <p:cNvPr id="10" name="Imagen 9">
            <a:extLst>
              <a:ext uri="{FF2B5EF4-FFF2-40B4-BE49-F238E27FC236}">
                <a16:creationId xmlns:a16="http://schemas.microsoft.com/office/drawing/2014/main" id="{7613BA3E-3833-2112-183F-A4CBF58E96D6}"/>
              </a:ext>
            </a:extLst>
          </p:cNvPr>
          <p:cNvPicPr>
            <a:picLocks noChangeAspect="1"/>
          </p:cNvPicPr>
          <p:nvPr/>
        </p:nvPicPr>
        <p:blipFill>
          <a:blip r:embed="rId3"/>
          <a:stretch>
            <a:fillRect/>
          </a:stretch>
        </p:blipFill>
        <p:spPr>
          <a:xfrm>
            <a:off x="1676400" y="4152900"/>
            <a:ext cx="14593717" cy="2776681"/>
          </a:xfrm>
          <a:prstGeom prst="rect">
            <a:avLst/>
          </a:prstGeom>
        </p:spPr>
      </p:pic>
    </p:spTree>
    <p:extLst>
      <p:ext uri="{BB962C8B-B14F-4D97-AF65-F5344CB8AC3E}">
        <p14:creationId xmlns:p14="http://schemas.microsoft.com/office/powerpoint/2010/main" val="406127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D1DE008D-A6E1-DDE2-7910-6A17FE6D202D}"/>
              </a:ext>
            </a:extLst>
          </p:cNvPr>
          <p:cNvSpPr txBox="1"/>
          <p:nvPr/>
        </p:nvSpPr>
        <p:spPr>
          <a:xfrm>
            <a:off x="1295400" y="1257300"/>
            <a:ext cx="15468600" cy="2062103"/>
          </a:xfrm>
          <a:prstGeom prst="rect">
            <a:avLst/>
          </a:prstGeom>
          <a:noFill/>
        </p:spPr>
        <p:txBody>
          <a:bodyPr wrap="square">
            <a:spAutoFit/>
          </a:bodyPr>
          <a:lstStyle/>
          <a:p>
            <a:pPr algn="just"/>
            <a:r>
              <a:rPr lang="es-ES" sz="3200" dirty="0"/>
              <a:t>EJEMPLO</a:t>
            </a:r>
          </a:p>
          <a:p>
            <a:pPr algn="just"/>
            <a:endParaRPr lang="es-ES" sz="3200" dirty="0"/>
          </a:p>
          <a:p>
            <a:pPr algn="just"/>
            <a:r>
              <a:rPr lang="es-ES" sz="3200" dirty="0"/>
              <a:t>Calcular la tensión aplicada, si por una resistencia de 20 Ohm circula una corriente de 6 Amperios </a:t>
            </a:r>
            <a:endParaRPr lang="es-GT" sz="3200" dirty="0"/>
          </a:p>
        </p:txBody>
      </p:sp>
      <p:pic>
        <p:nvPicPr>
          <p:cNvPr id="8" name="Imagen 7">
            <a:extLst>
              <a:ext uri="{FF2B5EF4-FFF2-40B4-BE49-F238E27FC236}">
                <a16:creationId xmlns:a16="http://schemas.microsoft.com/office/drawing/2014/main" id="{AB734553-3E01-10CF-F085-E126930542F9}"/>
              </a:ext>
            </a:extLst>
          </p:cNvPr>
          <p:cNvPicPr>
            <a:picLocks noChangeAspect="1"/>
          </p:cNvPicPr>
          <p:nvPr/>
        </p:nvPicPr>
        <p:blipFill>
          <a:blip r:embed="rId3"/>
          <a:stretch>
            <a:fillRect/>
          </a:stretch>
        </p:blipFill>
        <p:spPr>
          <a:xfrm>
            <a:off x="1295401" y="4548104"/>
            <a:ext cx="15742920" cy="1738396"/>
          </a:xfrm>
          <a:prstGeom prst="rect">
            <a:avLst/>
          </a:prstGeom>
        </p:spPr>
      </p:pic>
    </p:spTree>
    <p:extLst>
      <p:ext uri="{BB962C8B-B14F-4D97-AF65-F5344CB8AC3E}">
        <p14:creationId xmlns:p14="http://schemas.microsoft.com/office/powerpoint/2010/main" val="412322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BF821E9A-3CA5-D7AD-5511-0D73E5B95B64}"/>
              </a:ext>
            </a:extLst>
          </p:cNvPr>
          <p:cNvSpPr txBox="1"/>
          <p:nvPr/>
        </p:nvSpPr>
        <p:spPr>
          <a:xfrm>
            <a:off x="1905000" y="1409700"/>
            <a:ext cx="15392400" cy="2308324"/>
          </a:xfrm>
          <a:prstGeom prst="rect">
            <a:avLst/>
          </a:prstGeom>
          <a:noFill/>
        </p:spPr>
        <p:txBody>
          <a:bodyPr wrap="square">
            <a:spAutoFit/>
          </a:bodyPr>
          <a:lstStyle/>
          <a:p>
            <a:r>
              <a:rPr lang="es-ES" sz="3600" dirty="0"/>
              <a:t>EJEMPLO</a:t>
            </a:r>
          </a:p>
          <a:p>
            <a:endParaRPr lang="es-ES" sz="3600" dirty="0"/>
          </a:p>
          <a:p>
            <a:r>
              <a:rPr lang="es-ES" sz="3600" dirty="0"/>
              <a:t>Calcular la potencia en un circuito que tiene una resistencia de 70 Ohm y circula por ella una corriente de 4 A </a:t>
            </a:r>
            <a:endParaRPr lang="es-GT" sz="3600" dirty="0"/>
          </a:p>
        </p:txBody>
      </p:sp>
      <p:pic>
        <p:nvPicPr>
          <p:cNvPr id="8" name="Imagen 7">
            <a:extLst>
              <a:ext uri="{FF2B5EF4-FFF2-40B4-BE49-F238E27FC236}">
                <a16:creationId xmlns:a16="http://schemas.microsoft.com/office/drawing/2014/main" id="{A0646735-3085-E46D-659F-D4E63A8F6D68}"/>
              </a:ext>
            </a:extLst>
          </p:cNvPr>
          <p:cNvPicPr>
            <a:picLocks noChangeAspect="1"/>
          </p:cNvPicPr>
          <p:nvPr/>
        </p:nvPicPr>
        <p:blipFill>
          <a:blip r:embed="rId3"/>
          <a:stretch>
            <a:fillRect/>
          </a:stretch>
        </p:blipFill>
        <p:spPr>
          <a:xfrm>
            <a:off x="1815418" y="4365484"/>
            <a:ext cx="15302544" cy="3886360"/>
          </a:xfrm>
          <a:prstGeom prst="rect">
            <a:avLst/>
          </a:prstGeom>
        </p:spPr>
      </p:pic>
    </p:spTree>
    <p:extLst>
      <p:ext uri="{BB962C8B-B14F-4D97-AF65-F5344CB8AC3E}">
        <p14:creationId xmlns:p14="http://schemas.microsoft.com/office/powerpoint/2010/main" val="227760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14398E69-2F25-BE7A-AC18-D108862F0310}"/>
              </a:ext>
            </a:extLst>
          </p:cNvPr>
          <p:cNvPicPr>
            <a:picLocks noChangeAspect="1"/>
          </p:cNvPicPr>
          <p:nvPr/>
        </p:nvPicPr>
        <p:blipFill>
          <a:blip r:embed="rId3"/>
          <a:stretch>
            <a:fillRect/>
          </a:stretch>
        </p:blipFill>
        <p:spPr>
          <a:xfrm>
            <a:off x="1143000" y="723900"/>
            <a:ext cx="15223098" cy="3886200"/>
          </a:xfrm>
          <a:prstGeom prst="rect">
            <a:avLst/>
          </a:prstGeom>
        </p:spPr>
      </p:pic>
      <p:pic>
        <p:nvPicPr>
          <p:cNvPr id="10" name="Imagen 9">
            <a:extLst>
              <a:ext uri="{FF2B5EF4-FFF2-40B4-BE49-F238E27FC236}">
                <a16:creationId xmlns:a16="http://schemas.microsoft.com/office/drawing/2014/main" id="{4CBCEC1F-8590-FD7F-6F87-9C026A8FDA02}"/>
              </a:ext>
            </a:extLst>
          </p:cNvPr>
          <p:cNvPicPr>
            <a:picLocks noChangeAspect="1"/>
          </p:cNvPicPr>
          <p:nvPr/>
        </p:nvPicPr>
        <p:blipFill>
          <a:blip r:embed="rId4"/>
          <a:stretch>
            <a:fillRect/>
          </a:stretch>
        </p:blipFill>
        <p:spPr>
          <a:xfrm>
            <a:off x="2080674" y="5646174"/>
            <a:ext cx="13358307" cy="2392925"/>
          </a:xfrm>
          <a:prstGeom prst="rect">
            <a:avLst/>
          </a:prstGeom>
        </p:spPr>
      </p:pic>
      <p:sp>
        <p:nvSpPr>
          <p:cNvPr id="11" name="Rectángulo 10">
            <a:extLst>
              <a:ext uri="{FF2B5EF4-FFF2-40B4-BE49-F238E27FC236}">
                <a16:creationId xmlns:a16="http://schemas.microsoft.com/office/drawing/2014/main" id="{DD584DBC-93C3-0A6A-383B-A89583EAD5C6}"/>
              </a:ext>
            </a:extLst>
          </p:cNvPr>
          <p:cNvSpPr/>
          <p:nvPr/>
        </p:nvSpPr>
        <p:spPr>
          <a:xfrm>
            <a:off x="779759" y="6286500"/>
            <a:ext cx="726481"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a:t>
            </a:r>
          </a:p>
        </p:txBody>
      </p:sp>
    </p:spTree>
    <p:extLst>
      <p:ext uri="{BB962C8B-B14F-4D97-AF65-F5344CB8AC3E}">
        <p14:creationId xmlns:p14="http://schemas.microsoft.com/office/powerpoint/2010/main" val="3518986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2803303F-FD6C-7D89-FA92-65B41A44C518}"/>
              </a:ext>
            </a:extLst>
          </p:cNvPr>
          <p:cNvPicPr>
            <a:picLocks noChangeAspect="1"/>
          </p:cNvPicPr>
          <p:nvPr/>
        </p:nvPicPr>
        <p:blipFill>
          <a:blip r:embed="rId2"/>
          <a:stretch>
            <a:fillRect/>
          </a:stretch>
        </p:blipFill>
        <p:spPr>
          <a:xfrm>
            <a:off x="2133600" y="952500"/>
            <a:ext cx="13490294" cy="2057400"/>
          </a:xfrm>
          <a:prstGeom prst="rect">
            <a:avLst/>
          </a:prstGeom>
        </p:spPr>
      </p:pic>
      <p:sp>
        <p:nvSpPr>
          <p:cNvPr id="7" name="Rectángulo 6">
            <a:extLst>
              <a:ext uri="{FF2B5EF4-FFF2-40B4-BE49-F238E27FC236}">
                <a16:creationId xmlns:a16="http://schemas.microsoft.com/office/drawing/2014/main" id="{7748AC70-D1C4-041A-9EEA-0354E8CB958D}"/>
              </a:ext>
            </a:extLst>
          </p:cNvPr>
          <p:cNvSpPr/>
          <p:nvPr/>
        </p:nvSpPr>
        <p:spPr>
          <a:xfrm>
            <a:off x="1203170" y="1519535"/>
            <a:ext cx="758541"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b</a:t>
            </a:r>
            <a:r>
              <a:rPr lang="es-ES" sz="5400" b="0" cap="none" spc="0" dirty="0">
                <a:ln w="0"/>
                <a:solidFill>
                  <a:schemeClr val="tx1"/>
                </a:solidFill>
                <a:effectLst>
                  <a:outerShdw blurRad="38100" dist="19050" dir="2700000" algn="tl" rotWithShape="0">
                    <a:schemeClr val="dk1">
                      <a:alpha val="40000"/>
                    </a:schemeClr>
                  </a:outerShdw>
                </a:effectLst>
              </a:rPr>
              <a:t>)</a:t>
            </a:r>
          </a:p>
        </p:txBody>
      </p:sp>
      <p:pic>
        <p:nvPicPr>
          <p:cNvPr id="9" name="Imagen 8">
            <a:extLst>
              <a:ext uri="{FF2B5EF4-FFF2-40B4-BE49-F238E27FC236}">
                <a16:creationId xmlns:a16="http://schemas.microsoft.com/office/drawing/2014/main" id="{37826B20-4B72-2F3E-DCB5-0E776F37FCB3}"/>
              </a:ext>
            </a:extLst>
          </p:cNvPr>
          <p:cNvPicPr>
            <a:picLocks noChangeAspect="1"/>
          </p:cNvPicPr>
          <p:nvPr/>
        </p:nvPicPr>
        <p:blipFill>
          <a:blip r:embed="rId3"/>
          <a:stretch>
            <a:fillRect/>
          </a:stretch>
        </p:blipFill>
        <p:spPr>
          <a:xfrm>
            <a:off x="2438400" y="3466866"/>
            <a:ext cx="13260204" cy="2210034"/>
          </a:xfrm>
          <a:prstGeom prst="rect">
            <a:avLst/>
          </a:prstGeom>
        </p:spPr>
      </p:pic>
      <p:sp>
        <p:nvSpPr>
          <p:cNvPr id="10" name="Rectángulo 9">
            <a:extLst>
              <a:ext uri="{FF2B5EF4-FFF2-40B4-BE49-F238E27FC236}">
                <a16:creationId xmlns:a16="http://schemas.microsoft.com/office/drawing/2014/main" id="{42C4BA21-2D8C-CE38-550B-CF7E0B7C35D3}"/>
              </a:ext>
            </a:extLst>
          </p:cNvPr>
          <p:cNvSpPr/>
          <p:nvPr/>
        </p:nvSpPr>
        <p:spPr>
          <a:xfrm>
            <a:off x="1238436" y="3848100"/>
            <a:ext cx="688009"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c)</a:t>
            </a:r>
          </a:p>
        </p:txBody>
      </p:sp>
      <p:pic>
        <p:nvPicPr>
          <p:cNvPr id="12" name="Imagen 11">
            <a:extLst>
              <a:ext uri="{FF2B5EF4-FFF2-40B4-BE49-F238E27FC236}">
                <a16:creationId xmlns:a16="http://schemas.microsoft.com/office/drawing/2014/main" id="{92F8F93B-9EA3-5C38-3A94-55B6A051AE8D}"/>
              </a:ext>
            </a:extLst>
          </p:cNvPr>
          <p:cNvPicPr>
            <a:picLocks noChangeAspect="1"/>
          </p:cNvPicPr>
          <p:nvPr/>
        </p:nvPicPr>
        <p:blipFill>
          <a:blip r:embed="rId4"/>
          <a:stretch>
            <a:fillRect/>
          </a:stretch>
        </p:blipFill>
        <p:spPr>
          <a:xfrm>
            <a:off x="2465439" y="6176415"/>
            <a:ext cx="13003161" cy="1898914"/>
          </a:xfrm>
          <a:prstGeom prst="rect">
            <a:avLst/>
          </a:prstGeom>
        </p:spPr>
      </p:pic>
      <p:sp>
        <p:nvSpPr>
          <p:cNvPr id="13" name="Rectángulo 12">
            <a:extLst>
              <a:ext uri="{FF2B5EF4-FFF2-40B4-BE49-F238E27FC236}">
                <a16:creationId xmlns:a16="http://schemas.microsoft.com/office/drawing/2014/main" id="{A2776986-CAF4-9AD4-AD8D-8864E08DE197}"/>
              </a:ext>
            </a:extLst>
          </p:cNvPr>
          <p:cNvSpPr/>
          <p:nvPr/>
        </p:nvSpPr>
        <p:spPr>
          <a:xfrm>
            <a:off x="1238612" y="6515100"/>
            <a:ext cx="758541"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d</a:t>
            </a:r>
            <a:r>
              <a:rPr lang="es-ES" sz="5400" b="0" cap="none" spc="0" dirty="0">
                <a:ln w="0"/>
                <a:solidFill>
                  <a:schemeClr val="tx1"/>
                </a:solidFill>
                <a:effectLst>
                  <a:outerShdw blurRad="38100" dist="19050" dir="2700000" algn="tl" rotWithShape="0">
                    <a:schemeClr val="dk1">
                      <a:alpha val="40000"/>
                    </a:schemeClr>
                  </a:outerShdw>
                </a:effectLst>
              </a:rPr>
              <a:t>)</a:t>
            </a:r>
          </a:p>
        </p:txBody>
      </p:sp>
    </p:spTree>
    <p:extLst>
      <p:ext uri="{BB962C8B-B14F-4D97-AF65-F5344CB8AC3E}">
        <p14:creationId xmlns:p14="http://schemas.microsoft.com/office/powerpoint/2010/main" val="2821576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FC13945B-7639-850F-5E1F-009AA5F20B8F}"/>
              </a:ext>
            </a:extLst>
          </p:cNvPr>
          <p:cNvSpPr txBox="1"/>
          <p:nvPr/>
        </p:nvSpPr>
        <p:spPr>
          <a:xfrm>
            <a:off x="609600" y="647700"/>
            <a:ext cx="9247238" cy="1015663"/>
          </a:xfrm>
          <a:prstGeom prst="rect">
            <a:avLst/>
          </a:prstGeom>
          <a:noFill/>
        </p:spPr>
        <p:txBody>
          <a:bodyPr wrap="square">
            <a:spAutoFit/>
          </a:bodyPr>
          <a:lstStyle/>
          <a:p>
            <a:r>
              <a:rPr lang="es-GT" sz="6000" b="1" i="0" u="none" strike="noStrike" baseline="0" dirty="0">
                <a:solidFill>
                  <a:srgbClr val="000000"/>
                </a:solidFill>
                <a:latin typeface="Arial" panose="020B0604020202020204" pitchFamily="34" charset="0"/>
              </a:rPr>
              <a:t>Circuitos eléctricos </a:t>
            </a:r>
            <a:endParaRPr lang="es-GT" sz="6000" dirty="0"/>
          </a:p>
        </p:txBody>
      </p:sp>
      <p:sp>
        <p:nvSpPr>
          <p:cNvPr id="8" name="CuadroTexto 7">
            <a:extLst>
              <a:ext uri="{FF2B5EF4-FFF2-40B4-BE49-F238E27FC236}">
                <a16:creationId xmlns:a16="http://schemas.microsoft.com/office/drawing/2014/main" id="{5EEA511D-5DBB-FDEE-8C8D-FD0494F99E33}"/>
              </a:ext>
            </a:extLst>
          </p:cNvPr>
          <p:cNvSpPr txBox="1"/>
          <p:nvPr/>
        </p:nvSpPr>
        <p:spPr>
          <a:xfrm>
            <a:off x="762000" y="2095500"/>
            <a:ext cx="15697200" cy="2308324"/>
          </a:xfrm>
          <a:prstGeom prst="rect">
            <a:avLst/>
          </a:prstGeom>
          <a:noFill/>
        </p:spPr>
        <p:txBody>
          <a:bodyPr wrap="square">
            <a:spAutoFit/>
          </a:bodyPr>
          <a:lstStyle/>
          <a:p>
            <a:pPr algn="just"/>
            <a:r>
              <a:rPr lang="es-ES" sz="3600" dirty="0"/>
              <a:t>Un circuito eléctrico es un camino cerrado por donde circula una corriente. En un circuito eléctrico se combinan los conductores y los accesorios empleados para que la electricidad se transforme en un trabajo. Este trabajo puede ser alumbrado, calefacción, refrigeración, fuerza motriz, etc. </a:t>
            </a:r>
            <a:endParaRPr lang="es-GT" sz="3600" dirty="0"/>
          </a:p>
        </p:txBody>
      </p:sp>
      <p:sp>
        <p:nvSpPr>
          <p:cNvPr id="10" name="CuadroTexto 9">
            <a:extLst>
              <a:ext uri="{FF2B5EF4-FFF2-40B4-BE49-F238E27FC236}">
                <a16:creationId xmlns:a16="http://schemas.microsoft.com/office/drawing/2014/main" id="{AA42213B-27CC-EE62-FBFC-F2EF24C14AFA}"/>
              </a:ext>
            </a:extLst>
          </p:cNvPr>
          <p:cNvSpPr txBox="1"/>
          <p:nvPr/>
        </p:nvSpPr>
        <p:spPr>
          <a:xfrm>
            <a:off x="990600" y="5283662"/>
            <a:ext cx="15316200" cy="3416320"/>
          </a:xfrm>
          <a:prstGeom prst="rect">
            <a:avLst/>
          </a:prstGeom>
          <a:noFill/>
        </p:spPr>
        <p:txBody>
          <a:bodyPr wrap="square">
            <a:spAutoFit/>
          </a:bodyPr>
          <a:lstStyle/>
          <a:p>
            <a:r>
              <a:rPr lang="es-GT" sz="3600" dirty="0"/>
              <a:t>Partes de un circuito </a:t>
            </a:r>
          </a:p>
          <a:p>
            <a:r>
              <a:rPr lang="es-ES" sz="3600" dirty="0"/>
              <a:t>Las partes básicas de cualquier circuito eléctrico son las siguientes: </a:t>
            </a:r>
          </a:p>
          <a:p>
            <a:r>
              <a:rPr lang="es-GT" sz="3600" dirty="0"/>
              <a:t>- Fuente de tensión </a:t>
            </a:r>
          </a:p>
          <a:p>
            <a:r>
              <a:rPr lang="es-GT" sz="3600" dirty="0"/>
              <a:t>- Conductores </a:t>
            </a:r>
          </a:p>
          <a:p>
            <a:r>
              <a:rPr lang="es-GT" sz="3600" dirty="0"/>
              <a:t>- Elemento de control </a:t>
            </a:r>
          </a:p>
          <a:p>
            <a:r>
              <a:rPr lang="es-GT" sz="3600" dirty="0"/>
              <a:t>- Carga. </a:t>
            </a:r>
          </a:p>
        </p:txBody>
      </p:sp>
    </p:spTree>
    <p:extLst>
      <p:ext uri="{BB962C8B-B14F-4D97-AF65-F5344CB8AC3E}">
        <p14:creationId xmlns:p14="http://schemas.microsoft.com/office/powerpoint/2010/main" val="3715739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5EB59327-C5FA-51A2-6808-29A58B5F7E7C}"/>
              </a:ext>
            </a:extLst>
          </p:cNvPr>
          <p:cNvPicPr>
            <a:picLocks noChangeAspect="1"/>
          </p:cNvPicPr>
          <p:nvPr/>
        </p:nvPicPr>
        <p:blipFill>
          <a:blip r:embed="rId2"/>
          <a:stretch>
            <a:fillRect/>
          </a:stretch>
        </p:blipFill>
        <p:spPr>
          <a:xfrm>
            <a:off x="1371600" y="1104900"/>
            <a:ext cx="14400974" cy="6858315"/>
          </a:xfrm>
          <a:prstGeom prst="rect">
            <a:avLst/>
          </a:prstGeom>
        </p:spPr>
      </p:pic>
    </p:spTree>
    <p:extLst>
      <p:ext uri="{BB962C8B-B14F-4D97-AF65-F5344CB8AC3E}">
        <p14:creationId xmlns:p14="http://schemas.microsoft.com/office/powerpoint/2010/main" val="1517487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030731F1-3510-E909-66BC-6398FD855A8A}"/>
              </a:ext>
            </a:extLst>
          </p:cNvPr>
          <p:cNvSpPr txBox="1"/>
          <p:nvPr/>
        </p:nvSpPr>
        <p:spPr>
          <a:xfrm>
            <a:off x="762000" y="495300"/>
            <a:ext cx="16535400" cy="2308324"/>
          </a:xfrm>
          <a:prstGeom prst="rect">
            <a:avLst/>
          </a:prstGeom>
          <a:noFill/>
        </p:spPr>
        <p:txBody>
          <a:bodyPr wrap="square">
            <a:spAutoFit/>
          </a:bodyPr>
          <a:lstStyle/>
          <a:p>
            <a:pPr algn="just"/>
            <a:r>
              <a:rPr lang="es-GT" sz="3600" b="1" dirty="0"/>
              <a:t>Clases de circuitos eléctricos. </a:t>
            </a:r>
          </a:p>
          <a:p>
            <a:pPr algn="just"/>
            <a:endParaRPr lang="es-GT" sz="3600" b="1" dirty="0"/>
          </a:p>
          <a:p>
            <a:pPr algn="just"/>
            <a:r>
              <a:rPr lang="es-ES" sz="3600" dirty="0"/>
              <a:t>Los circuitos eléctricos tienen las cargas conectadas de tres formas posibles, cargas en serie, en paralelo y combinadas</a:t>
            </a:r>
            <a:r>
              <a:rPr lang="es-ES" sz="1800" b="0" i="0" u="none" strike="noStrike" baseline="0" dirty="0">
                <a:solidFill>
                  <a:srgbClr val="000000"/>
                </a:solidFill>
                <a:latin typeface="Arial" panose="020B0604020202020204" pitchFamily="34" charset="0"/>
              </a:rPr>
              <a:t>. </a:t>
            </a:r>
            <a:endParaRPr lang="es-GT" dirty="0"/>
          </a:p>
        </p:txBody>
      </p:sp>
      <p:sp>
        <p:nvSpPr>
          <p:cNvPr id="8" name="CuadroTexto 7">
            <a:extLst>
              <a:ext uri="{FF2B5EF4-FFF2-40B4-BE49-F238E27FC236}">
                <a16:creationId xmlns:a16="http://schemas.microsoft.com/office/drawing/2014/main" id="{2E92C997-C0D6-CDF2-6B30-FED65A88272E}"/>
              </a:ext>
            </a:extLst>
          </p:cNvPr>
          <p:cNvSpPr txBox="1"/>
          <p:nvPr/>
        </p:nvSpPr>
        <p:spPr>
          <a:xfrm>
            <a:off x="769374" y="3314700"/>
            <a:ext cx="16680426" cy="5078313"/>
          </a:xfrm>
          <a:prstGeom prst="rect">
            <a:avLst/>
          </a:prstGeom>
          <a:noFill/>
        </p:spPr>
        <p:txBody>
          <a:bodyPr wrap="square">
            <a:spAutoFit/>
          </a:bodyPr>
          <a:lstStyle/>
          <a:p>
            <a:pPr algn="just"/>
            <a:r>
              <a:rPr lang="es-ES" sz="3600" b="1" dirty="0"/>
              <a:t>Circuitos en serie: </a:t>
            </a:r>
          </a:p>
          <a:p>
            <a:pPr algn="just"/>
            <a:r>
              <a:rPr lang="es-ES" sz="3600" dirty="0"/>
              <a:t>Es aquel en el cual los aparatos o cargas están conectados entre sí en orden sucesivo. Por lo tanto, la corriente tiene un solo camino para circular; en instalaciones residenciales no es muy común utilizar este tipo de circuitos, su uso se ha limitado a instalaciones navideñas y otras poco usuales. </a:t>
            </a:r>
          </a:p>
          <a:p>
            <a:pPr algn="just"/>
            <a:r>
              <a:rPr lang="es-ES" sz="3600" dirty="0"/>
              <a:t>El circuito en serie presenta el inconveniente de que, si se daña una resistencia, la corriente no puede circular, por lo tanto, dejan de funcionar todos los aparatos conectados en serie. </a:t>
            </a:r>
          </a:p>
          <a:p>
            <a:pPr algn="just"/>
            <a:r>
              <a:rPr lang="es-ES" sz="3600" dirty="0"/>
              <a:t>En la siguiente figura se muestra el diagrama de un circuito en serie </a:t>
            </a:r>
            <a:endParaRPr lang="es-GT" sz="3600" dirty="0"/>
          </a:p>
        </p:txBody>
      </p:sp>
    </p:spTree>
    <p:extLst>
      <p:ext uri="{BB962C8B-B14F-4D97-AF65-F5344CB8AC3E}">
        <p14:creationId xmlns:p14="http://schemas.microsoft.com/office/powerpoint/2010/main" val="723896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9CE7DF54-1630-3463-8D1F-9D468DF79630}"/>
              </a:ext>
            </a:extLst>
          </p:cNvPr>
          <p:cNvPicPr>
            <a:picLocks noChangeAspect="1"/>
          </p:cNvPicPr>
          <p:nvPr/>
        </p:nvPicPr>
        <p:blipFill>
          <a:blip r:embed="rId2"/>
          <a:stretch>
            <a:fillRect/>
          </a:stretch>
        </p:blipFill>
        <p:spPr>
          <a:xfrm>
            <a:off x="2057400" y="1518221"/>
            <a:ext cx="12039600" cy="6159075"/>
          </a:xfrm>
          <a:prstGeom prst="rect">
            <a:avLst/>
          </a:prstGeom>
        </p:spPr>
      </p:pic>
    </p:spTree>
    <p:extLst>
      <p:ext uri="{BB962C8B-B14F-4D97-AF65-F5344CB8AC3E}">
        <p14:creationId xmlns:p14="http://schemas.microsoft.com/office/powerpoint/2010/main" val="2331742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538C7B67-E0F2-F999-71CC-CFB53B8A5F24}"/>
              </a:ext>
            </a:extLst>
          </p:cNvPr>
          <p:cNvSpPr txBox="1"/>
          <p:nvPr/>
        </p:nvSpPr>
        <p:spPr>
          <a:xfrm>
            <a:off x="1219200" y="1181100"/>
            <a:ext cx="15849600" cy="4647426"/>
          </a:xfrm>
          <a:prstGeom prst="rect">
            <a:avLst/>
          </a:prstGeom>
          <a:noFill/>
        </p:spPr>
        <p:txBody>
          <a:bodyPr wrap="square">
            <a:spAutoFit/>
          </a:bodyPr>
          <a:lstStyle/>
          <a:p>
            <a:r>
              <a:rPr lang="es-ES" sz="3200" b="0" i="0" u="none" strike="noStrike" baseline="0" dirty="0">
                <a:solidFill>
                  <a:srgbClr val="000000"/>
                </a:solidFill>
                <a:latin typeface="Arial" panose="020B0604020202020204" pitchFamily="34" charset="0"/>
              </a:rPr>
              <a:t>Las principales características de un circuito en serie son: </a:t>
            </a:r>
          </a:p>
          <a:p>
            <a:endParaRPr lang="es-ES" sz="3200" b="0" i="0" u="none" strike="noStrike" baseline="0" dirty="0">
              <a:solidFill>
                <a:srgbClr val="000000"/>
              </a:solidFill>
              <a:latin typeface="Arial" panose="020B0604020202020204" pitchFamily="34" charset="0"/>
            </a:endParaRPr>
          </a:p>
          <a:p>
            <a:r>
              <a:rPr lang="es-ES" sz="3200" b="0" i="0" u="none" strike="noStrike" baseline="0" dirty="0">
                <a:solidFill>
                  <a:srgbClr val="000000"/>
                </a:solidFill>
                <a:latin typeface="Arial" panose="020B0604020202020204" pitchFamily="34" charset="0"/>
              </a:rPr>
              <a:t>a) La resistencia total es la suma de las resistencias parciales. </a:t>
            </a:r>
          </a:p>
          <a:p>
            <a:r>
              <a:rPr lang="pt-BR" sz="3200" b="1" i="0" u="none" strike="noStrike" baseline="0" dirty="0">
                <a:solidFill>
                  <a:srgbClr val="000000"/>
                </a:solidFill>
                <a:latin typeface="Arial" panose="020B0604020202020204" pitchFamily="34" charset="0"/>
              </a:rPr>
              <a:t>R</a:t>
            </a:r>
            <a:r>
              <a:rPr lang="pt-BR" sz="2000" b="1" i="0" u="none" strike="noStrike" baseline="0" dirty="0">
                <a:solidFill>
                  <a:srgbClr val="000000"/>
                </a:solidFill>
                <a:latin typeface="Arial" panose="020B0604020202020204" pitchFamily="34" charset="0"/>
              </a:rPr>
              <a:t>T </a:t>
            </a:r>
            <a:r>
              <a:rPr lang="pt-BR" sz="3200" b="1" i="0" u="none" strike="noStrike" baseline="0" dirty="0">
                <a:solidFill>
                  <a:srgbClr val="000000"/>
                </a:solidFill>
                <a:latin typeface="Arial" panose="020B0604020202020204" pitchFamily="34" charset="0"/>
              </a:rPr>
              <a:t>= R</a:t>
            </a:r>
            <a:r>
              <a:rPr lang="pt-BR" sz="2000" b="1" i="0" u="none" strike="noStrike" baseline="0" dirty="0">
                <a:solidFill>
                  <a:srgbClr val="000000"/>
                </a:solidFill>
                <a:latin typeface="Arial" panose="020B0604020202020204" pitchFamily="34" charset="0"/>
              </a:rPr>
              <a:t>1 </a:t>
            </a:r>
            <a:r>
              <a:rPr lang="pt-BR" sz="3200" b="1" i="0" u="none" strike="noStrike" baseline="0" dirty="0">
                <a:solidFill>
                  <a:srgbClr val="000000"/>
                </a:solidFill>
                <a:latin typeface="Arial" panose="020B0604020202020204" pitchFamily="34" charset="0"/>
              </a:rPr>
              <a:t>+ R</a:t>
            </a:r>
            <a:r>
              <a:rPr lang="pt-BR" sz="2000" b="1" i="0" u="none" strike="noStrike" baseline="0" dirty="0">
                <a:solidFill>
                  <a:srgbClr val="000000"/>
                </a:solidFill>
                <a:latin typeface="Arial" panose="020B0604020202020204" pitchFamily="34" charset="0"/>
              </a:rPr>
              <a:t>2 </a:t>
            </a:r>
            <a:r>
              <a:rPr lang="pt-BR" sz="3200" b="1" i="0" u="none" strike="noStrike" baseline="0" dirty="0">
                <a:solidFill>
                  <a:srgbClr val="000000"/>
                </a:solidFill>
                <a:latin typeface="Arial" panose="020B0604020202020204" pitchFamily="34" charset="0"/>
              </a:rPr>
              <a:t>+ R</a:t>
            </a:r>
            <a:r>
              <a:rPr lang="pt-BR" sz="2000" b="1" i="0" u="none" strike="noStrike" baseline="0" dirty="0">
                <a:solidFill>
                  <a:srgbClr val="000000"/>
                </a:solidFill>
                <a:latin typeface="Arial" panose="020B0604020202020204" pitchFamily="34" charset="0"/>
              </a:rPr>
              <a:t>3 + ………….</a:t>
            </a:r>
            <a:r>
              <a:rPr lang="pt-BR" sz="3200" b="1" i="0" u="none" strike="noStrike" baseline="0" dirty="0">
                <a:solidFill>
                  <a:srgbClr val="000000"/>
                </a:solidFill>
                <a:latin typeface="Arial" panose="020B0604020202020204" pitchFamily="34" charset="0"/>
              </a:rPr>
              <a:t>+ </a:t>
            </a:r>
            <a:r>
              <a:rPr lang="pt-BR" sz="3200" b="1" i="0" u="none" strike="noStrike" baseline="0" dirty="0" err="1">
                <a:solidFill>
                  <a:srgbClr val="000000"/>
                </a:solidFill>
                <a:latin typeface="Arial" panose="020B0604020202020204" pitchFamily="34" charset="0"/>
              </a:rPr>
              <a:t>R</a:t>
            </a:r>
            <a:r>
              <a:rPr lang="pt-BR" sz="2000" b="1" i="0" u="none" strike="noStrike" baseline="0" dirty="0" err="1">
                <a:solidFill>
                  <a:srgbClr val="000000"/>
                </a:solidFill>
                <a:latin typeface="Arial" panose="020B0604020202020204" pitchFamily="34" charset="0"/>
              </a:rPr>
              <a:t>n</a:t>
            </a:r>
            <a:r>
              <a:rPr lang="pt-BR" sz="2000" b="1" i="0" u="none" strike="noStrike" baseline="0" dirty="0">
                <a:solidFill>
                  <a:srgbClr val="000000"/>
                </a:solidFill>
                <a:latin typeface="Arial" panose="020B0604020202020204" pitchFamily="34" charset="0"/>
              </a:rPr>
              <a:t> </a:t>
            </a:r>
          </a:p>
          <a:p>
            <a:endParaRPr lang="pt-BR" sz="2000" b="0" i="0" u="none" strike="noStrike" baseline="0" dirty="0">
              <a:solidFill>
                <a:srgbClr val="000000"/>
              </a:solidFill>
              <a:latin typeface="Arial" panose="020B0604020202020204" pitchFamily="34" charset="0"/>
            </a:endParaRPr>
          </a:p>
          <a:p>
            <a:r>
              <a:rPr lang="es-ES" sz="3200" b="0" i="0" u="none" strike="noStrike" baseline="0" dirty="0">
                <a:solidFill>
                  <a:srgbClr val="000000"/>
                </a:solidFill>
                <a:latin typeface="Arial" panose="020B0604020202020204" pitchFamily="34" charset="0"/>
              </a:rPr>
              <a:t>b) La tensión aplicada (Va) es la suma de las tensiones parciales, es decir, la tensión total se reparte proporcional en cada resistencia. </a:t>
            </a:r>
          </a:p>
          <a:p>
            <a:r>
              <a:rPr lang="it-IT" sz="3200" b="1" i="0" u="none" strike="noStrike" baseline="0" dirty="0">
                <a:solidFill>
                  <a:srgbClr val="000000"/>
                </a:solidFill>
                <a:latin typeface="Arial" panose="020B0604020202020204" pitchFamily="34" charset="0"/>
              </a:rPr>
              <a:t>Va = V</a:t>
            </a:r>
            <a:r>
              <a:rPr lang="it-IT" sz="2000" b="1" i="0" u="none" strike="noStrike" baseline="0" dirty="0">
                <a:solidFill>
                  <a:srgbClr val="000000"/>
                </a:solidFill>
                <a:latin typeface="Arial" panose="020B0604020202020204" pitchFamily="34" charset="0"/>
              </a:rPr>
              <a:t>1 </a:t>
            </a:r>
            <a:r>
              <a:rPr lang="it-IT" sz="3200" b="1" i="0" u="none" strike="noStrike" baseline="0" dirty="0">
                <a:solidFill>
                  <a:srgbClr val="000000"/>
                </a:solidFill>
                <a:latin typeface="Arial" panose="020B0604020202020204" pitchFamily="34" charset="0"/>
              </a:rPr>
              <a:t>+ V</a:t>
            </a:r>
            <a:r>
              <a:rPr lang="it-IT" sz="2000" b="1" i="0" u="none" strike="noStrike" baseline="0" dirty="0">
                <a:solidFill>
                  <a:srgbClr val="000000"/>
                </a:solidFill>
                <a:latin typeface="Arial" panose="020B0604020202020204" pitchFamily="34" charset="0"/>
              </a:rPr>
              <a:t>2 </a:t>
            </a:r>
            <a:r>
              <a:rPr lang="it-IT" sz="3200" b="1" i="0" u="none" strike="noStrike" baseline="0" dirty="0">
                <a:solidFill>
                  <a:srgbClr val="000000"/>
                </a:solidFill>
                <a:latin typeface="Arial" panose="020B0604020202020204" pitchFamily="34" charset="0"/>
              </a:rPr>
              <a:t>+ V</a:t>
            </a:r>
            <a:r>
              <a:rPr lang="it-IT" sz="2000" b="1" i="0" u="none" strike="noStrike" baseline="0" dirty="0">
                <a:solidFill>
                  <a:srgbClr val="000000"/>
                </a:solidFill>
                <a:latin typeface="Arial" panose="020B0604020202020204" pitchFamily="34" charset="0"/>
              </a:rPr>
              <a:t>3 </a:t>
            </a:r>
            <a:r>
              <a:rPr lang="it-IT" sz="3200" b="1" i="0" u="none" strike="noStrike" baseline="0" dirty="0">
                <a:solidFill>
                  <a:srgbClr val="000000"/>
                </a:solidFill>
                <a:latin typeface="Arial" panose="020B0604020202020204" pitchFamily="34" charset="0"/>
              </a:rPr>
              <a:t>+ …………+ V</a:t>
            </a:r>
            <a:r>
              <a:rPr lang="it-IT" sz="2000" b="1" i="0" u="none" strike="noStrike" baseline="0" dirty="0">
                <a:solidFill>
                  <a:srgbClr val="000000"/>
                </a:solidFill>
                <a:latin typeface="Arial" panose="020B0604020202020204" pitchFamily="34" charset="0"/>
              </a:rPr>
              <a:t>n </a:t>
            </a:r>
          </a:p>
          <a:p>
            <a:endParaRPr lang="it-IT" sz="2000" b="0" i="0" u="none" strike="noStrike" baseline="0" dirty="0">
              <a:solidFill>
                <a:srgbClr val="000000"/>
              </a:solidFill>
              <a:latin typeface="Arial" panose="020B0604020202020204" pitchFamily="34" charset="0"/>
            </a:endParaRPr>
          </a:p>
          <a:p>
            <a:r>
              <a:rPr lang="es-ES" sz="3200" b="0" i="0" u="none" strike="noStrike" baseline="0" dirty="0">
                <a:solidFill>
                  <a:srgbClr val="000000"/>
                </a:solidFill>
                <a:latin typeface="Arial" panose="020B0604020202020204" pitchFamily="34" charset="0"/>
              </a:rPr>
              <a:t>c) La corriente total es igual en cualquier parte del circuito. </a:t>
            </a:r>
            <a:endParaRPr lang="es-GT" sz="3200" dirty="0"/>
          </a:p>
        </p:txBody>
      </p:sp>
      <p:sp>
        <p:nvSpPr>
          <p:cNvPr id="10" name="CuadroTexto 9">
            <a:extLst>
              <a:ext uri="{FF2B5EF4-FFF2-40B4-BE49-F238E27FC236}">
                <a16:creationId xmlns:a16="http://schemas.microsoft.com/office/drawing/2014/main" id="{7BB69EB7-F6DF-D591-3922-13D824764993}"/>
              </a:ext>
            </a:extLst>
          </p:cNvPr>
          <p:cNvSpPr txBox="1"/>
          <p:nvPr/>
        </p:nvSpPr>
        <p:spPr>
          <a:xfrm>
            <a:off x="12039600" y="5092372"/>
            <a:ext cx="9247238" cy="707886"/>
          </a:xfrm>
          <a:prstGeom prst="rect">
            <a:avLst/>
          </a:prstGeom>
          <a:noFill/>
        </p:spPr>
        <p:txBody>
          <a:bodyPr wrap="square">
            <a:spAutoFit/>
          </a:bodyPr>
          <a:lstStyle/>
          <a:p>
            <a:r>
              <a:rPr lang="es-GT" sz="4000" b="1" i="0" u="none" strike="noStrike" baseline="0" dirty="0">
                <a:solidFill>
                  <a:srgbClr val="000000"/>
                </a:solidFill>
                <a:latin typeface="Arial" panose="020B0604020202020204" pitchFamily="34" charset="0"/>
              </a:rPr>
              <a:t>I</a:t>
            </a:r>
            <a:r>
              <a:rPr lang="es-GT" sz="2800" b="1" i="0" u="none" strike="noStrike" baseline="0" dirty="0">
                <a:solidFill>
                  <a:srgbClr val="000000"/>
                </a:solidFill>
                <a:latin typeface="Arial" panose="020B0604020202020204" pitchFamily="34" charset="0"/>
              </a:rPr>
              <a:t>T </a:t>
            </a:r>
            <a:r>
              <a:rPr lang="es-GT" sz="4000" b="1" i="0" u="none" strike="noStrike" baseline="0" dirty="0">
                <a:solidFill>
                  <a:srgbClr val="000000"/>
                </a:solidFill>
                <a:latin typeface="Arial" panose="020B0604020202020204" pitchFamily="34" charset="0"/>
              </a:rPr>
              <a:t>= I</a:t>
            </a:r>
            <a:r>
              <a:rPr lang="es-GT" sz="2800" b="1" i="0" u="none" strike="noStrike" baseline="0" dirty="0">
                <a:solidFill>
                  <a:srgbClr val="000000"/>
                </a:solidFill>
                <a:latin typeface="Arial" panose="020B0604020202020204" pitchFamily="34" charset="0"/>
              </a:rPr>
              <a:t>1 </a:t>
            </a:r>
            <a:r>
              <a:rPr lang="es-GT" sz="4000" b="1" i="0" u="none" strike="noStrike" baseline="0" dirty="0">
                <a:solidFill>
                  <a:srgbClr val="000000"/>
                </a:solidFill>
                <a:latin typeface="Arial" panose="020B0604020202020204" pitchFamily="34" charset="0"/>
              </a:rPr>
              <a:t>= I</a:t>
            </a:r>
            <a:r>
              <a:rPr lang="es-GT" sz="2800" b="1" i="0" u="none" strike="noStrike" baseline="0" dirty="0">
                <a:solidFill>
                  <a:srgbClr val="000000"/>
                </a:solidFill>
                <a:latin typeface="Arial" panose="020B0604020202020204" pitchFamily="34" charset="0"/>
              </a:rPr>
              <a:t>2 </a:t>
            </a:r>
            <a:r>
              <a:rPr lang="es-GT" sz="4000" b="1" i="0" u="none" strike="noStrike" baseline="0" dirty="0">
                <a:solidFill>
                  <a:srgbClr val="000000"/>
                </a:solidFill>
                <a:latin typeface="Arial" panose="020B0604020202020204" pitchFamily="34" charset="0"/>
              </a:rPr>
              <a:t>= I</a:t>
            </a:r>
            <a:r>
              <a:rPr lang="es-GT" sz="2800" b="1" i="0" u="none" strike="noStrike" baseline="0" dirty="0">
                <a:solidFill>
                  <a:srgbClr val="000000"/>
                </a:solidFill>
                <a:latin typeface="Arial" panose="020B0604020202020204" pitchFamily="34" charset="0"/>
              </a:rPr>
              <a:t>3 </a:t>
            </a:r>
            <a:endParaRPr lang="es-GT" sz="4000" dirty="0"/>
          </a:p>
        </p:txBody>
      </p:sp>
      <p:sp>
        <p:nvSpPr>
          <p:cNvPr id="12" name="CuadroTexto 11">
            <a:extLst>
              <a:ext uri="{FF2B5EF4-FFF2-40B4-BE49-F238E27FC236}">
                <a16:creationId xmlns:a16="http://schemas.microsoft.com/office/drawing/2014/main" id="{22909904-AA56-85C8-EF30-42BE7807421D}"/>
              </a:ext>
            </a:extLst>
          </p:cNvPr>
          <p:cNvSpPr txBox="1"/>
          <p:nvPr/>
        </p:nvSpPr>
        <p:spPr>
          <a:xfrm>
            <a:off x="1359310" y="6691965"/>
            <a:ext cx="15709490" cy="1323439"/>
          </a:xfrm>
          <a:prstGeom prst="rect">
            <a:avLst/>
          </a:prstGeom>
          <a:noFill/>
        </p:spPr>
        <p:txBody>
          <a:bodyPr wrap="square">
            <a:spAutoFit/>
          </a:bodyPr>
          <a:lstStyle/>
          <a:p>
            <a:r>
              <a:rPr lang="es-ES" sz="4000" b="0" i="0" u="none" strike="noStrike" baseline="0" dirty="0">
                <a:solidFill>
                  <a:srgbClr val="000000"/>
                </a:solidFill>
                <a:latin typeface="Arial" panose="020B0604020202020204" pitchFamily="34" charset="0"/>
              </a:rPr>
              <a:t>La potencia total es la suma de las potencias parciales del circuito. </a:t>
            </a:r>
          </a:p>
          <a:p>
            <a:r>
              <a:rPr lang="es-GT" sz="4000" b="1" i="0" u="none" strike="noStrike" baseline="0" dirty="0">
                <a:solidFill>
                  <a:srgbClr val="000000"/>
                </a:solidFill>
                <a:latin typeface="Arial" panose="020B0604020202020204" pitchFamily="34" charset="0"/>
              </a:rPr>
              <a:t>P</a:t>
            </a:r>
            <a:r>
              <a:rPr lang="es-GT" sz="2800" b="1" i="0" u="none" strike="noStrike" baseline="0" dirty="0">
                <a:solidFill>
                  <a:srgbClr val="000000"/>
                </a:solidFill>
                <a:latin typeface="Arial" panose="020B0604020202020204" pitchFamily="34" charset="0"/>
              </a:rPr>
              <a:t>T </a:t>
            </a:r>
            <a:r>
              <a:rPr lang="es-GT" sz="4000" b="1" i="0" u="none" strike="noStrike" baseline="0" dirty="0">
                <a:solidFill>
                  <a:srgbClr val="000000"/>
                </a:solidFill>
                <a:latin typeface="Arial" panose="020B0604020202020204" pitchFamily="34" charset="0"/>
              </a:rPr>
              <a:t>= P</a:t>
            </a:r>
            <a:r>
              <a:rPr lang="es-GT" sz="3200" b="1" i="0" u="none" strike="noStrike" baseline="0" dirty="0">
                <a:solidFill>
                  <a:srgbClr val="000000"/>
                </a:solidFill>
                <a:latin typeface="Arial" panose="020B0604020202020204" pitchFamily="34" charset="0"/>
              </a:rPr>
              <a:t>1 </a:t>
            </a:r>
            <a:r>
              <a:rPr lang="es-GT" sz="4000" b="1" i="0" u="none" strike="noStrike" baseline="0" dirty="0">
                <a:solidFill>
                  <a:srgbClr val="000000"/>
                </a:solidFill>
                <a:latin typeface="Arial" panose="020B0604020202020204" pitchFamily="34" charset="0"/>
              </a:rPr>
              <a:t>+ P</a:t>
            </a:r>
            <a:r>
              <a:rPr lang="es-GT" sz="3200" b="1" i="0" u="none" strike="noStrike" baseline="0" dirty="0">
                <a:solidFill>
                  <a:srgbClr val="000000"/>
                </a:solidFill>
                <a:latin typeface="Arial" panose="020B0604020202020204" pitchFamily="34" charset="0"/>
              </a:rPr>
              <a:t>2 </a:t>
            </a:r>
            <a:r>
              <a:rPr lang="es-GT" sz="4000" b="1" i="0" u="none" strike="noStrike" baseline="0" dirty="0">
                <a:solidFill>
                  <a:srgbClr val="000000"/>
                </a:solidFill>
                <a:latin typeface="Arial" panose="020B0604020202020204" pitchFamily="34" charset="0"/>
              </a:rPr>
              <a:t>+ P</a:t>
            </a:r>
            <a:r>
              <a:rPr lang="es-GT" sz="3200" b="1" i="0" u="none" strike="noStrike" baseline="0" dirty="0">
                <a:solidFill>
                  <a:srgbClr val="000000"/>
                </a:solidFill>
                <a:latin typeface="Arial" panose="020B0604020202020204" pitchFamily="34" charset="0"/>
              </a:rPr>
              <a:t>3 </a:t>
            </a:r>
            <a:endParaRPr lang="es-GT" sz="4000" dirty="0"/>
          </a:p>
        </p:txBody>
      </p:sp>
    </p:spTree>
    <p:extLst>
      <p:ext uri="{BB962C8B-B14F-4D97-AF65-F5344CB8AC3E}">
        <p14:creationId xmlns:p14="http://schemas.microsoft.com/office/powerpoint/2010/main" val="2601484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CD1B2FC6-A0E1-881A-7AD7-6F16BA7E589D}"/>
              </a:ext>
            </a:extLst>
          </p:cNvPr>
          <p:cNvPicPr>
            <a:picLocks noChangeAspect="1"/>
          </p:cNvPicPr>
          <p:nvPr/>
        </p:nvPicPr>
        <p:blipFill>
          <a:blip r:embed="rId2"/>
          <a:stretch>
            <a:fillRect/>
          </a:stretch>
        </p:blipFill>
        <p:spPr>
          <a:xfrm>
            <a:off x="520810" y="1028700"/>
            <a:ext cx="16700390" cy="7969065"/>
          </a:xfrm>
          <a:prstGeom prst="rect">
            <a:avLst/>
          </a:prstGeom>
        </p:spPr>
      </p:pic>
    </p:spTree>
    <p:extLst>
      <p:ext uri="{BB962C8B-B14F-4D97-AF65-F5344CB8AC3E}">
        <p14:creationId xmlns:p14="http://schemas.microsoft.com/office/powerpoint/2010/main" val="3779752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pic>
        <p:nvPicPr>
          <p:cNvPr id="6" name="Imagen 5">
            <a:extLst>
              <a:ext uri="{FF2B5EF4-FFF2-40B4-BE49-F238E27FC236}">
                <a16:creationId xmlns:a16="http://schemas.microsoft.com/office/drawing/2014/main" id="{3FE8822F-E9D7-3785-A2B5-A554C93C38C3}"/>
              </a:ext>
            </a:extLst>
          </p:cNvPr>
          <p:cNvPicPr>
            <a:picLocks noChangeAspect="1"/>
          </p:cNvPicPr>
          <p:nvPr/>
        </p:nvPicPr>
        <p:blipFill>
          <a:blip r:embed="rId2"/>
          <a:stretch>
            <a:fillRect/>
          </a:stretch>
        </p:blipFill>
        <p:spPr>
          <a:xfrm>
            <a:off x="1143000" y="0"/>
            <a:ext cx="14596235" cy="8229600"/>
          </a:xfrm>
          <a:prstGeom prst="rect">
            <a:avLst/>
          </a:prstGeom>
        </p:spPr>
      </p:pic>
      <p:sp>
        <p:nvSpPr>
          <p:cNvPr id="8" name="CuadroTexto 7">
            <a:extLst>
              <a:ext uri="{FF2B5EF4-FFF2-40B4-BE49-F238E27FC236}">
                <a16:creationId xmlns:a16="http://schemas.microsoft.com/office/drawing/2014/main" id="{AD046EB3-C60C-E941-0AEE-7B2AFB47397F}"/>
              </a:ext>
            </a:extLst>
          </p:cNvPr>
          <p:cNvSpPr txBox="1"/>
          <p:nvPr/>
        </p:nvSpPr>
        <p:spPr>
          <a:xfrm>
            <a:off x="914400" y="8598801"/>
            <a:ext cx="15849600" cy="584775"/>
          </a:xfrm>
          <a:prstGeom prst="rect">
            <a:avLst/>
          </a:prstGeom>
          <a:noFill/>
        </p:spPr>
        <p:txBody>
          <a:bodyPr wrap="square">
            <a:spAutoFit/>
          </a:bodyPr>
          <a:lstStyle/>
          <a:p>
            <a:r>
              <a:rPr lang="es-ES" sz="3200" dirty="0"/>
              <a:t>Cuando las resistencias son desiguales, la tensión se divide proporcionalmente entre ellas</a:t>
            </a:r>
            <a:r>
              <a:rPr lang="es-ES" sz="1800" b="1" i="0" u="none" strike="noStrike" baseline="0" dirty="0">
                <a:solidFill>
                  <a:srgbClr val="000000"/>
                </a:solidFill>
                <a:latin typeface="Arial" panose="020B0604020202020204" pitchFamily="34" charset="0"/>
              </a:rPr>
              <a:t>. </a:t>
            </a:r>
            <a:endParaRPr lang="es-GT" dirty="0"/>
          </a:p>
        </p:txBody>
      </p:sp>
    </p:spTree>
    <p:extLst>
      <p:ext uri="{BB962C8B-B14F-4D97-AF65-F5344CB8AC3E}">
        <p14:creationId xmlns:p14="http://schemas.microsoft.com/office/powerpoint/2010/main" val="3349466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8BDC94EF-2134-27CB-42B2-2AB5401A68B7}"/>
              </a:ext>
            </a:extLst>
          </p:cNvPr>
          <p:cNvSpPr txBox="1"/>
          <p:nvPr/>
        </p:nvSpPr>
        <p:spPr>
          <a:xfrm>
            <a:off x="685800" y="952500"/>
            <a:ext cx="16992600" cy="2062103"/>
          </a:xfrm>
          <a:prstGeom prst="rect">
            <a:avLst/>
          </a:prstGeom>
          <a:noFill/>
        </p:spPr>
        <p:txBody>
          <a:bodyPr wrap="square">
            <a:spAutoFit/>
          </a:bodyPr>
          <a:lstStyle/>
          <a:p>
            <a:r>
              <a:rPr lang="es-ES" sz="3200" b="1" dirty="0">
                <a:solidFill>
                  <a:srgbClr val="002060"/>
                </a:solidFill>
              </a:rPr>
              <a:t>EJEMPLO </a:t>
            </a:r>
          </a:p>
          <a:p>
            <a:endParaRPr lang="es-ES" sz="3200" dirty="0"/>
          </a:p>
          <a:p>
            <a:r>
              <a:rPr lang="es-ES" sz="3200" dirty="0"/>
              <a:t>Un circuito eléctrico de 120 voltios tiene conectados en serie dos cargas de 280 W cada una. Calcular la corriente total en el circuito. </a:t>
            </a:r>
            <a:endParaRPr lang="es-GT" sz="3200" dirty="0"/>
          </a:p>
        </p:txBody>
      </p:sp>
      <p:pic>
        <p:nvPicPr>
          <p:cNvPr id="8" name="Imagen 7">
            <a:extLst>
              <a:ext uri="{FF2B5EF4-FFF2-40B4-BE49-F238E27FC236}">
                <a16:creationId xmlns:a16="http://schemas.microsoft.com/office/drawing/2014/main" id="{31A416E6-7879-8C41-BD3B-4942993199FB}"/>
              </a:ext>
            </a:extLst>
          </p:cNvPr>
          <p:cNvPicPr>
            <a:picLocks noChangeAspect="1"/>
          </p:cNvPicPr>
          <p:nvPr/>
        </p:nvPicPr>
        <p:blipFill>
          <a:blip r:embed="rId2"/>
          <a:stretch>
            <a:fillRect/>
          </a:stretch>
        </p:blipFill>
        <p:spPr>
          <a:xfrm>
            <a:off x="685800" y="3543300"/>
            <a:ext cx="16002000" cy="6222158"/>
          </a:xfrm>
          <a:prstGeom prst="rect">
            <a:avLst/>
          </a:prstGeom>
        </p:spPr>
      </p:pic>
    </p:spTree>
    <p:extLst>
      <p:ext uri="{BB962C8B-B14F-4D97-AF65-F5344CB8AC3E}">
        <p14:creationId xmlns:p14="http://schemas.microsoft.com/office/powerpoint/2010/main" val="346923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1DD4597-005B-DEB6-CED7-B301FD2CF76E}"/>
              </a:ext>
            </a:extLst>
          </p:cNvPr>
          <p:cNvSpPr txBox="1"/>
          <p:nvPr/>
        </p:nvSpPr>
        <p:spPr>
          <a:xfrm>
            <a:off x="762000" y="800100"/>
            <a:ext cx="16916400" cy="2554545"/>
          </a:xfrm>
          <a:prstGeom prst="rect">
            <a:avLst/>
          </a:prstGeom>
          <a:noFill/>
        </p:spPr>
        <p:txBody>
          <a:bodyPr wrap="square">
            <a:spAutoFit/>
          </a:bodyPr>
          <a:lstStyle/>
          <a:p>
            <a:r>
              <a:rPr lang="es-ES" sz="3200" b="1" dirty="0">
                <a:solidFill>
                  <a:srgbClr val="002060"/>
                </a:solidFill>
              </a:rPr>
              <a:t>EJEMPLO </a:t>
            </a:r>
          </a:p>
          <a:p>
            <a:endParaRPr lang="es-ES" sz="3200" dirty="0"/>
          </a:p>
          <a:p>
            <a:r>
              <a:rPr lang="es-ES" sz="3200" dirty="0"/>
              <a:t>Un circuito tiene conectadas tres resistencias en serie, la primera resistencia es de 5 Ohm, la segunda </a:t>
            </a:r>
          </a:p>
          <a:p>
            <a:r>
              <a:rPr lang="es-ES" sz="3200" dirty="0"/>
              <a:t>de 12 Ohm y la tercera de 20 Ohm. La corriente en la primera resistencia es de 4 Amperios. Calcular la tensión aplicada al circuito. </a:t>
            </a:r>
            <a:endParaRPr lang="es-GT" sz="3200" dirty="0"/>
          </a:p>
        </p:txBody>
      </p:sp>
      <p:pic>
        <p:nvPicPr>
          <p:cNvPr id="5" name="Imagen 4">
            <a:extLst>
              <a:ext uri="{FF2B5EF4-FFF2-40B4-BE49-F238E27FC236}">
                <a16:creationId xmlns:a16="http://schemas.microsoft.com/office/drawing/2014/main" id="{7D8AB4B6-B24E-B0D6-66A0-E33CA89CF760}"/>
              </a:ext>
            </a:extLst>
          </p:cNvPr>
          <p:cNvPicPr>
            <a:picLocks noChangeAspect="1"/>
          </p:cNvPicPr>
          <p:nvPr/>
        </p:nvPicPr>
        <p:blipFill>
          <a:blip r:embed="rId2"/>
          <a:stretch>
            <a:fillRect/>
          </a:stretch>
        </p:blipFill>
        <p:spPr>
          <a:xfrm>
            <a:off x="762000" y="3543300"/>
            <a:ext cx="16002000" cy="6346912"/>
          </a:xfrm>
          <a:prstGeom prst="rect">
            <a:avLst/>
          </a:prstGeom>
        </p:spPr>
      </p:pic>
      <p:grpSp>
        <p:nvGrpSpPr>
          <p:cNvPr id="6" name="Group 2">
            <a:extLst>
              <a:ext uri="{FF2B5EF4-FFF2-40B4-BE49-F238E27FC236}">
                <a16:creationId xmlns:a16="http://schemas.microsoft.com/office/drawing/2014/main" id="{4DCE6D4D-EA42-3858-676C-3E2D8326EA1D}"/>
              </a:ext>
            </a:extLst>
          </p:cNvPr>
          <p:cNvGrpSpPr/>
          <p:nvPr/>
        </p:nvGrpSpPr>
        <p:grpSpPr>
          <a:xfrm>
            <a:off x="11759425" y="9733708"/>
            <a:ext cx="6735168" cy="553292"/>
            <a:chOff x="0" y="0"/>
            <a:chExt cx="1773872" cy="145723"/>
          </a:xfrm>
        </p:grpSpPr>
        <p:sp>
          <p:nvSpPr>
            <p:cNvPr id="7" name="Freeform 3">
              <a:extLst>
                <a:ext uri="{FF2B5EF4-FFF2-40B4-BE49-F238E27FC236}">
                  <a16:creationId xmlns:a16="http://schemas.microsoft.com/office/drawing/2014/main" id="{6B40E979-3826-5A41-55A0-7708DF6FDD1F}"/>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8" name="TextBox 4">
              <a:extLst>
                <a:ext uri="{FF2B5EF4-FFF2-40B4-BE49-F238E27FC236}">
                  <a16:creationId xmlns:a16="http://schemas.microsoft.com/office/drawing/2014/main" id="{768408AA-13CE-05F7-C5B8-F6A7C60C5FF9}"/>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Tree>
    <p:extLst>
      <p:ext uri="{BB962C8B-B14F-4D97-AF65-F5344CB8AC3E}">
        <p14:creationId xmlns:p14="http://schemas.microsoft.com/office/powerpoint/2010/main" val="88128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AD3FCD6-D35F-0E85-3A38-AF439807DFC7}"/>
              </a:ext>
            </a:extLst>
          </p:cNvPr>
          <p:cNvSpPr txBox="1"/>
          <p:nvPr/>
        </p:nvSpPr>
        <p:spPr>
          <a:xfrm>
            <a:off x="838200" y="571500"/>
            <a:ext cx="16459200" cy="1938992"/>
          </a:xfrm>
          <a:prstGeom prst="rect">
            <a:avLst/>
          </a:prstGeom>
          <a:noFill/>
        </p:spPr>
        <p:txBody>
          <a:bodyPr wrap="square">
            <a:spAutoFit/>
          </a:bodyPr>
          <a:lstStyle/>
          <a:p>
            <a:r>
              <a:rPr lang="es-ES" sz="3600" b="1" dirty="0">
                <a:solidFill>
                  <a:srgbClr val="002060"/>
                </a:solidFill>
              </a:rPr>
              <a:t>EJEMPLO</a:t>
            </a:r>
          </a:p>
          <a:p>
            <a:r>
              <a:rPr lang="es-ES" sz="2800" dirty="0"/>
              <a:t>Un circuito tiene conectadas cuatro resistencias en serie, la primera resistencia es de 12 Ohm, la segunda de 15 Ohm, la tercera de 24 Ohm y la cuarta de 18 Ohm. La corriente en la primera resistencia es de 3 Amperios. Calcular la tensión aplicada al circuito. </a:t>
            </a:r>
            <a:endParaRPr lang="es-GT" sz="2800" dirty="0"/>
          </a:p>
        </p:txBody>
      </p:sp>
      <p:pic>
        <p:nvPicPr>
          <p:cNvPr id="5" name="Imagen 4">
            <a:extLst>
              <a:ext uri="{FF2B5EF4-FFF2-40B4-BE49-F238E27FC236}">
                <a16:creationId xmlns:a16="http://schemas.microsoft.com/office/drawing/2014/main" id="{980653A4-49F2-2E06-FC45-2F8C19862456}"/>
              </a:ext>
            </a:extLst>
          </p:cNvPr>
          <p:cNvPicPr>
            <a:picLocks noChangeAspect="1"/>
          </p:cNvPicPr>
          <p:nvPr/>
        </p:nvPicPr>
        <p:blipFill>
          <a:blip r:embed="rId2"/>
          <a:stretch>
            <a:fillRect/>
          </a:stretch>
        </p:blipFill>
        <p:spPr>
          <a:xfrm>
            <a:off x="835742" y="3114391"/>
            <a:ext cx="14632858" cy="5875209"/>
          </a:xfrm>
          <a:prstGeom prst="rect">
            <a:avLst/>
          </a:prstGeom>
        </p:spPr>
      </p:pic>
      <p:grpSp>
        <p:nvGrpSpPr>
          <p:cNvPr id="6" name="Group 2">
            <a:extLst>
              <a:ext uri="{FF2B5EF4-FFF2-40B4-BE49-F238E27FC236}">
                <a16:creationId xmlns:a16="http://schemas.microsoft.com/office/drawing/2014/main" id="{2DF60D5F-8E99-B27B-FC95-D096701885B6}"/>
              </a:ext>
            </a:extLst>
          </p:cNvPr>
          <p:cNvGrpSpPr/>
          <p:nvPr/>
        </p:nvGrpSpPr>
        <p:grpSpPr>
          <a:xfrm>
            <a:off x="11759425" y="9733708"/>
            <a:ext cx="6735168" cy="553292"/>
            <a:chOff x="0" y="0"/>
            <a:chExt cx="1773872" cy="145723"/>
          </a:xfrm>
        </p:grpSpPr>
        <p:sp>
          <p:nvSpPr>
            <p:cNvPr id="7" name="Freeform 3">
              <a:extLst>
                <a:ext uri="{FF2B5EF4-FFF2-40B4-BE49-F238E27FC236}">
                  <a16:creationId xmlns:a16="http://schemas.microsoft.com/office/drawing/2014/main" id="{F2175CDF-0972-4524-9172-EC98C1FE1CFC}"/>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8" name="TextBox 4">
              <a:extLst>
                <a:ext uri="{FF2B5EF4-FFF2-40B4-BE49-F238E27FC236}">
                  <a16:creationId xmlns:a16="http://schemas.microsoft.com/office/drawing/2014/main" id="{AB6891B0-A081-9B4E-3EE9-8CF3902CD0ED}"/>
                </a:ext>
              </a:extLst>
            </p:cNvPr>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Tree>
    <p:extLst>
      <p:ext uri="{BB962C8B-B14F-4D97-AF65-F5344CB8AC3E}">
        <p14:creationId xmlns:p14="http://schemas.microsoft.com/office/powerpoint/2010/main" val="3473453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F585E39-FFFA-C62C-C58B-81C3FFA6866F}"/>
              </a:ext>
            </a:extLst>
          </p:cNvPr>
          <p:cNvSpPr txBox="1"/>
          <p:nvPr/>
        </p:nvSpPr>
        <p:spPr>
          <a:xfrm>
            <a:off x="609600" y="723900"/>
            <a:ext cx="16611600" cy="2062103"/>
          </a:xfrm>
          <a:prstGeom prst="rect">
            <a:avLst/>
          </a:prstGeom>
          <a:noFill/>
        </p:spPr>
        <p:txBody>
          <a:bodyPr wrap="square">
            <a:spAutoFit/>
          </a:bodyPr>
          <a:lstStyle/>
          <a:p>
            <a:r>
              <a:rPr lang="es-ES" sz="3200" b="1" dirty="0">
                <a:solidFill>
                  <a:srgbClr val="002060"/>
                </a:solidFill>
              </a:rPr>
              <a:t>ejemplo</a:t>
            </a:r>
          </a:p>
          <a:p>
            <a:r>
              <a:rPr lang="es-ES" sz="3200" dirty="0"/>
              <a:t>Un circuito eléctrico tiene conectadas dos cargas en serie. La resistencia de A es el doble de la resistencia B. La suma de las dos resistencias es igual a 60 ohmios. Calcular la corriente total del circuito. </a:t>
            </a:r>
            <a:endParaRPr lang="es-GT" sz="3200" dirty="0"/>
          </a:p>
        </p:txBody>
      </p:sp>
      <p:pic>
        <p:nvPicPr>
          <p:cNvPr id="5" name="Imagen 4">
            <a:extLst>
              <a:ext uri="{FF2B5EF4-FFF2-40B4-BE49-F238E27FC236}">
                <a16:creationId xmlns:a16="http://schemas.microsoft.com/office/drawing/2014/main" id="{C43083C5-45E8-4CA8-6CF0-F802514528BD}"/>
              </a:ext>
            </a:extLst>
          </p:cNvPr>
          <p:cNvPicPr>
            <a:picLocks noChangeAspect="1"/>
          </p:cNvPicPr>
          <p:nvPr/>
        </p:nvPicPr>
        <p:blipFill>
          <a:blip r:embed="rId2"/>
          <a:stretch>
            <a:fillRect/>
          </a:stretch>
        </p:blipFill>
        <p:spPr>
          <a:xfrm>
            <a:off x="1524000" y="2786002"/>
            <a:ext cx="12877800" cy="7143813"/>
          </a:xfrm>
          <a:prstGeom prst="rect">
            <a:avLst/>
          </a:prstGeom>
        </p:spPr>
      </p:pic>
    </p:spTree>
    <p:extLst>
      <p:ext uri="{BB962C8B-B14F-4D97-AF65-F5344CB8AC3E}">
        <p14:creationId xmlns:p14="http://schemas.microsoft.com/office/powerpoint/2010/main" val="52352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B553CB4-83B9-4385-BAB7-94F1682D3D8A}"/>
              </a:ext>
            </a:extLst>
          </p:cNvPr>
          <p:cNvPicPr>
            <a:picLocks noChangeAspect="1"/>
          </p:cNvPicPr>
          <p:nvPr/>
        </p:nvPicPr>
        <p:blipFill>
          <a:blip r:embed="rId2"/>
          <a:stretch>
            <a:fillRect/>
          </a:stretch>
        </p:blipFill>
        <p:spPr>
          <a:xfrm>
            <a:off x="1219199" y="723900"/>
            <a:ext cx="15818459" cy="8458200"/>
          </a:xfrm>
          <a:prstGeom prst="rect">
            <a:avLst/>
          </a:prstGeom>
        </p:spPr>
      </p:pic>
    </p:spTree>
    <p:extLst>
      <p:ext uri="{BB962C8B-B14F-4D97-AF65-F5344CB8AC3E}">
        <p14:creationId xmlns:p14="http://schemas.microsoft.com/office/powerpoint/2010/main" val="206505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366</TotalTime>
  <Words>1306</Words>
  <Application>Microsoft Office PowerPoint</Application>
  <PresentationFormat>Personalizado</PresentationFormat>
  <Paragraphs>114</Paragraphs>
  <Slides>29</Slides>
  <Notes>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Aptos</vt:lpstr>
      <vt:lpstr>Roboto Bold</vt:lpstr>
      <vt:lpstr>Roboto</vt:lpstr>
      <vt:lpstr>Cambria Math</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INSTALACIONES </dc:title>
  <cp:lastModifiedBy>Office</cp:lastModifiedBy>
  <cp:revision>11</cp:revision>
  <dcterms:created xsi:type="dcterms:W3CDTF">2006-08-16T00:00:00Z</dcterms:created>
  <dcterms:modified xsi:type="dcterms:W3CDTF">2024-07-11T03:11:39Z</dcterms:modified>
  <dc:identifier>DAGJJzafysU</dc:identifier>
</cp:coreProperties>
</file>